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3" r:id="rId2"/>
  </p:sldMasterIdLst>
  <p:notesMasterIdLst>
    <p:notesMasterId r:id="rId76"/>
  </p:notesMasterIdLst>
  <p:handoutMasterIdLst>
    <p:handoutMasterId r:id="rId77"/>
  </p:handoutMasterIdLst>
  <p:sldIdLst>
    <p:sldId id="1318" r:id="rId3"/>
    <p:sldId id="261" r:id="rId4"/>
    <p:sldId id="263" r:id="rId5"/>
    <p:sldId id="262" r:id="rId6"/>
    <p:sldId id="264" r:id="rId7"/>
    <p:sldId id="266" r:id="rId8"/>
    <p:sldId id="267" r:id="rId9"/>
    <p:sldId id="268" r:id="rId10"/>
    <p:sldId id="270" r:id="rId11"/>
    <p:sldId id="269" r:id="rId12"/>
    <p:sldId id="549" r:id="rId13"/>
    <p:sldId id="265" r:id="rId14"/>
    <p:sldId id="271" r:id="rId15"/>
    <p:sldId id="585" r:id="rId16"/>
    <p:sldId id="1322" r:id="rId17"/>
    <p:sldId id="1321" r:id="rId18"/>
    <p:sldId id="1357" r:id="rId19"/>
    <p:sldId id="1358" r:id="rId20"/>
    <p:sldId id="1356" r:id="rId21"/>
    <p:sldId id="1378" r:id="rId22"/>
    <p:sldId id="1359" r:id="rId23"/>
    <p:sldId id="1323" r:id="rId24"/>
    <p:sldId id="1360" r:id="rId25"/>
    <p:sldId id="1361" r:id="rId26"/>
    <p:sldId id="1362" r:id="rId27"/>
    <p:sldId id="1385" r:id="rId28"/>
    <p:sldId id="1386" r:id="rId29"/>
    <p:sldId id="1387" r:id="rId30"/>
    <p:sldId id="1310" r:id="rId31"/>
    <p:sldId id="1388" r:id="rId32"/>
    <p:sldId id="1391" r:id="rId33"/>
    <p:sldId id="1389" r:id="rId34"/>
    <p:sldId id="1390" r:id="rId35"/>
    <p:sldId id="1392" r:id="rId36"/>
    <p:sldId id="1393" r:id="rId37"/>
    <p:sldId id="1394" r:id="rId38"/>
    <p:sldId id="1395" r:id="rId39"/>
    <p:sldId id="1396" r:id="rId40"/>
    <p:sldId id="1397" r:id="rId41"/>
    <p:sldId id="1398" r:id="rId42"/>
    <p:sldId id="335" r:id="rId43"/>
    <p:sldId id="886" r:id="rId44"/>
    <p:sldId id="882" r:id="rId45"/>
    <p:sldId id="534" r:id="rId46"/>
    <p:sldId id="256" r:id="rId47"/>
    <p:sldId id="1324" r:id="rId48"/>
    <p:sldId id="1339" r:id="rId49"/>
    <p:sldId id="1338" r:id="rId50"/>
    <p:sldId id="536" r:id="rId51"/>
    <p:sldId id="273" r:id="rId52"/>
    <p:sldId id="276" r:id="rId53"/>
    <p:sldId id="277" r:id="rId54"/>
    <p:sldId id="278" r:id="rId55"/>
    <p:sldId id="279" r:id="rId56"/>
    <p:sldId id="1340" r:id="rId57"/>
    <p:sldId id="1341" r:id="rId58"/>
    <p:sldId id="1342" r:id="rId59"/>
    <p:sldId id="1315" r:id="rId60"/>
    <p:sldId id="1325" r:id="rId61"/>
    <p:sldId id="852" r:id="rId62"/>
    <p:sldId id="1335" r:id="rId63"/>
    <p:sldId id="1343" r:id="rId64"/>
    <p:sldId id="1344" r:id="rId65"/>
    <p:sldId id="1345" r:id="rId66"/>
    <p:sldId id="1346" r:id="rId67"/>
    <p:sldId id="1347" r:id="rId68"/>
    <p:sldId id="1326" r:id="rId69"/>
    <p:sldId id="1332" r:id="rId70"/>
    <p:sldId id="1333" r:id="rId71"/>
    <p:sldId id="1348" r:id="rId72"/>
    <p:sldId id="1352" r:id="rId73"/>
    <p:sldId id="1353" r:id="rId74"/>
    <p:sldId id="1354" r:id="rId7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EE8"/>
    <a:srgbClr val="C5DCFF"/>
    <a:srgbClr val="AFCFFF"/>
    <a:srgbClr val="C4228A"/>
    <a:srgbClr val="FEE8FF"/>
    <a:srgbClr val="FFFFFF"/>
    <a:srgbClr val="FEF4FA"/>
    <a:srgbClr val="E0FCFC"/>
    <a:srgbClr val="CEF6EF"/>
    <a:srgbClr val="B2F0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5470" autoAdjust="0"/>
  </p:normalViewPr>
  <p:slideViewPr>
    <p:cSldViewPr>
      <p:cViewPr varScale="1">
        <p:scale>
          <a:sx n="54" d="100"/>
          <a:sy n="54" d="100"/>
        </p:scale>
        <p:origin x="1476" y="44"/>
      </p:cViewPr>
      <p:guideLst>
        <p:guide orient="horz" pos="2160"/>
        <p:guide pos="2880"/>
      </p:guideLst>
    </p:cSldViewPr>
  </p:slideViewPr>
  <p:notesTextViewPr>
    <p:cViewPr>
      <p:scale>
        <a:sx n="3" d="2"/>
        <a:sy n="3" d="2"/>
      </p:scale>
      <p:origin x="0" y="0"/>
    </p:cViewPr>
  </p:notesTextViewPr>
  <p:sorterViewPr>
    <p:cViewPr>
      <p:scale>
        <a:sx n="100" d="100"/>
        <a:sy n="100" d="100"/>
      </p:scale>
      <p:origin x="0" y="0"/>
    </p:cViewPr>
  </p:sorterViewPr>
  <p:notesViewPr>
    <p:cSldViewPr>
      <p:cViewPr varScale="1">
        <p:scale>
          <a:sx n="83" d="100"/>
          <a:sy n="83" d="100"/>
        </p:scale>
        <p:origin x="-3828"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notesMaster" Target="notesMasters/notesMaster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62E9F02-560A-41EA-B216-7E4154C73177}" type="datetimeFigureOut">
              <a:rPr lang="en-US" smtClean="0"/>
              <a:t>9/15/2026</a:t>
            </a:fld>
            <a:endParaRPr lang="en-US"/>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CE2B95-A532-4DDB-B353-5BFABCB3FEE3}" type="slidenum">
              <a:rPr lang="en-US" smtClean="0"/>
              <a:t>‹#›</a:t>
            </a:fld>
            <a:endParaRPr lang="en-US"/>
          </a:p>
        </p:txBody>
      </p:sp>
    </p:spTree>
    <p:extLst>
      <p:ext uri="{BB962C8B-B14F-4D97-AF65-F5344CB8AC3E}">
        <p14:creationId xmlns:p14="http://schemas.microsoft.com/office/powerpoint/2010/main" val="2539573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79F21D-16A6-4D82-9FEE-4E31B3E549D5}" type="datetimeFigureOut">
              <a:rPr lang="en-US" smtClean="0"/>
              <a:t>9/15/2026</a:t>
            </a:fld>
            <a:endParaRPr lang="en-U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664BB18-D339-4B87-A542-D63C0568742A}" type="slidenum">
              <a:rPr lang="en-US" smtClean="0"/>
              <a:t>‹#›</a:t>
            </a:fld>
            <a:endParaRPr lang="en-US"/>
          </a:p>
        </p:txBody>
      </p:sp>
    </p:spTree>
    <p:extLst>
      <p:ext uri="{BB962C8B-B14F-4D97-AF65-F5344CB8AC3E}">
        <p14:creationId xmlns:p14="http://schemas.microsoft.com/office/powerpoint/2010/main" val="635233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Shape 18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Shape 189"/>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190" name="Shape 190"/>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lnSpc>
                  <a:spcPct val="100000"/>
                </a:lnSpc>
                <a:spcBef>
                  <a:spcPts val="0"/>
                </a:spcBef>
                <a:spcAft>
                  <a:spcPts val="0"/>
                </a:spcAft>
                <a:buClr>
                  <a:srgbClr val="000000"/>
                </a:buClr>
                <a:buSzPts val="1200"/>
                <a:buFont typeface="Arial"/>
                <a:buNone/>
              </a:pPr>
              <a:t>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59229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from Ng notes:</a:t>
            </a:r>
          </a:p>
          <a:p>
            <a:r>
              <a:rPr lang="en-US" dirty="0"/>
              <a:t>Discriminative: “Consider a classification problem in which we want to learn to distinguish between elephants (y = 1) and dogs (y = 0), based on some features of an animal. Given a training set, an algorithm like logistic regression or the perceptron algorithm (basically) tries to find a straight line—that is, a decision boundary—that separates the elephants and dogs. Then, to classify a new animal as either an elephant or a dog, it checks on which side of the decision boundary it falls, and makes its prediction accordingly. “</a:t>
            </a:r>
          </a:p>
          <a:p>
            <a:r>
              <a:rPr lang="en-US" dirty="0"/>
              <a:t>Generative: “Here’s a different approach. First, looking at elephants, we can build a model of what elephants look like. Then, looking at dogs, we can build a separate model of what dogs look like. Finally, to classify a new animal, we can match the new animal against the elephant model, and match it against the dog model, to see whether the new animal looks more like the elephants or more like the dogs we had seen in the training set.” http://cs229.stanford.edu/notes/cs229-notes2.pdf</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529D11D-5857-48CF-ABB8-89B8AC9FD03C}"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446861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8" name="7 Rectángulo redondeado"/>
          <p:cNvSpPr/>
          <p:nvPr userDrawn="1"/>
        </p:nvSpPr>
        <p:spPr>
          <a:xfrm>
            <a:off x="457752" y="2475386"/>
            <a:ext cx="8290712" cy="1041661"/>
          </a:xfrm>
          <a:prstGeom prst="roundRect">
            <a:avLst/>
          </a:prstGeom>
          <a:solidFill>
            <a:srgbClr val="3630B2"/>
          </a:solidFill>
          <a:ln>
            <a:noFill/>
          </a:ln>
          <a:effectLst>
            <a:outerShdw blurRad="50800" dist="889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latin typeface="Calibri Light" panose="020F0302020204030204" pitchFamily="34" charset="0"/>
            </a:endParaRPr>
          </a:p>
        </p:txBody>
      </p:sp>
      <p:sp>
        <p:nvSpPr>
          <p:cNvPr id="11" name="1 Marcador de título"/>
          <p:cNvSpPr>
            <a:spLocks noGrp="1"/>
          </p:cNvSpPr>
          <p:nvPr>
            <p:ph type="title"/>
          </p:nvPr>
        </p:nvSpPr>
        <p:spPr>
          <a:xfrm>
            <a:off x="474620" y="2382436"/>
            <a:ext cx="8229600" cy="1143000"/>
          </a:xfrm>
          <a:prstGeom prst="rect">
            <a:avLst/>
          </a:prstGeom>
        </p:spPr>
        <p:txBody>
          <a:bodyPr vert="horz" lIns="91440" tIns="45720" rIns="91440" bIns="45720" rtlCol="0" anchor="ctr">
            <a:noAutofit/>
          </a:bodyPr>
          <a:lstStyle>
            <a:lvl1pPr>
              <a:defRPr sz="2800">
                <a:solidFill>
                  <a:schemeClr val="bg1"/>
                </a:solidFill>
              </a:defRPr>
            </a:lvl1pPr>
          </a:lstStyle>
          <a:p>
            <a:r>
              <a:rPr lang="es-ES" dirty="0"/>
              <a:t>Haga clic para modificar el estilo de título del patrón</a:t>
            </a:r>
          </a:p>
        </p:txBody>
      </p:sp>
      <p:pic>
        <p:nvPicPr>
          <p:cNvPr id="3"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7752" y="836712"/>
            <a:ext cx="8064896" cy="12698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6 CuadroTexto"/>
          <p:cNvSpPr txBox="1"/>
          <p:nvPr userDrawn="1"/>
        </p:nvSpPr>
        <p:spPr>
          <a:xfrm>
            <a:off x="1460281" y="5589240"/>
            <a:ext cx="6315960" cy="1015663"/>
          </a:xfrm>
          <a:prstGeom prst="rect">
            <a:avLst/>
          </a:prstGeom>
          <a:noFill/>
        </p:spPr>
        <p:txBody>
          <a:bodyPr wrap="none" rtlCol="0">
            <a:spAutoFit/>
          </a:bodyPr>
          <a:lstStyle/>
          <a:p>
            <a:pPr algn="ctr"/>
            <a:r>
              <a:rPr lang="es-ES_tradnl" sz="2000" noProof="0" dirty="0">
                <a:latin typeface="Calibri Light" panose="020F0302020204030204" pitchFamily="34" charset="0"/>
              </a:rPr>
              <a:t>Departamento</a:t>
            </a:r>
            <a:r>
              <a:rPr lang="es-ES_tradnl" sz="2000" baseline="0" noProof="0" dirty="0">
                <a:latin typeface="Calibri Light" panose="020F0302020204030204" pitchFamily="34" charset="0"/>
              </a:rPr>
              <a:t> de Señales, Sistemas y Radiocomunicaciones</a:t>
            </a:r>
          </a:p>
          <a:p>
            <a:pPr algn="ctr"/>
            <a:r>
              <a:rPr lang="es-ES_tradnl" sz="2000" baseline="0" noProof="0" dirty="0" err="1">
                <a:latin typeface="Calibri Light" panose="020F0302020204030204" pitchFamily="34" charset="0"/>
              </a:rPr>
              <a:t>E.T.S</a:t>
            </a:r>
            <a:r>
              <a:rPr lang="es-ES_tradnl" sz="2000" baseline="0" noProof="0" dirty="0">
                <a:latin typeface="Calibri Light" panose="020F0302020204030204" pitchFamily="34" charset="0"/>
              </a:rPr>
              <a:t>. Ingenieros de Telecomunicación</a:t>
            </a:r>
          </a:p>
          <a:p>
            <a:pPr algn="ctr"/>
            <a:r>
              <a:rPr lang="es-ES_tradnl" sz="2000" baseline="0" noProof="0" dirty="0">
                <a:latin typeface="Calibri Light" panose="020F0302020204030204" pitchFamily="34" charset="0"/>
              </a:rPr>
              <a:t>Universidad Politécnica de Madrid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9144000" cy="908720"/>
          </a:xfrm>
          <a:solidFill>
            <a:srgbClr val="3630B2"/>
          </a:solidFill>
          <a:ln w="25400" cap="flat" cmpd="sng" algn="ctr">
            <a:noFill/>
            <a:prstDash val="solid"/>
          </a:ln>
          <a:effectLst/>
        </p:spPr>
        <p:txBody>
          <a:bodyPr vert="horz" lIns="91440" tIns="45720" rIns="91440" bIns="45720" rtlCol="0" anchor="ctr">
            <a:normAutofit/>
          </a:bodyPr>
          <a:lstStyle>
            <a:lvl1pPr marL="176213" indent="0" algn="l">
              <a:defRPr kumimoji="0" lang="es-ES" sz="2800" b="0" i="0" u="none" strike="noStrike" cap="none" spc="0" normalizeH="0" baseline="0">
                <a:ln>
                  <a:noFill/>
                </a:ln>
                <a:solidFill>
                  <a:sysClr val="window" lastClr="FFFFFF"/>
                </a:solidFill>
                <a:effectLst/>
                <a:uLnTx/>
                <a:uFillTx/>
                <a:latin typeface="Calibri Light" panose="020F0302020204030204" pitchFamily="34" charset="0"/>
                <a:ea typeface="+mn-ea"/>
                <a:cs typeface="+mn-cs"/>
              </a:defRPr>
            </a:lvl1pPr>
          </a:lstStyle>
          <a:p>
            <a:pPr marL="88900" lvl="0" algn="l"/>
            <a:r>
              <a:rPr lang="es-ES" dirty="0"/>
              <a:t>Haga clic para modificar el estilo de título del patrón</a:t>
            </a:r>
          </a:p>
        </p:txBody>
      </p:sp>
      <p:sp>
        <p:nvSpPr>
          <p:cNvPr id="3" name="2 Marcador de contenido"/>
          <p:cNvSpPr>
            <a:spLocks noGrp="1"/>
          </p:cNvSpPr>
          <p:nvPr>
            <p:ph idx="1"/>
          </p:nvPr>
        </p:nvSpPr>
        <p:spPr/>
        <p:txBody>
          <a:bodyPr>
            <a:normAutofit/>
          </a:bodyPr>
          <a:lstStyle>
            <a:lvl1pPr>
              <a:defRPr sz="2800"/>
            </a:lvl1pPr>
            <a:lvl2pPr>
              <a:defRPr sz="2400"/>
            </a:lvl2pPr>
            <a:lvl3pPr>
              <a:defRPr sz="2000"/>
            </a:lvl3pPr>
            <a:lvl4pPr>
              <a:defRPr sz="1800"/>
            </a:lvl4pPr>
            <a:lvl5pPr>
              <a:defRPr sz="18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3 Marcador de fecha"/>
          <p:cNvSpPr>
            <a:spLocks noGrp="1"/>
          </p:cNvSpPr>
          <p:nvPr>
            <p:ph type="dt" sz="half" idx="10"/>
          </p:nvPr>
        </p:nvSpPr>
        <p:spPr>
          <a:xfrm>
            <a:off x="566257" y="6448251"/>
            <a:ext cx="2133600" cy="365125"/>
          </a:xfrm>
        </p:spPr>
        <p:txBody>
          <a:bodyPr/>
          <a:lstStyle/>
          <a:p>
            <a:fld id="{348ECE8D-65F6-4B01-BAA8-9F200C3C1CA9}" type="datetime1">
              <a:rPr lang="es-ES" smtClean="0"/>
              <a:t>15/09/2026</a:t>
            </a:fld>
            <a:endParaRPr lang="es-ES"/>
          </a:p>
        </p:txBody>
      </p:sp>
      <p:sp>
        <p:nvSpPr>
          <p:cNvPr id="5" name="4 Marcador de pie de página"/>
          <p:cNvSpPr>
            <a:spLocks noGrp="1"/>
          </p:cNvSpPr>
          <p:nvPr>
            <p:ph type="ftr" sz="quarter" idx="11"/>
          </p:nvPr>
        </p:nvSpPr>
        <p:spPr>
          <a:xfrm>
            <a:off x="3124200" y="6431851"/>
            <a:ext cx="2895600" cy="365125"/>
          </a:xfrm>
        </p:spPr>
        <p:txBody>
          <a:bodyPr/>
          <a:lstStyle/>
          <a:p>
            <a:endParaRPr lang="es-ES" dirty="0"/>
          </a:p>
        </p:txBody>
      </p:sp>
      <p:pic>
        <p:nvPicPr>
          <p:cNvPr id="9"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89" y="6477594"/>
            <a:ext cx="906476" cy="375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dirty="0"/>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dirty="0"/>
              <a:t>Haga clic para modificar el estilo de texto del patrón</a:t>
            </a:r>
          </a:p>
        </p:txBody>
      </p:sp>
      <p:sp>
        <p:nvSpPr>
          <p:cNvPr id="4" name="3 Marcador de fecha"/>
          <p:cNvSpPr>
            <a:spLocks noGrp="1"/>
          </p:cNvSpPr>
          <p:nvPr>
            <p:ph type="dt" sz="half" idx="10"/>
          </p:nvPr>
        </p:nvSpPr>
        <p:spPr/>
        <p:txBody>
          <a:bodyPr/>
          <a:lstStyle/>
          <a:p>
            <a:fld id="{CE464452-56B2-4765-A1B3-8D57FA7ABF8A}" type="datetime1">
              <a:rPr lang="es-ES" smtClean="0"/>
              <a:t>15/09/2026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fecha"/>
          <p:cNvSpPr>
            <a:spLocks noGrp="1"/>
          </p:cNvSpPr>
          <p:nvPr>
            <p:ph type="dt" sz="half" idx="10"/>
          </p:nvPr>
        </p:nvSpPr>
        <p:spPr/>
        <p:txBody>
          <a:bodyPr/>
          <a:lstStyle/>
          <a:p>
            <a:fld id="{BE0DB460-F920-4154-877A-0B4195851878}" type="datetime1">
              <a:rPr lang="es-ES" smtClean="0"/>
              <a:t>15/09/2026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6 Marcador de fecha"/>
          <p:cNvSpPr>
            <a:spLocks noGrp="1"/>
          </p:cNvSpPr>
          <p:nvPr>
            <p:ph type="dt" sz="half" idx="10"/>
          </p:nvPr>
        </p:nvSpPr>
        <p:spPr/>
        <p:txBody>
          <a:bodyPr/>
          <a:lstStyle/>
          <a:p>
            <a:fld id="{65372F18-9E5C-4AB7-A095-C3C7BADBB447}" type="datetime1">
              <a:rPr lang="es-ES" smtClean="0"/>
              <a:t>15/09/2026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0" y="0"/>
            <a:ext cx="9144000" cy="908720"/>
          </a:xfrm>
          <a:solidFill>
            <a:srgbClr val="3630B2"/>
          </a:solidFill>
          <a:ln w="25400" cap="flat" cmpd="sng" algn="ctr">
            <a:noFill/>
            <a:prstDash val="solid"/>
          </a:ln>
          <a:effectLst/>
        </p:spPr>
        <p:txBody>
          <a:bodyPr rtlCol="0" anchor="ctr"/>
          <a:lstStyle>
            <a:lvl1pPr>
              <a:defRPr kumimoji="0" lang="es-ES" sz="2800" b="0" i="0" u="none" strike="noStrike" cap="none" spc="0" normalizeH="0" baseline="0">
                <a:ln>
                  <a:noFill/>
                </a:ln>
                <a:solidFill>
                  <a:sysClr val="window" lastClr="FFFFFF"/>
                </a:solidFill>
                <a:effectLst/>
                <a:uLnTx/>
                <a:uFillTx/>
                <a:latin typeface="Calibri Light" panose="020F0302020204030204" pitchFamily="34" charset="0"/>
                <a:ea typeface="+mn-ea"/>
                <a:cs typeface="+mn-cs"/>
              </a:defRPr>
            </a:lvl1pPr>
          </a:lstStyle>
          <a:p>
            <a:pPr marL="88900" marR="0" lvl="0" indent="0" algn="l" fontAlgn="auto">
              <a:lnSpc>
                <a:spcPct val="100000"/>
              </a:lnSpc>
              <a:spcAft>
                <a:spcPts val="0"/>
              </a:spcAft>
              <a:buClrTx/>
              <a:buSzTx/>
              <a:buFontTx/>
              <a:tabLst/>
            </a:pPr>
            <a:r>
              <a:rPr lang="es-ES" dirty="0"/>
              <a:t>Haga clic para modificar el estilo de título del patrón</a:t>
            </a:r>
          </a:p>
        </p:txBody>
      </p:sp>
      <p:sp>
        <p:nvSpPr>
          <p:cNvPr id="3" name="2 Marcador de fecha"/>
          <p:cNvSpPr>
            <a:spLocks noGrp="1"/>
          </p:cNvSpPr>
          <p:nvPr>
            <p:ph type="dt" sz="half" idx="10"/>
          </p:nvPr>
        </p:nvSpPr>
        <p:spPr/>
        <p:txBody>
          <a:bodyPr/>
          <a:lstStyle/>
          <a:p>
            <a:fld id="{1F20EDA0-563C-467B-A901-2E2AD3F7C09E}" type="datetime1">
              <a:rPr lang="es-ES" smtClean="0"/>
              <a:t>15/09/2026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4DD5EA1-2156-4D2B-8F6F-606C634C3F68}" type="datetime1">
              <a:rPr lang="es-ES" smtClean="0"/>
              <a:t>15/09/2026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87CCAB71-D589-4C7E-BB38-EAAB0D0DDA68}" type="datetime1">
              <a:rPr lang="es-ES" smtClean="0"/>
              <a:t>15/09/2026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1B952DF-7918-4EBF-AD1C-8C382A29E8CA}" type="datetime1">
              <a:rPr lang="es-ES" smtClean="0"/>
              <a:t>15/09/2026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33327633-AFB9-4F33-B41F-8AD159A004D3}" type="datetime1">
              <a:rPr lang="es-ES" smtClean="0"/>
              <a:t>15/09/2026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3 Marcador de fecha"/>
          <p:cNvSpPr>
            <a:spLocks noGrp="1"/>
          </p:cNvSpPr>
          <p:nvPr>
            <p:ph type="dt" sz="half" idx="10"/>
          </p:nvPr>
        </p:nvSpPr>
        <p:spPr/>
        <p:txBody>
          <a:bodyPr/>
          <a:lstStyle/>
          <a:p>
            <a:fld id="{5EDED96D-0377-4EC9-9BF1-2C3C416E1A1F}" type="datetime1">
              <a:rPr lang="es-ES" smtClean="0"/>
              <a:t>15/09/2026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a:xfrm>
            <a:off x="6553200" y="6356350"/>
            <a:ext cx="2133600" cy="365125"/>
          </a:xfrm>
          <a:prstGeom prst="rect">
            <a:avLst/>
          </a:prstGeom>
        </p:spPr>
        <p:txBody>
          <a:bodyPr/>
          <a:lstStyle/>
          <a:p>
            <a:fld id="{132FADFE-3B8F-471C-ABF0-DBC7717ECBBC}" type="slidenum">
              <a:rPr lang="es-ES" smtClean="0"/>
              <a:t>‹#›</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seño personalizado">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41D0E213-74F7-3D2D-4E0A-31B298C119F5}"/>
              </a:ext>
            </a:extLst>
          </p:cNvPr>
          <p:cNvSpPr>
            <a:spLocks noGrp="1"/>
          </p:cNvSpPr>
          <p:nvPr>
            <p:ph type="sldNum" sz="quarter" idx="12"/>
          </p:nvPr>
        </p:nvSpPr>
        <p:spPr/>
        <p:txBody>
          <a:bodyPr/>
          <a:lstStyle/>
          <a:p>
            <a:fld id="{131CEB60-F620-49FD-BBD7-6474DF8E3B8F}" type="slidenum">
              <a:rPr lang="es-ES" smtClean="0"/>
              <a:t>‹#›</a:t>
            </a:fld>
            <a:endParaRPr lang="es-ES"/>
          </a:p>
        </p:txBody>
      </p:sp>
    </p:spTree>
    <p:extLst>
      <p:ext uri="{BB962C8B-B14F-4D97-AF65-F5344CB8AC3E}">
        <p14:creationId xmlns:p14="http://schemas.microsoft.com/office/powerpoint/2010/main" val="1135196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A7DF1-3358-00C6-D6A0-5AD52200BC67}"/>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2B7C8F96-59BF-5FC5-FE13-F5CE12D49C6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9AD46E6D-BE3C-528C-3CBC-D2FC710E8CDD}"/>
              </a:ext>
            </a:extLst>
          </p:cNvPr>
          <p:cNvSpPr>
            <a:spLocks noGrp="1"/>
          </p:cNvSpPr>
          <p:nvPr>
            <p:ph type="dt" sz="half" idx="10"/>
          </p:nvPr>
        </p:nvSpPr>
        <p:spPr/>
        <p:txBody>
          <a:bodyPr/>
          <a:lstStyle/>
          <a:p>
            <a:fld id="{434BFB11-59F8-4D8C-8764-4C46A8CCB8B2}" type="datetimeFigureOut">
              <a:rPr lang="en-US" smtClean="0"/>
              <a:t>9/15/2026</a:t>
            </a:fld>
            <a:endParaRPr lang="en-US"/>
          </a:p>
        </p:txBody>
      </p:sp>
      <p:sp>
        <p:nvSpPr>
          <p:cNvPr id="5" name="Footer Placeholder 4">
            <a:extLst>
              <a:ext uri="{FF2B5EF4-FFF2-40B4-BE49-F238E27FC236}">
                <a16:creationId xmlns:a16="http://schemas.microsoft.com/office/drawing/2014/main" id="{108FBC63-E14C-C7A5-A76C-E8AF304C9D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4C9B35-7204-5153-8A52-2ED0352DFFF4}"/>
              </a:ext>
            </a:extLst>
          </p:cNvPr>
          <p:cNvSpPr>
            <a:spLocks noGrp="1"/>
          </p:cNvSpPr>
          <p:nvPr>
            <p:ph type="sldNum" sz="quarter" idx="12"/>
          </p:nvPr>
        </p:nvSpPr>
        <p:spPr/>
        <p:txBody>
          <a:bodyPr/>
          <a:lstStyle/>
          <a:p>
            <a:fld id="{08294A3C-1240-436A-BA42-1762C1C59C13}" type="slidenum">
              <a:rPr lang="en-US" smtClean="0"/>
              <a:t>‹#›</a:t>
            </a:fld>
            <a:endParaRPr lang="en-US"/>
          </a:p>
        </p:txBody>
      </p:sp>
    </p:spTree>
    <p:extLst>
      <p:ext uri="{BB962C8B-B14F-4D97-AF65-F5344CB8AC3E}">
        <p14:creationId xmlns:p14="http://schemas.microsoft.com/office/powerpoint/2010/main" val="220500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7458" y="1550804"/>
            <a:ext cx="8535737" cy="2049713"/>
          </a:xfrm>
          <a:prstGeom prst="rect">
            <a:avLst/>
          </a:prstGeom>
          <a:effectLst>
            <a:innerShdw blurRad="482600" dist="50800" dir="13500000">
              <a:srgbClr val="000000">
                <a:alpha val="37000"/>
              </a:srgbClr>
            </a:innerShdw>
          </a:effectLst>
          <a:scene3d>
            <a:camera prst="orthographicFront"/>
            <a:lightRig rig="threePt" dir="t"/>
          </a:scene3d>
          <a:sp3d>
            <a:bevelT w="139700" prst="cross"/>
          </a:sp3d>
        </p:spPr>
        <p:txBody>
          <a:bodyPr/>
          <a:lstStyle>
            <a:lvl1pPr>
              <a:defRPr sz="4000" b="0" i="0" cap="none">
                <a:solidFill>
                  <a:srgbClr val="011C3C"/>
                </a:solidFill>
                <a:latin typeface="Lucida Grande"/>
                <a:cs typeface="Lucida Grande"/>
              </a:defRPr>
            </a:lvl1pPr>
          </a:lstStyle>
          <a:p>
            <a:r>
              <a:rPr lang="en-US" dirty="0"/>
              <a:t>Click to edit Master title style</a:t>
            </a:r>
          </a:p>
        </p:txBody>
      </p:sp>
      <p:sp>
        <p:nvSpPr>
          <p:cNvPr id="3" name="Subtitle 2"/>
          <p:cNvSpPr>
            <a:spLocks noGrp="1"/>
          </p:cNvSpPr>
          <p:nvPr>
            <p:ph type="subTitle" idx="1"/>
          </p:nvPr>
        </p:nvSpPr>
        <p:spPr>
          <a:xfrm>
            <a:off x="735353" y="3886200"/>
            <a:ext cx="7533105" cy="1752600"/>
          </a:xfrm>
        </p:spPr>
        <p:txBody>
          <a:bodyPr>
            <a:normAutofit/>
          </a:bodyPr>
          <a:lstStyle>
            <a:lvl1pPr marL="0" indent="0" algn="ctr">
              <a:buNone/>
              <a:defRPr sz="3100" b="1" i="1">
                <a:solidFill>
                  <a:srgbClr val="FF0000"/>
                </a:solidFill>
                <a:effectLst>
                  <a:innerShdw blurRad="63500" dist="50800" dir="13500000">
                    <a:srgbClr val="000000">
                      <a:alpha val="50000"/>
                    </a:srgbClr>
                  </a:innerShdw>
                </a:effectLst>
                <a:latin typeface="Georgia"/>
                <a:cs typeface="Georgi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3028812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523295"/>
            <a:ext cx="8432800" cy="935791"/>
          </a:xfrm>
          <a:prstGeom prst="rect">
            <a:avLst/>
          </a:prstGeom>
        </p:spPr>
        <p:txBody>
          <a:bodyPr/>
          <a:lstStyle>
            <a:lvl1pPr>
              <a:defRPr sz="3500" b="1" i="0" cap="none">
                <a:solidFill>
                  <a:srgbClr val="FF0000"/>
                </a:solidFill>
                <a:effectLst>
                  <a:innerShdw blurRad="63500" dist="50800" dir="13500000">
                    <a:srgbClr val="000000">
                      <a:alpha val="50000"/>
                    </a:srgbClr>
                  </a:innerShdw>
                </a:effectLst>
                <a:latin typeface="Georgia"/>
                <a:cs typeface="Georgia"/>
              </a:defRPr>
            </a:lvl1pPr>
          </a:lstStyle>
          <a:p>
            <a:r>
              <a:rPr lang="en-US" dirty="0"/>
              <a:t>Click to edit Master title style</a:t>
            </a:r>
          </a:p>
        </p:txBody>
      </p:sp>
      <p:sp>
        <p:nvSpPr>
          <p:cNvPr id="3" name="Content Placeholder 2"/>
          <p:cNvSpPr>
            <a:spLocks noGrp="1"/>
          </p:cNvSpPr>
          <p:nvPr>
            <p:ph idx="1"/>
          </p:nvPr>
        </p:nvSpPr>
        <p:spPr>
          <a:xfrm>
            <a:off x="457200" y="2082338"/>
            <a:ext cx="8229600" cy="3603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19860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0967" y="1024913"/>
            <a:ext cx="8662737" cy="1362075"/>
          </a:xfrm>
          <a:prstGeom prst="rect">
            <a:avLst/>
          </a:prstGeom>
        </p:spPr>
        <p:txBody>
          <a:bodyPr anchor="t"/>
          <a:lstStyle>
            <a:lvl1pPr algn="ctr">
              <a:defRPr sz="3500" b="0" cap="none">
                <a:solidFill>
                  <a:srgbClr val="011C3C"/>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3689684"/>
            <a:ext cx="7772400" cy="717216"/>
          </a:xfrm>
        </p:spPr>
        <p:txBody>
          <a:bodyPr anchor="b">
            <a:normAutofit/>
          </a:bodyPr>
          <a:lstStyle>
            <a:lvl1pPr marL="0" indent="0" algn="ctr">
              <a:buNone/>
              <a:defRPr sz="2400">
                <a:solidFill>
                  <a:srgbClr val="FDC227"/>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703531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663972"/>
            <a:ext cx="8229600" cy="936229"/>
          </a:xfrm>
          <a:prstGeom prst="rect">
            <a:avLst/>
          </a:prstGeom>
        </p:spPr>
        <p:txBody>
          <a:bodyPr/>
          <a:lstStyle>
            <a:lvl1pPr>
              <a:defRPr sz="3200" b="0" i="0" cap="none">
                <a:solidFill>
                  <a:srgbClr val="011C3C"/>
                </a:solidFill>
                <a:latin typeface="Lucida Grande"/>
                <a:cs typeface="Lucida Grande"/>
              </a:defRPr>
            </a:lvl1pPr>
          </a:lstStyle>
          <a:p>
            <a:r>
              <a:rPr lang="en-US"/>
              <a:t>Click to edit Master title style</a:t>
            </a:r>
            <a:endParaRPr lang="en-US" dirty="0"/>
          </a:p>
        </p:txBody>
      </p:sp>
      <p:sp>
        <p:nvSpPr>
          <p:cNvPr id="3" name="Content Placeholder 2"/>
          <p:cNvSpPr>
            <a:spLocks noGrp="1"/>
          </p:cNvSpPr>
          <p:nvPr>
            <p:ph sz="half" idx="1"/>
          </p:nvPr>
        </p:nvSpPr>
        <p:spPr>
          <a:xfrm>
            <a:off x="457200" y="1600201"/>
            <a:ext cx="4038600" cy="4525963"/>
          </a:xfrm>
        </p:spPr>
        <p:txBody>
          <a:bodyPr/>
          <a:lstStyle>
            <a:lvl1pPr>
              <a:defRPr sz="1800" b="0" i="0">
                <a:solidFill>
                  <a:srgbClr val="FDC227"/>
                </a:solidFill>
                <a:latin typeface="Lucida Grande"/>
                <a:cs typeface="Lucida Grande"/>
              </a:defRPr>
            </a:lvl1pPr>
            <a:lvl2pPr>
              <a:defRPr sz="1600" b="0" i="0">
                <a:latin typeface="Lucida Grande"/>
                <a:cs typeface="Lucida Grande"/>
              </a:defRPr>
            </a:lvl2pPr>
            <a:lvl3pPr>
              <a:defRPr sz="1600" b="0" i="0">
                <a:latin typeface="Lucida Grande"/>
                <a:cs typeface="Lucida Grande"/>
              </a:defRPr>
            </a:lvl3pPr>
            <a:lvl4pPr>
              <a:defRPr sz="1600" b="0" i="0">
                <a:latin typeface="Lucida Grande"/>
                <a:cs typeface="Lucida Grande"/>
              </a:defRPr>
            </a:lvl4pPr>
            <a:lvl5pPr>
              <a:defRPr sz="1600" b="0" i="0">
                <a:latin typeface="Lucida Grande"/>
                <a:cs typeface="Lucida Grand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1"/>
            <a:ext cx="4038600" cy="4525963"/>
          </a:xfrm>
        </p:spPr>
        <p:txBody>
          <a:bodyPr/>
          <a:lstStyle>
            <a:lvl1pPr>
              <a:defRPr sz="1800" b="0" i="0">
                <a:solidFill>
                  <a:srgbClr val="FDC227"/>
                </a:solidFill>
                <a:latin typeface="Lucida Grande"/>
                <a:cs typeface="Lucida Grande"/>
              </a:defRPr>
            </a:lvl1pPr>
            <a:lvl2pPr>
              <a:defRPr sz="1600" b="0" i="0">
                <a:latin typeface="Lucida Grande"/>
                <a:cs typeface="Lucida Grande"/>
              </a:defRPr>
            </a:lvl2pPr>
            <a:lvl3pPr>
              <a:defRPr sz="1600" b="0" i="0">
                <a:latin typeface="Lucida Grande"/>
                <a:cs typeface="Lucida Grande"/>
              </a:defRPr>
            </a:lvl3pPr>
            <a:lvl4pPr>
              <a:defRPr sz="1600" b="0" i="0">
                <a:latin typeface="Lucida Grande"/>
                <a:cs typeface="Lucida Grande"/>
              </a:defRPr>
            </a:lvl4pPr>
            <a:lvl5pPr>
              <a:defRPr sz="1600" b="0" i="0">
                <a:latin typeface="Lucida Grande"/>
                <a:cs typeface="Lucida Grande"/>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464733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615484"/>
            <a:ext cx="8229600" cy="919629"/>
          </a:xfrm>
          <a:prstGeom prst="rect">
            <a:avLst/>
          </a:prstGeom>
        </p:spPr>
        <p:txBody>
          <a:bodyPr/>
          <a:lstStyle>
            <a:lvl1pPr>
              <a:defRPr sz="3200" b="0" i="0" cap="none">
                <a:solidFill>
                  <a:srgbClr val="011C3C"/>
                </a:solidFill>
                <a:latin typeface="Lucida Grande"/>
                <a:cs typeface="Lucida Grande"/>
              </a:defRPr>
            </a:lvl1pPr>
          </a:lstStyle>
          <a:p>
            <a:r>
              <a:rPr lang="en-US"/>
              <a:t>Click to edit Master title style</a:t>
            </a:r>
            <a:endParaRPr lang="en-US" dirty="0"/>
          </a:p>
        </p:txBody>
      </p:sp>
      <p:sp>
        <p:nvSpPr>
          <p:cNvPr id="3" name="Text Placeholder 2"/>
          <p:cNvSpPr>
            <a:spLocks noGrp="1"/>
          </p:cNvSpPr>
          <p:nvPr>
            <p:ph type="body" idx="1"/>
          </p:nvPr>
        </p:nvSpPr>
        <p:spPr>
          <a:xfrm>
            <a:off x="457200" y="1535113"/>
            <a:ext cx="4040188" cy="639763"/>
          </a:xfrm>
        </p:spPr>
        <p:txBody>
          <a:bodyPr anchor="b">
            <a:normAutofit/>
          </a:bodyPr>
          <a:lstStyle>
            <a:lvl1pPr marL="0" indent="0" algn="ctr">
              <a:buNone/>
              <a:defRPr sz="2000" b="0" i="0">
                <a:solidFill>
                  <a:srgbClr val="FDC227"/>
                </a:solidFill>
                <a:effectLst/>
                <a:latin typeface="Lucida Grande"/>
                <a:cs typeface="Lucida Grande"/>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24140"/>
            <a:ext cx="4040188" cy="3951288"/>
          </a:xfrm>
        </p:spPr>
        <p:txBody>
          <a:bodyPr/>
          <a:lstStyle>
            <a:lvl1pPr>
              <a:defRPr sz="1800">
                <a:latin typeface="Lucida Grande"/>
                <a:cs typeface="Lucida Grande"/>
              </a:defRPr>
            </a:lvl1pPr>
            <a:lvl2pPr>
              <a:defRPr sz="1600">
                <a:latin typeface="Lucida Grande"/>
                <a:cs typeface="Lucida Grande"/>
              </a:defRPr>
            </a:lvl2pPr>
            <a:lvl3pPr>
              <a:defRPr sz="1600">
                <a:latin typeface="Lucida Grande"/>
                <a:cs typeface="Lucida Grande"/>
              </a:defRPr>
            </a:lvl3pPr>
            <a:lvl4pPr>
              <a:defRPr sz="1600">
                <a:latin typeface="Lucida Grande"/>
                <a:cs typeface="Lucida Grande"/>
              </a:defRPr>
            </a:lvl4pPr>
            <a:lvl5pPr>
              <a:defRPr sz="1600">
                <a:latin typeface="Lucida Grande"/>
                <a:cs typeface="Lucida Grande"/>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33" y="1535113"/>
            <a:ext cx="4041775" cy="639763"/>
          </a:xfrm>
        </p:spPr>
        <p:txBody>
          <a:bodyPr anchor="b">
            <a:normAutofit/>
          </a:bodyPr>
          <a:lstStyle>
            <a:lvl1pPr marL="0" indent="0" algn="ctr">
              <a:buNone/>
              <a:defRPr sz="2000" b="0">
                <a:solidFill>
                  <a:srgbClr val="FDC227"/>
                </a:solidFill>
                <a:effectLst/>
                <a:latin typeface="Lucida Grande"/>
                <a:cs typeface="Lucida Grande"/>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2424140"/>
            <a:ext cx="4041775" cy="3951288"/>
          </a:xfrm>
        </p:spPr>
        <p:txBody>
          <a:bodyPr/>
          <a:lstStyle>
            <a:lvl1pPr>
              <a:defRPr sz="1800">
                <a:latin typeface="Lucida Grande"/>
                <a:cs typeface="Lucida Grande"/>
              </a:defRPr>
            </a:lvl1pPr>
            <a:lvl2pPr>
              <a:defRPr sz="1600">
                <a:latin typeface="Lucida Grande"/>
                <a:cs typeface="Lucida Grande"/>
              </a:defRPr>
            </a:lvl2pPr>
            <a:lvl3pPr>
              <a:defRPr sz="1600">
                <a:latin typeface="Lucida Grande"/>
                <a:cs typeface="Lucida Grande"/>
              </a:defRPr>
            </a:lvl3pPr>
            <a:lvl4pPr>
              <a:defRPr sz="1600">
                <a:latin typeface="Lucida Grande"/>
                <a:cs typeface="Lucida Grande"/>
              </a:defRPr>
            </a:lvl4pPr>
            <a:lvl5pPr>
              <a:defRPr sz="1600">
                <a:latin typeface="Lucida Grande"/>
                <a:cs typeface="Lucida Grande"/>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16191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957824"/>
            <a:ext cx="8229600" cy="919629"/>
          </a:xfrm>
          <a:prstGeom prst="rect">
            <a:avLst/>
          </a:prstGeom>
        </p:spPr>
        <p:txBody>
          <a:bodyPr/>
          <a:lstStyle>
            <a:lvl1pPr>
              <a:defRPr sz="3000" b="0" i="0" cap="none">
                <a:solidFill>
                  <a:srgbClr val="011C3C"/>
                </a:solidFill>
                <a:latin typeface="Lucida Grande"/>
                <a:cs typeface="Lucida Grande"/>
              </a:defRPr>
            </a:lvl1pPr>
          </a:lstStyle>
          <a:p>
            <a:r>
              <a:rPr lang="en-US"/>
              <a:t>Click to edit Master title style</a:t>
            </a:r>
            <a:endParaRPr lang="en-US" dirty="0"/>
          </a:p>
        </p:txBody>
      </p:sp>
    </p:spTree>
    <p:extLst>
      <p:ext uri="{BB962C8B-B14F-4D97-AF65-F5344CB8AC3E}">
        <p14:creationId xmlns:p14="http://schemas.microsoft.com/office/powerpoint/2010/main" val="150588535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303140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666793"/>
            <a:ext cx="3008313" cy="928791"/>
          </a:xfrm>
          <a:prstGeom prst="rect">
            <a:avLst/>
          </a:prstGeom>
        </p:spPr>
        <p:txBody>
          <a:bodyPr anchor="b"/>
          <a:lstStyle>
            <a:lvl1pPr algn="l">
              <a:defRPr sz="2000" b="0" i="0">
                <a:solidFill>
                  <a:srgbClr val="011C3C"/>
                </a:solidFill>
                <a:latin typeface="Lucida Grande"/>
                <a:cs typeface="Lucida Grande"/>
              </a:defRPr>
            </a:lvl1pPr>
          </a:lstStyle>
          <a:p>
            <a:r>
              <a:rPr lang="en-US"/>
              <a:t>Click to edit Master title style</a:t>
            </a:r>
            <a:endParaRPr lang="en-US" dirty="0"/>
          </a:p>
        </p:txBody>
      </p:sp>
      <p:sp>
        <p:nvSpPr>
          <p:cNvPr id="3" name="Content Placeholder 2"/>
          <p:cNvSpPr>
            <a:spLocks noGrp="1"/>
          </p:cNvSpPr>
          <p:nvPr>
            <p:ph idx="1"/>
          </p:nvPr>
        </p:nvSpPr>
        <p:spPr>
          <a:xfrm>
            <a:off x="3575050" y="666768"/>
            <a:ext cx="5111750" cy="5619855"/>
          </a:xfrm>
        </p:spPr>
        <p:txBody>
          <a:bodyPr/>
          <a:lstStyle>
            <a:lvl1pPr>
              <a:defRPr sz="2800" b="0" i="0">
                <a:solidFill>
                  <a:srgbClr val="FDC227"/>
                </a:solidFill>
                <a:latin typeface="Lucida Grande"/>
                <a:cs typeface="Lucida Grande"/>
              </a:defRPr>
            </a:lvl1pPr>
            <a:lvl2pPr>
              <a:defRPr sz="2800" b="0" i="0">
                <a:latin typeface="Lucida Grande"/>
                <a:cs typeface="Lucida Grande"/>
              </a:defRPr>
            </a:lvl2pPr>
            <a:lvl3pPr>
              <a:defRPr sz="2400" b="0" i="0">
                <a:latin typeface="Lucida Grande"/>
                <a:cs typeface="Lucida Grande"/>
              </a:defRPr>
            </a:lvl3pPr>
            <a:lvl4pPr>
              <a:defRPr sz="2000" b="0" i="0">
                <a:latin typeface="Lucida Grande"/>
                <a:cs typeface="Lucida Grande"/>
              </a:defRPr>
            </a:lvl4pPr>
            <a:lvl5pPr>
              <a:defRPr sz="2000" b="0" i="0">
                <a:latin typeface="Lucida Grande"/>
                <a:cs typeface="Lucida Grande"/>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19" y="1595536"/>
            <a:ext cx="3008313" cy="4691063"/>
          </a:xfrm>
        </p:spPr>
        <p:txBody>
          <a:bodyPr/>
          <a:lstStyle>
            <a:lvl1pPr marL="0" indent="0">
              <a:buNone/>
              <a:defRPr sz="1400">
                <a:solidFill>
                  <a:schemeClr val="bg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8787434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a:prstGeom prst="rect">
            <a:avLst/>
          </a:prstGeom>
        </p:spPr>
        <p:txBody>
          <a:bodyPr anchor="b"/>
          <a:lstStyle>
            <a:lvl1pPr algn="l">
              <a:defRPr sz="2000" b="0">
                <a:solidFill>
                  <a:srgbClr val="011C3C"/>
                </a:solidFill>
                <a:latin typeface="Lucida Grande"/>
                <a:cs typeface="Lucida Grande"/>
              </a:defRPr>
            </a:lvl1pPr>
          </a:lstStyle>
          <a:p>
            <a:r>
              <a:rPr lang="en-US"/>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403"/>
            <a:ext cx="5486400" cy="804863"/>
          </a:xfrm>
        </p:spPr>
        <p:txBody>
          <a:bodyPr/>
          <a:lstStyle>
            <a:lvl1pPr marL="0" indent="0">
              <a:buNone/>
              <a:defRPr sz="1400" b="0" i="0">
                <a:solidFill>
                  <a:srgbClr val="7F7F7F"/>
                </a:solidFill>
                <a:latin typeface="Lucida Grande"/>
                <a:cs typeface="Lucida Grande"/>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88390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2.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dirty="0"/>
              <a:t>Haga clic para modificar el estilo de título del patrón</a:t>
            </a: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A2229D-6D44-4CBD-9C22-FBB842BB87C1}" type="datetime1">
              <a:rPr lang="es-ES" smtClean="0"/>
              <a:t>15/09/2026</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7" name="9 CuadroTexto">
            <a:extLst>
              <a:ext uri="{FF2B5EF4-FFF2-40B4-BE49-F238E27FC236}">
                <a16:creationId xmlns:a16="http://schemas.microsoft.com/office/drawing/2014/main" id="{5AFF4DFD-4FD7-7EE6-B92C-DABB628B3447}"/>
              </a:ext>
            </a:extLst>
          </p:cNvPr>
          <p:cNvSpPr txBox="1"/>
          <p:nvPr userDrawn="1"/>
        </p:nvSpPr>
        <p:spPr>
          <a:xfrm>
            <a:off x="8388424" y="6566440"/>
            <a:ext cx="755576" cy="276999"/>
          </a:xfrm>
          <a:prstGeom prst="rect">
            <a:avLst/>
          </a:prstGeom>
          <a:noFill/>
        </p:spPr>
        <p:txBody>
          <a:bodyPr wrap="square" rtlCol="0">
            <a:spAutoFit/>
          </a:bodyPr>
          <a:lstStyle/>
          <a:p>
            <a:fld id="{F364D299-E018-4E3E-A3DC-C44145307719}" type="slidenum">
              <a:rPr lang="en-US" sz="1200" smtClean="0">
                <a:solidFill>
                  <a:schemeClr val="bg1">
                    <a:lumMod val="50000"/>
                  </a:schemeClr>
                </a:solidFill>
              </a:rPr>
              <a:t>‹#›</a:t>
            </a:fld>
            <a:r>
              <a:rPr lang="en-US" sz="1200" dirty="0">
                <a:solidFill>
                  <a:schemeClr val="bg1">
                    <a:lumMod val="50000"/>
                  </a:schemeClr>
                </a:solidFill>
              </a:rPr>
              <a:t> / 73</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026589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500" kern="1200">
          <a:solidFill>
            <a:srgbClr val="011C3C"/>
          </a:solidFill>
          <a:latin typeface="Lucida Grande"/>
          <a:ea typeface="+mn-ea"/>
          <a:cs typeface="Lucida Grande"/>
        </a:defRPr>
      </a:lvl1pPr>
      <a:lvl2pPr marL="742950" indent="-285750" algn="l" defTabSz="457200" rtl="0" eaLnBrk="1" latinLnBrk="0" hangingPunct="1">
        <a:spcBef>
          <a:spcPct val="20000"/>
        </a:spcBef>
        <a:buFont typeface="Arial"/>
        <a:buChar char="–"/>
        <a:defRPr sz="2000" kern="1200">
          <a:solidFill>
            <a:schemeClr val="bg2">
              <a:lumMod val="50000"/>
            </a:schemeClr>
          </a:solidFill>
          <a:latin typeface="Lucida Grande"/>
          <a:ea typeface="+mn-ea"/>
          <a:cs typeface="Lucida Grande"/>
        </a:defRPr>
      </a:lvl2pPr>
      <a:lvl3pPr marL="1143000" indent="-228600" algn="l" defTabSz="457200" rtl="0" eaLnBrk="1" latinLnBrk="0" hangingPunct="1">
        <a:spcBef>
          <a:spcPct val="20000"/>
        </a:spcBef>
        <a:buFont typeface="Arial"/>
        <a:buChar char="•"/>
        <a:defRPr sz="1800" kern="1200">
          <a:solidFill>
            <a:schemeClr val="bg2">
              <a:lumMod val="50000"/>
            </a:schemeClr>
          </a:solidFill>
          <a:latin typeface="Lucida Grande"/>
          <a:ea typeface="+mn-ea"/>
          <a:cs typeface="Lucida Grande"/>
        </a:defRPr>
      </a:lvl3pPr>
      <a:lvl4pPr marL="1600200" indent="-228600" algn="l" defTabSz="457200" rtl="0" eaLnBrk="1" latinLnBrk="0" hangingPunct="1">
        <a:spcBef>
          <a:spcPct val="20000"/>
        </a:spcBef>
        <a:buFont typeface="Arial"/>
        <a:buChar char="–"/>
        <a:defRPr sz="1500" kern="1200">
          <a:solidFill>
            <a:schemeClr val="bg2">
              <a:lumMod val="50000"/>
            </a:schemeClr>
          </a:solidFill>
          <a:latin typeface="Lucida Grande"/>
          <a:ea typeface="+mn-ea"/>
          <a:cs typeface="Lucida Grande"/>
        </a:defRPr>
      </a:lvl4pPr>
      <a:lvl5pPr marL="2057400" indent="-228600" algn="l" defTabSz="457200" rtl="0" eaLnBrk="1" latinLnBrk="0" hangingPunct="1">
        <a:spcBef>
          <a:spcPct val="20000"/>
        </a:spcBef>
        <a:buFont typeface="Arial"/>
        <a:buChar char="»"/>
        <a:defRPr sz="1200" kern="1200">
          <a:solidFill>
            <a:schemeClr val="bg2">
              <a:lumMod val="50000"/>
            </a:schemeClr>
          </a:solidFill>
          <a:latin typeface="Lucida Grande"/>
          <a:ea typeface="+mn-ea"/>
          <a:cs typeface="Lucida Grand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eduardo.lopez@upm.es" TargetMode="External"/><Relationship Id="rId7" Type="http://schemas.openxmlformats.org/officeDocument/2006/relationships/hyperlink" Target="mailto:alejandro.almdodovar@upm.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mailto:luisalfonso.hernandez@upm.es"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medium.com/@saugata.paul1010/a-detailed-case-study-on-multi-label-classification-with-machine-learning-algorithms-and-72031742c9aa" TargetMode="External"/><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poloclub.github.io/transformer-explainer/"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810.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hyperlink" Target="https://www.statlearning.com/" TargetMode="External"/><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infocenter.informationbuilders.com/wf80/index.jsp?topic=%2Fpubdocs%2FRStat16%2Fsource%2Ftopic45.htm" TargetMode="External"/><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hyperlink" Target="http://www.dataschool.io/15-hours-of-expert-machine-learning-videos/" TargetMode="External"/><Relationship Id="rId2" Type="http://schemas.openxmlformats.org/officeDocument/2006/relationships/hyperlink" Target="http://www.r-bloggers.com/in-depth-introduction-to-machine-learning-in-15-hours-of-expert-videos/" TargetMode="Externa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bishopbook.com/" TargetMode="Externa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https://arxiv.org/pdf/2305.00359.pdf" TargetMode="External"/><Relationship Id="rId2" Type="http://schemas.openxmlformats.org/officeDocument/2006/relationships/image" Target="../media/image62.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hyperlink" Target="https://pitt.libguides.com/citationhelp" TargetMode="Externa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hyperlink" Target="https://guides.libraries.psu.edu/c.php?g=1338692&amp;p=9866353" TargetMode="External"/><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hyperlink" Target="https://libguides.umn.edu/c.php?g=1314591&amp;p=9664746" TargetMode="External"/><Relationship Id="rId1" Type="http://schemas.openxmlformats.org/officeDocument/2006/relationships/slideLayout" Target="../slideLayouts/slideLayout7.xml"/><Relationship Id="rId4" Type="http://schemas.openxmlformats.org/officeDocument/2006/relationships/image" Target="../media/image6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hyperlink" Target="https://www.cortical.io/blog/chatgpt-and-large-language-models-the-holy-grail-of-enterprise-ai/" TargetMode="External"/><Relationship Id="rId7" Type="http://schemas.openxmlformats.org/officeDocument/2006/relationships/hyperlink" Target="https://codi-gen.github.io/" TargetMode="External"/><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hyperlink" Target="https://learnopencv.com/ai-art-generation-tools/" TargetMode="External"/><Relationship Id="rId5" Type="http://schemas.openxmlformats.org/officeDocument/2006/relationships/image" Target="../media/image69.png"/><Relationship Id="rId10" Type="http://schemas.openxmlformats.org/officeDocument/2006/relationships/hyperlink" Target="https://imagebind.metademolab.com/" TargetMode="External"/><Relationship Id="rId4" Type="http://schemas.openxmlformats.org/officeDocument/2006/relationships/image" Target="../media/image68.emf"/><Relationship Id="rId9" Type="http://schemas.openxmlformats.org/officeDocument/2006/relationships/image" Target="../media/image71.png"/></Relationships>
</file>

<file path=ppt/slides/_rels/slide69.xml.rels><?xml version="1.0" encoding="UTF-8" standalone="yes"?>
<Relationships xmlns="http://schemas.openxmlformats.org/package/2006/relationships"><Relationship Id="rId3" Type="http://schemas.openxmlformats.org/officeDocument/2006/relationships/hyperlink" Target="https://arxiv.org/abs/2204.06125v1" TargetMode="External"/><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hyperlink" Target="https://huggingface.co/" TargetMode="External"/><Relationship Id="rId2" Type="http://schemas.openxmlformats.org/officeDocument/2006/relationships/image" Target="../media/image76.png"/><Relationship Id="rId1" Type="http://schemas.openxmlformats.org/officeDocument/2006/relationships/slideLayout" Target="../slideLayouts/slideLayout13.xml"/><Relationship Id="rId5" Type="http://schemas.openxmlformats.org/officeDocument/2006/relationships/image" Target="../media/image78.svg"/><Relationship Id="rId4" Type="http://schemas.openxmlformats.org/officeDocument/2006/relationships/image" Target="../media/image77.sv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79.svg"/><Relationship Id="rId2" Type="http://schemas.openxmlformats.org/officeDocument/2006/relationships/hyperlink" Target="mailto:luisalfonso.Hernandez@upm.es"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Shape 192"/>
          <p:cNvSpPr txBox="1">
            <a:spLocks noGrp="1"/>
          </p:cNvSpPr>
          <p:nvPr>
            <p:ph type="title"/>
          </p:nvPr>
        </p:nvSpPr>
        <p:spPr>
          <a:xfrm>
            <a:off x="518491" y="2441394"/>
            <a:ext cx="8229600" cy="1143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3200"/>
              <a:buFont typeface="Calibri"/>
              <a:buNone/>
            </a:pPr>
            <a:r>
              <a:rPr lang="en-US" sz="3200" b="1" noProof="0" dirty="0"/>
              <a:t>Predictive and Descriptive Learning</a:t>
            </a:r>
            <a:br>
              <a:rPr lang="en-US" sz="3200" b="1" noProof="0"/>
            </a:br>
            <a:r>
              <a:rPr lang="en-US" sz="3200" b="1" noProof="0"/>
              <a:t>Chapter 1</a:t>
            </a:r>
            <a:endParaRPr lang="en-US" sz="3200" b="1" noProof="0" dirty="0"/>
          </a:p>
        </p:txBody>
      </p:sp>
      <p:sp>
        <p:nvSpPr>
          <p:cNvPr id="193" name="Shape 193"/>
          <p:cNvSpPr/>
          <p:nvPr/>
        </p:nvSpPr>
        <p:spPr>
          <a:xfrm>
            <a:off x="400504" y="3959562"/>
            <a:ext cx="4572000" cy="1600438"/>
          </a:xfrm>
          <a:prstGeom prst="rect">
            <a:avLst/>
          </a:prstGeom>
          <a:noFill/>
          <a:ln>
            <a:noFill/>
          </a:ln>
        </p:spPr>
        <p:txBody>
          <a:bodyPr spcFirstLastPara="1" wrap="square" lIns="91425" tIns="45700" rIns="91425" bIns="45700" anchor="t" anchorCtr="0">
            <a:noAutofit/>
          </a:bodyPr>
          <a:lstStyle/>
          <a:p>
            <a:pPr marL="0" marR="0" lvl="0" indent="0" algn="ctr" rtl="0">
              <a:lnSpc>
                <a:spcPts val="1600"/>
              </a:lnSpc>
              <a:spcBef>
                <a:spcPts val="0"/>
              </a:spcBef>
              <a:spcAft>
                <a:spcPts val="0"/>
              </a:spcAft>
              <a:buClr>
                <a:srgbClr val="000000"/>
              </a:buClr>
              <a:buSzPts val="2000"/>
              <a:buFont typeface="Arial"/>
              <a:buNone/>
            </a:pPr>
            <a:r>
              <a:rPr lang="en-US" sz="1800" b="1" i="0" u="none" strike="noStrike" cap="none" noProof="0" dirty="0">
                <a:solidFill>
                  <a:schemeClr val="tx1"/>
                </a:solidFill>
                <a:latin typeface="Calibri"/>
                <a:ea typeface="Calibri"/>
                <a:cs typeface="Calibri"/>
                <a:sym typeface="Calibri"/>
              </a:rPr>
              <a:t>Eduardo López Gonzalo</a:t>
            </a:r>
          </a:p>
          <a:p>
            <a:pPr marL="0" marR="0" lvl="0" indent="0" algn="ctr" rtl="0">
              <a:lnSpc>
                <a:spcPts val="1600"/>
              </a:lnSpc>
              <a:spcBef>
                <a:spcPts val="0"/>
              </a:spcBef>
              <a:spcAft>
                <a:spcPts val="0"/>
              </a:spcAft>
              <a:buClr>
                <a:srgbClr val="000000"/>
              </a:buClr>
              <a:buSzPts val="2000"/>
              <a:buFont typeface="Arial"/>
              <a:buNone/>
            </a:pPr>
            <a:r>
              <a:rPr lang="en-US" sz="1800" b="1" noProof="0" dirty="0">
                <a:solidFill>
                  <a:srgbClr val="366092"/>
                </a:solidFill>
                <a:latin typeface="Calibri"/>
                <a:ea typeface="Calibri"/>
                <a:cs typeface="Calibri"/>
                <a:sym typeface="Calibri"/>
                <a:hlinkClick r:id="rId3"/>
              </a:rPr>
              <a:t>eduardo.lopez@upm.es</a:t>
            </a:r>
            <a:endParaRPr lang="en-US" sz="1800" b="1" noProof="0" dirty="0">
              <a:solidFill>
                <a:srgbClr val="366092"/>
              </a:solidFill>
              <a:latin typeface="Calibri"/>
              <a:ea typeface="Calibri"/>
              <a:cs typeface="Calibri"/>
              <a:sym typeface="Calibri"/>
            </a:endParaRPr>
          </a:p>
          <a:p>
            <a:pPr marL="0" marR="0" lvl="0" indent="0" algn="ctr" rtl="0">
              <a:lnSpc>
                <a:spcPts val="1600"/>
              </a:lnSpc>
              <a:spcBef>
                <a:spcPts val="0"/>
              </a:spcBef>
              <a:spcAft>
                <a:spcPts val="0"/>
              </a:spcAft>
              <a:buClr>
                <a:srgbClr val="000000"/>
              </a:buClr>
              <a:buSzPts val="2000"/>
              <a:buFont typeface="Arial"/>
              <a:buNone/>
            </a:pPr>
            <a:endParaRPr lang="en-US" sz="1200" b="1" noProof="0" dirty="0">
              <a:solidFill>
                <a:srgbClr val="366092"/>
              </a:solidFill>
              <a:latin typeface="Calibri"/>
              <a:ea typeface="Calibri"/>
              <a:cs typeface="Calibri"/>
              <a:sym typeface="Calibri"/>
            </a:endParaRPr>
          </a:p>
          <a:p>
            <a:pPr marL="0" marR="0" lvl="0" indent="0" algn="ctr" rtl="0">
              <a:lnSpc>
                <a:spcPts val="1600"/>
              </a:lnSpc>
              <a:spcBef>
                <a:spcPts val="0"/>
              </a:spcBef>
              <a:spcAft>
                <a:spcPts val="0"/>
              </a:spcAft>
              <a:buClr>
                <a:srgbClr val="000000"/>
              </a:buClr>
              <a:buSzPts val="2000"/>
              <a:buFont typeface="Arial"/>
              <a:buNone/>
            </a:pPr>
            <a:r>
              <a:rPr lang="en-US" sz="1800" b="1" i="0" u="none" strike="noStrike" cap="none" noProof="0" dirty="0">
                <a:solidFill>
                  <a:schemeClr val="tx1"/>
                </a:solidFill>
                <a:latin typeface="Calibri"/>
                <a:ea typeface="Calibri"/>
                <a:cs typeface="Calibri"/>
                <a:sym typeface="Calibri"/>
              </a:rPr>
              <a:t>Luis Hernández Gómez</a:t>
            </a:r>
          </a:p>
          <a:p>
            <a:pPr marL="0" marR="0" lvl="0" indent="0" algn="ctr" rtl="0">
              <a:lnSpc>
                <a:spcPts val="1600"/>
              </a:lnSpc>
              <a:spcBef>
                <a:spcPts val="0"/>
              </a:spcBef>
              <a:spcAft>
                <a:spcPts val="0"/>
              </a:spcAft>
              <a:buClr>
                <a:srgbClr val="000000"/>
              </a:buClr>
              <a:buSzPts val="2000"/>
              <a:buFont typeface="Arial"/>
              <a:buNone/>
            </a:pPr>
            <a:r>
              <a:rPr lang="en-US" sz="1800" b="1" noProof="0" dirty="0">
                <a:solidFill>
                  <a:srgbClr val="366092"/>
                </a:solidFill>
                <a:latin typeface="Calibri"/>
                <a:ea typeface="Calibri"/>
                <a:cs typeface="Calibri"/>
                <a:sym typeface="Calibri"/>
                <a:hlinkClick r:id="rId4"/>
              </a:rPr>
              <a:t>luisalfonso.hernandez@upm.es</a:t>
            </a:r>
            <a:r>
              <a:rPr lang="en-US" sz="2400" b="1" noProof="0" dirty="0">
                <a:solidFill>
                  <a:srgbClr val="366092"/>
                </a:solidFill>
                <a:latin typeface="Calibri"/>
                <a:ea typeface="Calibri"/>
                <a:cs typeface="Calibri"/>
                <a:sym typeface="Calibri"/>
              </a:rPr>
              <a:t> </a:t>
            </a:r>
            <a:br>
              <a:rPr lang="en-US" sz="1800" b="1" i="0" u="none" strike="noStrike" cap="none" noProof="0" dirty="0">
                <a:solidFill>
                  <a:srgbClr val="366092"/>
                </a:solidFill>
                <a:latin typeface="Calibri"/>
                <a:ea typeface="Calibri"/>
                <a:cs typeface="Calibri"/>
                <a:sym typeface="Calibri"/>
              </a:rPr>
            </a:br>
            <a:endParaRPr lang="en-US" sz="1800" b="0" i="0" u="none" strike="noStrike" cap="none" noProof="0" dirty="0">
              <a:solidFill>
                <a:schemeClr val="dk1"/>
              </a:solidFill>
              <a:latin typeface="Calibri"/>
              <a:ea typeface="Calibri"/>
              <a:cs typeface="Calibri"/>
              <a:sym typeface="Calibri"/>
            </a:endParaRPr>
          </a:p>
        </p:txBody>
      </p:sp>
      <p:pic>
        <p:nvPicPr>
          <p:cNvPr id="194" name="Shape 194"/>
          <p:cNvPicPr preferRelativeResize="0"/>
          <p:nvPr/>
        </p:nvPicPr>
        <p:blipFill rotWithShape="1">
          <a:blip r:embed="rId5">
            <a:alphaModFix/>
          </a:blip>
          <a:srcRect/>
          <a:stretch/>
        </p:blipFill>
        <p:spPr>
          <a:xfrm>
            <a:off x="1622582" y="357379"/>
            <a:ext cx="2197832" cy="835741"/>
          </a:xfrm>
          <a:prstGeom prst="rect">
            <a:avLst/>
          </a:prstGeom>
          <a:noFill/>
          <a:ln>
            <a:noFill/>
          </a:ln>
        </p:spPr>
      </p:pic>
      <p:pic>
        <p:nvPicPr>
          <p:cNvPr id="2" name="Imagen 1">
            <a:extLst>
              <a:ext uri="{FF2B5EF4-FFF2-40B4-BE49-F238E27FC236}">
                <a16:creationId xmlns:a16="http://schemas.microsoft.com/office/drawing/2014/main" id="{32914889-CD47-D4AD-F27D-0380801B9DE9}"/>
              </a:ext>
            </a:extLst>
          </p:cNvPr>
          <p:cNvPicPr>
            <a:picLocks noChangeAspect="1"/>
          </p:cNvPicPr>
          <p:nvPr/>
        </p:nvPicPr>
        <p:blipFill>
          <a:blip r:embed="rId6"/>
          <a:stretch>
            <a:fillRect/>
          </a:stretch>
        </p:blipFill>
        <p:spPr>
          <a:xfrm>
            <a:off x="4004026" y="388165"/>
            <a:ext cx="2197831" cy="907984"/>
          </a:xfrm>
          <a:prstGeom prst="rect">
            <a:avLst/>
          </a:prstGeom>
        </p:spPr>
      </p:pic>
      <p:sp>
        <p:nvSpPr>
          <p:cNvPr id="3" name="Shape 193">
            <a:extLst>
              <a:ext uri="{FF2B5EF4-FFF2-40B4-BE49-F238E27FC236}">
                <a16:creationId xmlns:a16="http://schemas.microsoft.com/office/drawing/2014/main" id="{90FB83BC-089B-4D2E-7471-DEC28284CC47}"/>
              </a:ext>
            </a:extLst>
          </p:cNvPr>
          <p:cNvSpPr/>
          <p:nvPr/>
        </p:nvSpPr>
        <p:spPr>
          <a:xfrm>
            <a:off x="4004026" y="3959562"/>
            <a:ext cx="4572000" cy="1600438"/>
          </a:xfrm>
          <a:prstGeom prst="rect">
            <a:avLst/>
          </a:prstGeom>
          <a:noFill/>
          <a:ln>
            <a:noFill/>
          </a:ln>
        </p:spPr>
        <p:txBody>
          <a:bodyPr spcFirstLastPara="1" wrap="square" lIns="91425" tIns="45700" rIns="91425" bIns="45700" anchor="t" anchorCtr="0">
            <a:noAutofit/>
          </a:bodyPr>
          <a:lstStyle/>
          <a:p>
            <a:pPr marL="0" marR="0" lvl="0" indent="0" algn="ctr" rtl="0">
              <a:lnSpc>
                <a:spcPts val="1600"/>
              </a:lnSpc>
              <a:spcBef>
                <a:spcPts val="0"/>
              </a:spcBef>
              <a:spcAft>
                <a:spcPts val="0"/>
              </a:spcAft>
              <a:buClr>
                <a:srgbClr val="000000"/>
              </a:buClr>
              <a:buSzPts val="2000"/>
              <a:buFont typeface="Arial"/>
              <a:buNone/>
            </a:pPr>
            <a:endParaRPr lang="en-US" sz="1200" b="1" noProof="0" dirty="0">
              <a:solidFill>
                <a:srgbClr val="366092"/>
              </a:solidFill>
              <a:latin typeface="Calibri"/>
              <a:ea typeface="Calibri"/>
              <a:cs typeface="Calibri"/>
              <a:sym typeface="Calibri"/>
            </a:endParaRPr>
          </a:p>
          <a:p>
            <a:pPr lvl="0" algn="ctr">
              <a:lnSpc>
                <a:spcPts val="1600"/>
              </a:lnSpc>
              <a:buSzPts val="2000"/>
            </a:pPr>
            <a:r>
              <a:rPr lang="en-US" sz="1800" b="1" noProof="0" dirty="0">
                <a:solidFill>
                  <a:schemeClr val="tx1"/>
                </a:solidFill>
                <a:latin typeface="Calibri"/>
                <a:ea typeface="Calibri"/>
                <a:cs typeface="Calibri"/>
                <a:sym typeface="Calibri"/>
              </a:rPr>
              <a:t>Alejandro Almodóvar </a:t>
            </a:r>
            <a:r>
              <a:rPr lang="en-US" sz="1800" b="1" noProof="0" dirty="0" err="1">
                <a:solidFill>
                  <a:schemeClr val="tx1"/>
                </a:solidFill>
                <a:latin typeface="Calibri"/>
                <a:ea typeface="Calibri"/>
                <a:cs typeface="Calibri"/>
                <a:sym typeface="Calibri"/>
              </a:rPr>
              <a:t>Espeso</a:t>
            </a:r>
            <a:r>
              <a:rPr lang="en-US" sz="1800" b="1" noProof="0" dirty="0">
                <a:solidFill>
                  <a:schemeClr val="tx1"/>
                </a:solidFill>
                <a:latin typeface="Calibri"/>
                <a:ea typeface="Calibri"/>
                <a:cs typeface="Calibri"/>
                <a:sym typeface="Calibri"/>
              </a:rPr>
              <a:t> </a:t>
            </a:r>
            <a:r>
              <a:rPr lang="en-US" sz="1800" b="1" noProof="0" dirty="0">
                <a:solidFill>
                  <a:schemeClr val="tx1"/>
                </a:solidFill>
                <a:latin typeface="Calibri"/>
                <a:ea typeface="Calibri"/>
                <a:cs typeface="Calibri"/>
                <a:sym typeface="Calibri"/>
                <a:hlinkClick r:id="rId7"/>
              </a:rPr>
              <a:t>alejandro.almdodovar@upm.es</a:t>
            </a:r>
            <a:r>
              <a:rPr lang="en-US" sz="1800" b="1" noProof="0" dirty="0">
                <a:solidFill>
                  <a:schemeClr val="tx1"/>
                </a:solidFill>
                <a:latin typeface="Calibri"/>
                <a:ea typeface="Calibri"/>
                <a:cs typeface="Calibri"/>
                <a:sym typeface="Calibri"/>
              </a:rPr>
              <a:t> </a:t>
            </a:r>
          </a:p>
          <a:p>
            <a:pPr marL="0" marR="0" lvl="0" indent="0" algn="ctr" rtl="0">
              <a:lnSpc>
                <a:spcPts val="1600"/>
              </a:lnSpc>
              <a:spcBef>
                <a:spcPts val="0"/>
              </a:spcBef>
              <a:spcAft>
                <a:spcPts val="0"/>
              </a:spcAft>
              <a:buClr>
                <a:srgbClr val="000000"/>
              </a:buClr>
              <a:buSzPts val="2000"/>
              <a:buFont typeface="Arial"/>
              <a:buNone/>
            </a:pPr>
            <a:r>
              <a:rPr lang="en-US" sz="1800" b="1" i="0" u="none" strike="noStrike" cap="none" noProof="0" dirty="0">
                <a:solidFill>
                  <a:srgbClr val="366092"/>
                </a:solidFill>
                <a:latin typeface="Calibri"/>
                <a:ea typeface="Calibri"/>
                <a:cs typeface="Calibri"/>
                <a:sym typeface="Calibri"/>
              </a:rPr>
              <a:t> </a:t>
            </a:r>
            <a:br>
              <a:rPr lang="en-US" sz="1800" b="1" i="0" u="none" strike="noStrike" cap="none" noProof="0" dirty="0">
                <a:solidFill>
                  <a:srgbClr val="366092"/>
                </a:solidFill>
                <a:latin typeface="Calibri"/>
                <a:ea typeface="Calibri"/>
                <a:cs typeface="Calibri"/>
                <a:sym typeface="Calibri"/>
              </a:rPr>
            </a:br>
            <a:endParaRPr lang="en-US" sz="1800" b="0" i="0" u="none" strike="noStrike" cap="none" noProof="0"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sz="3100" b="1" noProof="0" dirty="0"/>
              <a:t>Introduction to Machine Learning</a:t>
            </a:r>
            <a:endParaRPr lang="en-US" sz="2700" noProof="0" dirty="0"/>
          </a:p>
        </p:txBody>
      </p:sp>
      <p:sp>
        <p:nvSpPr>
          <p:cNvPr id="3" name="2 Marcador de contenido"/>
          <p:cNvSpPr>
            <a:spLocks noGrp="1"/>
          </p:cNvSpPr>
          <p:nvPr>
            <p:ph idx="1"/>
          </p:nvPr>
        </p:nvSpPr>
        <p:spPr/>
        <p:txBody>
          <a:bodyPr/>
          <a:lstStyle/>
          <a:p>
            <a:pPr marL="514350" indent="-514350">
              <a:buFont typeface="+mj-lt"/>
              <a:buAutoNum type="arabicPeriod"/>
            </a:pPr>
            <a:r>
              <a:rPr lang="en-US" noProof="0" dirty="0"/>
              <a:t>What and Why?</a:t>
            </a:r>
          </a:p>
          <a:p>
            <a:pPr marL="514350" indent="-514350">
              <a:buFont typeface="+mj-lt"/>
              <a:buAutoNum type="arabicPeriod"/>
            </a:pPr>
            <a:r>
              <a:rPr lang="en-US" noProof="0" dirty="0">
                <a:solidFill>
                  <a:schemeClr val="bg1">
                    <a:lumMod val="75000"/>
                  </a:schemeClr>
                </a:solidFill>
              </a:rPr>
              <a:t>Types of machine learning</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268760"/>
            <a:ext cx="2598751" cy="3057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Rectángulo"/>
          <p:cNvSpPr/>
          <p:nvPr/>
        </p:nvSpPr>
        <p:spPr>
          <a:xfrm>
            <a:off x="4139952" y="4797152"/>
            <a:ext cx="4572000" cy="646331"/>
          </a:xfrm>
          <a:prstGeom prst="rect">
            <a:avLst/>
          </a:prstGeom>
        </p:spPr>
        <p:txBody>
          <a:bodyPr>
            <a:spAutoFit/>
          </a:bodyPr>
          <a:lstStyle/>
          <a:p>
            <a:pPr lvl="0"/>
            <a:r>
              <a:rPr lang="en-US" noProof="0" dirty="0"/>
              <a:t>Murphy, Kevin P. </a:t>
            </a:r>
            <a:r>
              <a:rPr lang="en-US" i="1" noProof="0" dirty="0"/>
              <a:t>Machine learning: a probabilistic perspective</a:t>
            </a:r>
            <a:r>
              <a:rPr lang="en-US" noProof="0" dirty="0"/>
              <a:t>. MIT press, 2012.</a:t>
            </a:r>
          </a:p>
        </p:txBody>
      </p:sp>
    </p:spTree>
    <p:extLst>
      <p:ext uri="{BB962C8B-B14F-4D97-AF65-F5344CB8AC3E}">
        <p14:creationId xmlns:p14="http://schemas.microsoft.com/office/powerpoint/2010/main" val="2254676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r>
              <a:rPr lang="en-US" sz="3100" b="1" noProof="0" dirty="0"/>
              <a:t>What and Why?</a:t>
            </a:r>
            <a:endParaRPr lang="en-US" sz="2700" noProof="0" dirty="0"/>
          </a:p>
        </p:txBody>
      </p:sp>
      <mc:AlternateContent xmlns:mc="http://schemas.openxmlformats.org/markup-compatibility/2006" xmlns:a14="http://schemas.microsoft.com/office/drawing/2010/main">
        <mc:Choice Requires="a14">
          <p:sp>
            <p:nvSpPr>
              <p:cNvPr id="3" name="2 Marcador de contenido"/>
              <p:cNvSpPr>
                <a:spLocks noGrp="1"/>
              </p:cNvSpPr>
              <p:nvPr>
                <p:ph idx="1"/>
              </p:nvPr>
            </p:nvSpPr>
            <p:spPr>
              <a:xfrm>
                <a:off x="467544" y="1124744"/>
                <a:ext cx="8229600" cy="4525963"/>
              </a:xfrm>
            </p:spPr>
            <p:txBody>
              <a:bodyPr>
                <a:normAutofit/>
              </a:bodyPr>
              <a:lstStyle/>
              <a:p>
                <a:pPr marL="0" indent="0">
                  <a:buNone/>
                </a:pPr>
                <a:r>
                  <a:rPr lang="en-US" sz="2400" i="1" noProof="0" dirty="0"/>
                  <a:t>We are drowning in information but starved for knowledge</a:t>
                </a:r>
                <a:r>
                  <a:rPr lang="en-US" noProof="0" dirty="0"/>
                  <a:t>. </a:t>
                </a:r>
                <a14:m>
                  <m:oMath xmlns:m="http://schemas.openxmlformats.org/officeDocument/2006/math">
                    <m:r>
                      <a:rPr lang="en-US" sz="2400" i="1" noProof="0" smtClean="0">
                        <a:latin typeface="Cambria Math"/>
                      </a:rPr>
                      <m:t>−</m:t>
                    </m:r>
                  </m:oMath>
                </a14:m>
                <a:r>
                  <a:rPr lang="en-US" sz="2400" noProof="0" dirty="0"/>
                  <a:t>John Naisbitt</a:t>
                </a:r>
              </a:p>
              <a:p>
                <a:pPr marL="0" indent="0">
                  <a:buNone/>
                </a:pPr>
                <a:endParaRPr lang="en-US" sz="2000" noProof="0" dirty="0"/>
              </a:p>
              <a:p>
                <a:pPr marL="0" indent="0">
                  <a:buNone/>
                </a:pPr>
                <a:r>
                  <a:rPr lang="en-US" sz="2400" b="1" noProof="0" dirty="0">
                    <a:solidFill>
                      <a:srgbClr val="0070C0"/>
                    </a:solidFill>
                  </a:rPr>
                  <a:t>Machine Learning</a:t>
                </a:r>
                <a:r>
                  <a:rPr lang="en-US" sz="2400" noProof="0" dirty="0"/>
                  <a:t>: automatic methods of data analysis</a:t>
                </a:r>
              </a:p>
              <a:p>
                <a:pPr marL="0" indent="0">
                  <a:buNone/>
                </a:pPr>
                <a:endParaRPr lang="en-US" sz="2400" noProof="0" dirty="0"/>
              </a:p>
              <a:p>
                <a:r>
                  <a:rPr lang="en-US" sz="2400" noProof="0" dirty="0"/>
                  <a:t>A probabilistic view can be suited to uncertainty in machine learning problems:</a:t>
                </a:r>
              </a:p>
              <a:p>
                <a:pPr lvl="1"/>
                <a:r>
                  <a:rPr lang="en-US" sz="2000" noProof="0" dirty="0"/>
                  <a:t>What is the best prediction about the future given some past data?</a:t>
                </a:r>
              </a:p>
              <a:p>
                <a:pPr lvl="1"/>
                <a:r>
                  <a:rPr lang="en-US" sz="2000" noProof="0" dirty="0"/>
                  <a:t>What is the best model to explain some data?</a:t>
                </a:r>
              </a:p>
              <a:p>
                <a:pPr lvl="1"/>
                <a:r>
                  <a:rPr lang="en-US" sz="2000" noProof="0" dirty="0"/>
                  <a:t>What action should be performed next?</a:t>
                </a:r>
              </a:p>
              <a:p>
                <a:pPr marL="457200" lvl="1" indent="0">
                  <a:buNone/>
                </a:pPr>
                <a:endParaRPr lang="en-US" sz="2000" noProof="0" dirty="0"/>
              </a:p>
              <a:p>
                <a:pPr marL="57150" indent="0">
                  <a:buNone/>
                </a:pPr>
                <a:endParaRPr lang="en-US" sz="2400" noProof="0" dirty="0"/>
              </a:p>
            </p:txBody>
          </p:sp>
        </mc:Choice>
        <mc:Fallback xmlns="">
          <p:sp>
            <p:nvSpPr>
              <p:cNvPr id="3" name="2 Marcador de contenido"/>
              <p:cNvSpPr>
                <a:spLocks noGrp="1" noRot="1" noChangeAspect="1" noMove="1" noResize="1" noEditPoints="1" noAdjustHandles="1" noChangeArrowheads="1" noChangeShapeType="1" noTextEdit="1"/>
              </p:cNvSpPr>
              <p:nvPr>
                <p:ph idx="1"/>
              </p:nvPr>
            </p:nvSpPr>
            <p:spPr>
              <a:xfrm>
                <a:off x="467544" y="1124744"/>
                <a:ext cx="8229600" cy="4525963"/>
              </a:xfrm>
              <a:blipFill>
                <a:blip r:embed="rId2"/>
                <a:stretch>
                  <a:fillRect l="-1185" t="-1348"/>
                </a:stretch>
              </a:blipFill>
            </p:spPr>
            <p:txBody>
              <a:bodyPr/>
              <a:lstStyle/>
              <a:p>
                <a:r>
                  <a:rPr lang="en-US">
                    <a:noFill/>
                  </a:rPr>
                  <a:t> </a:t>
                </a:r>
              </a:p>
            </p:txBody>
          </p:sp>
        </mc:Fallback>
      </mc:AlternateContent>
    </p:spTree>
    <p:extLst>
      <p:ext uri="{BB962C8B-B14F-4D97-AF65-F5344CB8AC3E}">
        <p14:creationId xmlns:p14="http://schemas.microsoft.com/office/powerpoint/2010/main" val="774510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r>
              <a:rPr lang="en-US" sz="3100" b="1" noProof="0" dirty="0"/>
              <a:t>What and Why?</a:t>
            </a:r>
            <a:endParaRPr lang="en-US" sz="2700" noProof="0" dirty="0"/>
          </a:p>
        </p:txBody>
      </p:sp>
      <p:sp>
        <p:nvSpPr>
          <p:cNvPr id="3" name="2 Marcador de contenido"/>
          <p:cNvSpPr>
            <a:spLocks noGrp="1"/>
          </p:cNvSpPr>
          <p:nvPr>
            <p:ph idx="1"/>
          </p:nvPr>
        </p:nvSpPr>
        <p:spPr>
          <a:xfrm>
            <a:off x="467544" y="1268760"/>
            <a:ext cx="8229600" cy="4525963"/>
          </a:xfrm>
        </p:spPr>
        <p:txBody>
          <a:bodyPr>
            <a:normAutofit fontScale="92500" lnSpcReduction="10000"/>
          </a:bodyPr>
          <a:lstStyle/>
          <a:p>
            <a:pPr marL="514350" indent="-457200">
              <a:spcAft>
                <a:spcPts val="1200"/>
              </a:spcAft>
            </a:pPr>
            <a:r>
              <a:rPr lang="en-US" sz="2400" noProof="0" dirty="0"/>
              <a:t>Thus we will study the most used and widely applicable machine techniques from a probabilistic view.</a:t>
            </a:r>
          </a:p>
          <a:p>
            <a:pPr marL="514350" indent="-457200">
              <a:spcAft>
                <a:spcPts val="1200"/>
              </a:spcAft>
            </a:pPr>
            <a:r>
              <a:rPr lang="en-US" sz="2400" noProof="0" dirty="0"/>
              <a:t>This is fundamental ingredient in the training of a modern </a:t>
            </a:r>
            <a:r>
              <a:rPr lang="en-US" sz="2400" b="1" i="1" noProof="0" dirty="0">
                <a:solidFill>
                  <a:srgbClr val="00B050"/>
                </a:solidFill>
              </a:rPr>
              <a:t>data scientist </a:t>
            </a:r>
            <a:r>
              <a:rPr lang="en-US" sz="2400" noProof="0" dirty="0"/>
              <a:t>providing a solid base for its use on a wide range of applications in science and industry.</a:t>
            </a:r>
          </a:p>
          <a:p>
            <a:pPr marL="514350" indent="-457200">
              <a:spcAft>
                <a:spcPts val="1200"/>
              </a:spcAft>
            </a:pPr>
            <a:r>
              <a:rPr lang="en-US" sz="2400" noProof="0" dirty="0"/>
              <a:t>The course will start presenting simple machine learning techniques in order to grasp the more sophisticated ones.</a:t>
            </a:r>
          </a:p>
          <a:p>
            <a:pPr marL="514350" indent="-457200">
              <a:spcAft>
                <a:spcPts val="1200"/>
              </a:spcAft>
            </a:pPr>
            <a:r>
              <a:rPr lang="en-US" sz="2400" noProof="0" dirty="0"/>
              <a:t>Through examples and use cases we will see how important is to accurately assess the performance of a method.</a:t>
            </a:r>
          </a:p>
          <a:p>
            <a:pPr marL="514350" indent="-457200">
              <a:spcAft>
                <a:spcPts val="1200"/>
              </a:spcAft>
            </a:pPr>
            <a:r>
              <a:rPr lang="en-US" sz="2400" noProof="0" dirty="0"/>
              <a:t>You will also acquire solid criteria on what could be best model for a given data and task.</a:t>
            </a:r>
          </a:p>
          <a:p>
            <a:pPr marL="57150" indent="0">
              <a:buNone/>
            </a:pPr>
            <a:endParaRPr lang="en-US" sz="2400" noProof="0" dirty="0"/>
          </a:p>
        </p:txBody>
      </p:sp>
    </p:spTree>
    <p:extLst>
      <p:ext uri="{BB962C8B-B14F-4D97-AF65-F5344CB8AC3E}">
        <p14:creationId xmlns:p14="http://schemas.microsoft.com/office/powerpoint/2010/main" val="2887038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n-US" sz="3100" b="1" noProof="0" dirty="0"/>
              <a:t>Introduction to Machine Learning</a:t>
            </a:r>
            <a:endParaRPr lang="en-US" sz="2700" noProof="0" dirty="0"/>
          </a:p>
        </p:txBody>
      </p:sp>
      <p:sp>
        <p:nvSpPr>
          <p:cNvPr id="3" name="2 Marcador de contenido"/>
          <p:cNvSpPr>
            <a:spLocks noGrp="1"/>
          </p:cNvSpPr>
          <p:nvPr>
            <p:ph idx="1"/>
          </p:nvPr>
        </p:nvSpPr>
        <p:spPr/>
        <p:txBody>
          <a:bodyPr/>
          <a:lstStyle/>
          <a:p>
            <a:pPr marL="514350" indent="-514350">
              <a:buFont typeface="+mj-lt"/>
              <a:buAutoNum type="arabicPeriod"/>
            </a:pPr>
            <a:r>
              <a:rPr lang="en-US" noProof="0" dirty="0">
                <a:solidFill>
                  <a:schemeClr val="bg1">
                    <a:lumMod val="75000"/>
                  </a:schemeClr>
                </a:solidFill>
              </a:rPr>
              <a:t>What and Why?</a:t>
            </a:r>
          </a:p>
          <a:p>
            <a:pPr marL="514350" indent="-514350">
              <a:buFont typeface="+mj-lt"/>
              <a:buAutoNum type="arabicPeriod"/>
            </a:pPr>
            <a:r>
              <a:rPr lang="en-US" noProof="0" dirty="0"/>
              <a:t>Types of machine learning</a:t>
            </a:r>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1268760"/>
            <a:ext cx="2598751" cy="3057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Rectángulo"/>
          <p:cNvSpPr/>
          <p:nvPr/>
        </p:nvSpPr>
        <p:spPr>
          <a:xfrm>
            <a:off x="4139952" y="4797152"/>
            <a:ext cx="4572000" cy="646331"/>
          </a:xfrm>
          <a:prstGeom prst="rect">
            <a:avLst/>
          </a:prstGeom>
        </p:spPr>
        <p:txBody>
          <a:bodyPr>
            <a:spAutoFit/>
          </a:bodyPr>
          <a:lstStyle/>
          <a:p>
            <a:pPr lvl="0"/>
            <a:r>
              <a:rPr lang="en-US" noProof="0" dirty="0"/>
              <a:t>Murphy, Kevin P. </a:t>
            </a:r>
            <a:r>
              <a:rPr lang="en-US" i="1" noProof="0" dirty="0"/>
              <a:t>Machine learning: a probabilistic perspective</a:t>
            </a:r>
            <a:r>
              <a:rPr lang="en-US" noProof="0" dirty="0"/>
              <a:t>. MIT press, 2012.</a:t>
            </a:r>
          </a:p>
        </p:txBody>
      </p:sp>
    </p:spTree>
    <p:extLst>
      <p:ext uri="{BB962C8B-B14F-4D97-AF65-F5344CB8AC3E}">
        <p14:creationId xmlns:p14="http://schemas.microsoft.com/office/powerpoint/2010/main" val="76825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r>
              <a:rPr lang="en-US" sz="2400" noProof="0" dirty="0"/>
              <a:t>Types of machine learning</a:t>
            </a:r>
            <a:endParaRPr lang="en-US" sz="2700" noProof="0" dirty="0"/>
          </a:p>
        </p:txBody>
      </p:sp>
      <mc:AlternateContent xmlns:mc="http://schemas.openxmlformats.org/markup-compatibility/2006" xmlns:a14="http://schemas.microsoft.com/office/drawing/2010/main">
        <mc:Choice Requires="a14">
          <p:sp>
            <p:nvSpPr>
              <p:cNvPr id="4" name="Content Placeholder 2"/>
              <p:cNvSpPr txBox="1">
                <a:spLocks/>
              </p:cNvSpPr>
              <p:nvPr/>
            </p:nvSpPr>
            <p:spPr>
              <a:xfrm>
                <a:off x="659081" y="1052736"/>
                <a:ext cx="7772400" cy="525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noProof="0" dirty="0"/>
                  <a:t>Initially consider to learn from data labeled as a set of </a:t>
                </a:r>
                <a14:m>
                  <m:oMath xmlns:m="http://schemas.openxmlformats.org/officeDocument/2006/math">
                    <m:r>
                      <a:rPr lang="en-US" sz="2400" b="0" i="1" noProof="0" smtClean="0">
                        <a:latin typeface="Cambria Math" panose="02040503050406030204" pitchFamily="18" charset="0"/>
                      </a:rPr>
                      <m:t>𝑛</m:t>
                    </m:r>
                  </m:oMath>
                </a14:m>
                <a:r>
                  <a:rPr lang="en-US" sz="2400" noProof="0" dirty="0"/>
                  <a:t> input-output pairs </a:t>
                </a:r>
                <a14:m>
                  <m:oMath xmlns:m="http://schemas.openxmlformats.org/officeDocument/2006/math">
                    <m:r>
                      <a:rPr lang="en-US" sz="2400" b="0" i="1" noProof="0" smtClean="0">
                        <a:latin typeface="Cambria Math"/>
                      </a:rPr>
                      <m:t>𝑃</m:t>
                    </m:r>
                    <m:r>
                      <a:rPr lang="en-US" sz="2400" b="0" i="1" noProof="0" smtClean="0">
                        <a:latin typeface="Cambria Math"/>
                      </a:rPr>
                      <m:t>=</m:t>
                    </m:r>
                    <m:sSubSup>
                      <m:sSubSupPr>
                        <m:ctrlPr>
                          <a:rPr lang="en-US" sz="2400" i="1" noProof="0" smtClean="0">
                            <a:latin typeface="Cambria Math" panose="02040503050406030204" pitchFamily="18" charset="0"/>
                          </a:rPr>
                        </m:ctrlPr>
                      </m:sSubSupPr>
                      <m:e>
                        <m:d>
                          <m:dPr>
                            <m:begChr m:val="{"/>
                            <m:endChr m:val="}"/>
                            <m:ctrlPr>
                              <a:rPr lang="en-US" sz="2400" b="1" i="1" noProof="0" smtClean="0">
                                <a:latin typeface="Cambria Math" panose="02040503050406030204" pitchFamily="18" charset="0"/>
                              </a:rPr>
                            </m:ctrlPr>
                          </m:dPr>
                          <m:e>
                            <m:d>
                              <m:dPr>
                                <m:ctrlPr>
                                  <a:rPr lang="en-US" sz="2400" b="1" i="1" noProof="0" smtClean="0">
                                    <a:latin typeface="Cambria Math" panose="02040503050406030204" pitchFamily="18" charset="0"/>
                                  </a:rPr>
                                </m:ctrlPr>
                              </m:dPr>
                              <m:e>
                                <m:sSub>
                                  <m:sSubPr>
                                    <m:ctrlPr>
                                      <a:rPr lang="en-US" sz="2400" b="1" i="0" noProof="0" smtClean="0">
                                        <a:latin typeface="Cambria Math"/>
                                      </a:rPr>
                                    </m:ctrlPr>
                                  </m:sSubPr>
                                  <m:e>
                                    <m:r>
                                      <m:rPr>
                                        <m:nor/>
                                      </m:rPr>
                                      <a:rPr lang="en-US" sz="2400" b="1" i="0" noProof="0" smtClean="0">
                                        <a:latin typeface="Cambria Math"/>
                                      </a:rPr>
                                      <m:t>x</m:t>
                                    </m:r>
                                  </m:e>
                                  <m:sub>
                                    <m:r>
                                      <a:rPr lang="en-US" sz="2400" i="1" noProof="0" smtClean="0">
                                        <a:latin typeface="Cambria Math"/>
                                      </a:rPr>
                                      <m:t>𝑖</m:t>
                                    </m:r>
                                  </m:sub>
                                </m:sSub>
                                <m:r>
                                  <a:rPr lang="en-US" sz="2400" i="1" noProof="0" smtClean="0">
                                    <a:latin typeface="Cambria Math"/>
                                  </a:rPr>
                                  <m:t>,</m:t>
                                </m:r>
                                <m:sSub>
                                  <m:sSubPr>
                                    <m:ctrlPr>
                                      <a:rPr lang="en-US" sz="2400" i="1" noProof="0" smtClean="0">
                                        <a:latin typeface="Cambria Math"/>
                                      </a:rPr>
                                    </m:ctrlPr>
                                  </m:sSubPr>
                                  <m:e>
                                    <m:r>
                                      <a:rPr lang="en-US" sz="2400" i="1" noProof="0" smtClean="0">
                                        <a:latin typeface="Cambria Math"/>
                                      </a:rPr>
                                      <m:t>𝑦</m:t>
                                    </m:r>
                                  </m:e>
                                  <m:sub>
                                    <m:r>
                                      <a:rPr lang="en-US" sz="2400" i="1" noProof="0" smtClean="0">
                                        <a:latin typeface="Cambria Math"/>
                                      </a:rPr>
                                      <m:t>𝑖</m:t>
                                    </m:r>
                                  </m:sub>
                                </m:sSub>
                              </m:e>
                            </m:d>
                          </m:e>
                        </m:d>
                      </m:e>
                      <m:sub>
                        <m:r>
                          <a:rPr lang="en-US" sz="2400" b="0" i="1" noProof="0" smtClean="0">
                            <a:latin typeface="Cambria Math"/>
                          </a:rPr>
                          <m:t>𝑖</m:t>
                        </m:r>
                        <m:r>
                          <a:rPr lang="en-US" sz="2400" b="0" i="1" noProof="0" smtClean="0">
                            <a:latin typeface="Cambria Math"/>
                          </a:rPr>
                          <m:t>=1</m:t>
                        </m:r>
                      </m:sub>
                      <m:sup>
                        <m:r>
                          <a:rPr lang="en-US" sz="2400" b="0" i="1" noProof="0" smtClean="0">
                            <a:latin typeface="Cambria Math" panose="02040503050406030204" pitchFamily="18" charset="0"/>
                          </a:rPr>
                          <m:t>𝑛</m:t>
                        </m:r>
                      </m:sup>
                    </m:sSubSup>
                  </m:oMath>
                </a14:m>
                <a:endParaRPr lang="en-US" sz="2400" b="0" noProof="0" dirty="0"/>
              </a:p>
              <a:p>
                <a:pPr marL="0" indent="0">
                  <a:buNone/>
                </a:pPr>
                <a:endParaRPr lang="en-US" sz="2400" noProof="0" dirty="0"/>
              </a:p>
              <a:p>
                <a:pPr marL="400050" lvl="1" indent="0">
                  <a:buNone/>
                </a:pPr>
                <a:r>
                  <a:rPr lang="en-US" sz="2000" noProof="0" dirty="0"/>
                  <a:t>where:</a:t>
                </a:r>
              </a:p>
              <a:p>
                <a:pPr lvl="1" indent="-342900" algn="just"/>
                <a:r>
                  <a:rPr lang="en-US" sz="2000" noProof="0" dirty="0"/>
                  <a:t> </a:t>
                </a:r>
                <a14:m>
                  <m:oMath xmlns:m="http://schemas.openxmlformats.org/officeDocument/2006/math">
                    <m:sSub>
                      <m:sSubPr>
                        <m:ctrlPr>
                          <a:rPr lang="en-US" sz="2000" b="1" i="0" noProof="0" smtClean="0">
                            <a:latin typeface="Cambria Math"/>
                          </a:rPr>
                        </m:ctrlPr>
                      </m:sSubPr>
                      <m:e>
                        <m:r>
                          <m:rPr>
                            <m:nor/>
                          </m:rPr>
                          <a:rPr lang="en-US" sz="2000" b="1" i="0" noProof="0" smtClean="0">
                            <a:latin typeface="Cambria Math"/>
                          </a:rPr>
                          <m:t>x</m:t>
                        </m:r>
                      </m:e>
                      <m:sub>
                        <m:r>
                          <a:rPr lang="en-US" sz="2000" i="1" noProof="0" smtClean="0">
                            <a:latin typeface="Cambria Math"/>
                          </a:rPr>
                          <m:t>𝑖</m:t>
                        </m:r>
                      </m:sub>
                    </m:sSub>
                  </m:oMath>
                </a14:m>
                <a:r>
                  <a:rPr lang="en-US" sz="2000" noProof="0" dirty="0"/>
                  <a:t> is a </a:t>
                </a:r>
                <a14:m>
                  <m:oMath xmlns:m="http://schemas.openxmlformats.org/officeDocument/2006/math">
                    <m:r>
                      <a:rPr lang="en-US" sz="2000" b="0" i="1" noProof="0" smtClean="0">
                        <a:latin typeface="Cambria Math" panose="02040503050406030204" pitchFamily="18" charset="0"/>
                      </a:rPr>
                      <m:t>𝑝</m:t>
                    </m:r>
                  </m:oMath>
                </a14:m>
                <a:r>
                  <a:rPr lang="en-US" sz="2000" noProof="0" dirty="0"/>
                  <a:t>-dimensional vector of numbers called </a:t>
                </a:r>
                <a:r>
                  <a:rPr lang="en-US" sz="2000" b="1" i="1" noProof="0" dirty="0">
                    <a:solidFill>
                      <a:srgbClr val="00B050"/>
                    </a:solidFill>
                  </a:rPr>
                  <a:t>features</a:t>
                </a:r>
                <a:r>
                  <a:rPr lang="en-US" sz="2000" noProof="0" dirty="0"/>
                  <a:t>, </a:t>
                </a:r>
                <a:r>
                  <a:rPr lang="en-US" sz="2000" b="1" i="1" noProof="0" dirty="0">
                    <a:solidFill>
                      <a:srgbClr val="00B050"/>
                    </a:solidFill>
                  </a:rPr>
                  <a:t>attributes</a:t>
                </a:r>
                <a:r>
                  <a:rPr lang="en-US" sz="2000" noProof="0" dirty="0"/>
                  <a:t> or </a:t>
                </a:r>
                <a:r>
                  <a:rPr lang="en-US" sz="2000" b="1" i="1" noProof="0" dirty="0">
                    <a:solidFill>
                      <a:srgbClr val="00B050"/>
                    </a:solidFill>
                  </a:rPr>
                  <a:t>covariates</a:t>
                </a:r>
                <a:r>
                  <a:rPr lang="en-US" sz="2000" noProof="0" dirty="0"/>
                  <a:t>; (</a:t>
                </a:r>
                <a14:m>
                  <m:oMath xmlns:m="http://schemas.openxmlformats.org/officeDocument/2006/math">
                    <m:sSub>
                      <m:sSubPr>
                        <m:ctrlPr>
                          <a:rPr lang="en-US" sz="2000" b="1" i="0" noProof="0" smtClean="0">
                            <a:latin typeface="Cambria Math"/>
                          </a:rPr>
                        </m:ctrlPr>
                      </m:sSubPr>
                      <m:e>
                        <m:r>
                          <m:rPr>
                            <m:nor/>
                          </m:rPr>
                          <a:rPr lang="en-US" sz="2000" b="1" i="0" noProof="0" smtClean="0">
                            <a:latin typeface="Cambria Math"/>
                          </a:rPr>
                          <m:t>x</m:t>
                        </m:r>
                      </m:e>
                      <m:sub>
                        <m:r>
                          <a:rPr lang="en-US" sz="2000" i="1" noProof="0" smtClean="0">
                            <a:latin typeface="Cambria Math"/>
                          </a:rPr>
                          <m:t>𝑖</m:t>
                        </m:r>
                      </m:sub>
                    </m:sSub>
                  </m:oMath>
                </a14:m>
                <a:r>
                  <a:rPr lang="en-US" sz="2000" noProof="0" dirty="0"/>
                  <a:t> could be a complex structured object: an image, sentence, email, a molecular shape, a graph, etc.)</a:t>
                </a:r>
              </a:p>
              <a:p>
                <a:pPr lvl="1" indent="-342900"/>
                <a:endParaRPr lang="en-US" sz="2000" noProof="0" dirty="0"/>
              </a:p>
              <a:p>
                <a:pPr lvl="1" indent="-342900" algn="just"/>
                <a:r>
                  <a:rPr lang="en-US" sz="2000" noProof="0" dirty="0"/>
                  <a:t>and the output </a:t>
                </a:r>
                <a14:m>
                  <m:oMath xmlns:m="http://schemas.openxmlformats.org/officeDocument/2006/math">
                    <m:sSub>
                      <m:sSubPr>
                        <m:ctrlPr>
                          <a:rPr lang="en-US" sz="2000" i="1" noProof="0" smtClean="0">
                            <a:latin typeface="Cambria Math"/>
                          </a:rPr>
                        </m:ctrlPr>
                      </m:sSubPr>
                      <m:e>
                        <m:r>
                          <a:rPr lang="en-US" sz="2000" i="1" noProof="0" smtClean="0">
                            <a:latin typeface="Cambria Math"/>
                          </a:rPr>
                          <m:t>𝑦</m:t>
                        </m:r>
                      </m:e>
                      <m:sub>
                        <m:r>
                          <a:rPr lang="en-US" sz="2000" i="1" noProof="0" smtClean="0">
                            <a:latin typeface="Cambria Math"/>
                          </a:rPr>
                          <m:t>𝑖</m:t>
                        </m:r>
                      </m:sub>
                    </m:sSub>
                  </m:oMath>
                </a14:m>
                <a:r>
                  <a:rPr lang="en-US" sz="2000" noProof="0" dirty="0"/>
                  <a:t> or </a:t>
                </a:r>
                <a:r>
                  <a:rPr lang="en-US" sz="2000" b="1" i="1" noProof="0" dirty="0">
                    <a:solidFill>
                      <a:srgbClr val="00B050"/>
                    </a:solidFill>
                  </a:rPr>
                  <a:t>response variable</a:t>
                </a:r>
                <a:r>
                  <a:rPr lang="en-US" sz="2000" noProof="0" dirty="0"/>
                  <a:t>,  can in principle be anything but most methods assume that </a:t>
                </a:r>
                <a14:m>
                  <m:oMath xmlns:m="http://schemas.openxmlformats.org/officeDocument/2006/math">
                    <m:sSub>
                      <m:sSubPr>
                        <m:ctrlPr>
                          <a:rPr lang="en-US" sz="2000" i="1" noProof="0" smtClean="0">
                            <a:latin typeface="Cambria Math"/>
                          </a:rPr>
                        </m:ctrlPr>
                      </m:sSubPr>
                      <m:e>
                        <m:r>
                          <a:rPr lang="en-US" sz="2000" i="1" noProof="0" smtClean="0">
                            <a:latin typeface="Cambria Math"/>
                          </a:rPr>
                          <m:t>𝑦</m:t>
                        </m:r>
                      </m:e>
                      <m:sub>
                        <m:r>
                          <a:rPr lang="en-US" sz="2000" i="1" noProof="0" smtClean="0">
                            <a:latin typeface="Cambria Math"/>
                          </a:rPr>
                          <m:t>𝑖</m:t>
                        </m:r>
                      </m:sub>
                    </m:sSub>
                  </m:oMath>
                </a14:m>
                <a:r>
                  <a:rPr lang="en-US" sz="2000" noProof="0" dirty="0"/>
                  <a:t> is a </a:t>
                </a:r>
                <a:r>
                  <a:rPr lang="en-US" sz="2000" b="1" i="1" noProof="0" dirty="0">
                    <a:solidFill>
                      <a:srgbClr val="00B050"/>
                    </a:solidFill>
                  </a:rPr>
                  <a:t>categorical</a:t>
                </a:r>
                <a:r>
                  <a:rPr lang="en-US" sz="2000" i="1" noProof="0" dirty="0"/>
                  <a:t> </a:t>
                </a:r>
                <a:r>
                  <a:rPr lang="en-US" sz="2000" noProof="0" dirty="0"/>
                  <a:t>or </a:t>
                </a:r>
                <a:r>
                  <a:rPr lang="en-US" sz="2000" b="1" i="1" noProof="0" dirty="0">
                    <a:solidFill>
                      <a:srgbClr val="00B050"/>
                    </a:solidFill>
                  </a:rPr>
                  <a:t>nominal</a:t>
                </a:r>
                <a:r>
                  <a:rPr lang="en-US" sz="2000" noProof="0" dirty="0"/>
                  <a:t> </a:t>
                </a:r>
                <a:r>
                  <a:rPr lang="en-US" sz="2000" b="1" i="1" noProof="0" dirty="0">
                    <a:solidFill>
                      <a:srgbClr val="00B050"/>
                    </a:solidFill>
                  </a:rPr>
                  <a:t>variable</a:t>
                </a:r>
                <a:r>
                  <a:rPr lang="en-US" sz="2000" noProof="0" dirty="0"/>
                  <a:t> from some finite set, or that </a:t>
                </a:r>
                <a14:m>
                  <m:oMath xmlns:m="http://schemas.openxmlformats.org/officeDocument/2006/math">
                    <m:sSub>
                      <m:sSubPr>
                        <m:ctrlPr>
                          <a:rPr lang="en-US" sz="2000" i="1" noProof="0" smtClean="0">
                            <a:latin typeface="Cambria Math"/>
                          </a:rPr>
                        </m:ctrlPr>
                      </m:sSubPr>
                      <m:e>
                        <m:r>
                          <a:rPr lang="en-US" sz="2000" i="1" noProof="0" smtClean="0">
                            <a:latin typeface="Cambria Math"/>
                          </a:rPr>
                          <m:t>𝑦</m:t>
                        </m:r>
                      </m:e>
                      <m:sub>
                        <m:r>
                          <a:rPr lang="en-US" sz="2000" i="1" noProof="0" smtClean="0">
                            <a:latin typeface="Cambria Math"/>
                          </a:rPr>
                          <m:t>𝑖</m:t>
                        </m:r>
                      </m:sub>
                    </m:sSub>
                  </m:oMath>
                </a14:m>
                <a:r>
                  <a:rPr lang="en-US" sz="2000" noProof="0" dirty="0"/>
                  <a:t> is a </a:t>
                </a:r>
                <a:r>
                  <a:rPr lang="en-US" sz="2000" b="1" i="1" noProof="0" dirty="0">
                    <a:solidFill>
                      <a:srgbClr val="00B050"/>
                    </a:solidFill>
                  </a:rPr>
                  <a:t>real-valued scalar</a:t>
                </a:r>
                <a:r>
                  <a:rPr lang="en-US" sz="2000" noProof="0" dirty="0"/>
                  <a:t>.</a:t>
                </a:r>
              </a:p>
              <a:p>
                <a:pPr marL="0" indent="0">
                  <a:buNone/>
                </a:pPr>
                <a:endParaRPr lang="en-US" sz="2400" noProof="0" dirty="0"/>
              </a:p>
              <a:p>
                <a:pPr marL="0" indent="0">
                  <a:buNone/>
                </a:pPr>
                <a:endParaRPr lang="en-US" sz="2400" noProof="0" dirty="0"/>
              </a:p>
            </p:txBody>
          </p:sp>
        </mc:Choice>
        <mc:Fallback xmlns="">
          <p:sp>
            <p:nvSpPr>
              <p:cNvPr id="4" name="Content Placeholder 2"/>
              <p:cNvSpPr txBox="1">
                <a:spLocks noRot="1" noChangeAspect="1" noMove="1" noResize="1" noEditPoints="1" noAdjustHandles="1" noChangeArrowheads="1" noChangeShapeType="1" noTextEdit="1"/>
              </p:cNvSpPr>
              <p:nvPr/>
            </p:nvSpPr>
            <p:spPr>
              <a:xfrm>
                <a:off x="659081" y="1052736"/>
                <a:ext cx="7772400" cy="5257800"/>
              </a:xfrm>
              <a:prstGeom prst="rect">
                <a:avLst/>
              </a:prstGeom>
              <a:blipFill>
                <a:blip r:embed="rId2"/>
                <a:stretch>
                  <a:fillRect l="-1020" t="-928" r="-863"/>
                </a:stretch>
              </a:blipFill>
            </p:spPr>
            <p:txBody>
              <a:bodyPr/>
              <a:lstStyle/>
              <a:p>
                <a:r>
                  <a:rPr lang="en-US">
                    <a:noFill/>
                  </a:rPr>
                  <a:t> </a:t>
                </a:r>
              </a:p>
            </p:txBody>
          </p:sp>
        </mc:Fallback>
      </mc:AlternateContent>
    </p:spTree>
    <p:extLst>
      <p:ext uri="{BB962C8B-B14F-4D97-AF65-F5344CB8AC3E}">
        <p14:creationId xmlns:p14="http://schemas.microsoft.com/office/powerpoint/2010/main" val="1069256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r>
              <a:rPr lang="en-US" sz="2400" noProof="0" dirty="0"/>
              <a:t>Types of machine learning</a:t>
            </a:r>
            <a:endParaRPr lang="en-US" sz="2700" noProof="0"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685800" y="1052736"/>
                <a:ext cx="7772400" cy="525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noProof="0" dirty="0">
                    <a:solidFill>
                      <a:srgbClr val="0070C0"/>
                    </a:solidFill>
                  </a:rPr>
                  <a:t>Supervised/predictive learning</a:t>
                </a:r>
              </a:p>
              <a:p>
                <a:pPr lvl="1"/>
                <a:r>
                  <a:rPr lang="en-US" sz="1800" noProof="0" dirty="0"/>
                  <a:t>Training data includes desired outputs </a:t>
                </a:r>
                <a14:m>
                  <m:oMath xmlns:m="http://schemas.openxmlformats.org/officeDocument/2006/math">
                    <m:sSub>
                      <m:sSubPr>
                        <m:ctrlPr>
                          <a:rPr lang="en-US" sz="1800" i="1" noProof="0" smtClean="0">
                            <a:latin typeface="Cambria Math"/>
                          </a:rPr>
                        </m:ctrlPr>
                      </m:sSubPr>
                      <m:e>
                        <m:r>
                          <a:rPr lang="en-US" sz="1800" i="1" noProof="0" smtClean="0">
                            <a:latin typeface="Cambria Math"/>
                          </a:rPr>
                          <m:t>𝑦</m:t>
                        </m:r>
                      </m:e>
                      <m:sub>
                        <m:r>
                          <a:rPr lang="en-US" sz="1800" i="1" noProof="0" smtClean="0">
                            <a:latin typeface="Cambria Math"/>
                          </a:rPr>
                          <m:t>𝑖</m:t>
                        </m:r>
                      </m:sub>
                    </m:sSub>
                  </m:oMath>
                </a14:m>
                <a:endParaRPr lang="en-US" sz="1800" noProof="0" dirty="0"/>
              </a:p>
              <a:p>
                <a:endParaRPr lang="en-US" sz="2000" noProof="0" dirty="0"/>
              </a:p>
              <a:p>
                <a:r>
                  <a:rPr lang="en-US" sz="2000" b="1" noProof="0" dirty="0">
                    <a:solidFill>
                      <a:srgbClr val="0070C0"/>
                    </a:solidFill>
                  </a:rPr>
                  <a:t>Unsupervised/descriptive learning</a:t>
                </a:r>
              </a:p>
              <a:p>
                <a:pPr lvl="1"/>
                <a:r>
                  <a:rPr lang="en-US" sz="1800" noProof="0" dirty="0"/>
                  <a:t>Training data does not include desired outputs </a:t>
                </a:r>
                <a14:m>
                  <m:oMath xmlns:m="http://schemas.openxmlformats.org/officeDocument/2006/math">
                    <m:sSub>
                      <m:sSubPr>
                        <m:ctrlPr>
                          <a:rPr lang="en-US" sz="1800" i="1" noProof="0" smtClean="0">
                            <a:latin typeface="Cambria Math"/>
                          </a:rPr>
                        </m:ctrlPr>
                      </m:sSubPr>
                      <m:e>
                        <m:r>
                          <a:rPr lang="en-US" sz="1800" i="1" noProof="0" smtClean="0">
                            <a:latin typeface="Cambria Math"/>
                          </a:rPr>
                          <m:t>𝑦</m:t>
                        </m:r>
                      </m:e>
                      <m:sub>
                        <m:r>
                          <a:rPr lang="en-US" sz="1800" i="1" noProof="0" smtClean="0">
                            <a:latin typeface="Cambria Math"/>
                          </a:rPr>
                          <m:t>𝑖</m:t>
                        </m:r>
                      </m:sub>
                    </m:sSub>
                  </m:oMath>
                </a14:m>
                <a:endParaRPr lang="en-US" sz="1800" noProof="0" dirty="0"/>
              </a:p>
              <a:p>
                <a:endParaRPr lang="en-US" sz="2000" noProof="0" dirty="0"/>
              </a:p>
              <a:p>
                <a:r>
                  <a:rPr lang="en-US" sz="2000" b="1" noProof="0" dirty="0">
                    <a:solidFill>
                      <a:srgbClr val="0070C0"/>
                    </a:solidFill>
                  </a:rPr>
                  <a:t>Weakly or Semi-supervised learning</a:t>
                </a:r>
              </a:p>
              <a:p>
                <a:pPr lvl="1"/>
                <a:r>
                  <a:rPr lang="en-US" sz="1800" noProof="0" dirty="0"/>
                  <a:t>Training data includes a few desired outputs </a:t>
                </a:r>
                <a14:m>
                  <m:oMath xmlns:m="http://schemas.openxmlformats.org/officeDocument/2006/math">
                    <m:sSub>
                      <m:sSubPr>
                        <m:ctrlPr>
                          <a:rPr lang="en-US" sz="1800" i="1" noProof="0" smtClean="0">
                            <a:latin typeface="Cambria Math"/>
                          </a:rPr>
                        </m:ctrlPr>
                      </m:sSubPr>
                      <m:e>
                        <m:r>
                          <a:rPr lang="en-US" sz="1800" i="1" noProof="0" smtClean="0">
                            <a:latin typeface="Cambria Math"/>
                          </a:rPr>
                          <m:t>𝑦</m:t>
                        </m:r>
                      </m:e>
                      <m:sub>
                        <m:r>
                          <a:rPr lang="en-US" sz="1800" i="1" noProof="0" smtClean="0">
                            <a:latin typeface="Cambria Math"/>
                          </a:rPr>
                          <m:t>𝑖</m:t>
                        </m:r>
                      </m:sub>
                    </m:sSub>
                  </m:oMath>
                </a14:m>
                <a:endParaRPr lang="en-US" sz="1800" noProof="0" dirty="0"/>
              </a:p>
              <a:p>
                <a:endParaRPr lang="en-US" sz="2000" noProof="0" dirty="0"/>
              </a:p>
              <a:p>
                <a:r>
                  <a:rPr lang="en-US" sz="2000" b="1" noProof="0" dirty="0">
                    <a:solidFill>
                      <a:srgbClr val="0070C0"/>
                    </a:solidFill>
                  </a:rPr>
                  <a:t>Reinforcement learning</a:t>
                </a:r>
              </a:p>
              <a:p>
                <a:pPr lvl="1"/>
                <a:r>
                  <a:rPr lang="en-US" sz="1800" noProof="0" dirty="0"/>
                  <a:t>Rewards from sequence of actions</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685800" y="1052736"/>
                <a:ext cx="7772400" cy="5257800"/>
              </a:xfrm>
              <a:prstGeom prst="rect">
                <a:avLst/>
              </a:prstGeom>
              <a:blipFill>
                <a:blip r:embed="rId2"/>
                <a:stretch>
                  <a:fillRect l="-706" t="-696"/>
                </a:stretch>
              </a:blipFill>
            </p:spPr>
            <p:txBody>
              <a:bodyPr/>
              <a:lstStyle/>
              <a:p>
                <a:r>
                  <a:rPr lang="en-US">
                    <a:noFill/>
                  </a:rPr>
                  <a:t> </a:t>
                </a:r>
              </a:p>
            </p:txBody>
          </p:sp>
        </mc:Fallback>
      </mc:AlternateContent>
      <p:sp>
        <p:nvSpPr>
          <p:cNvPr id="3" name="2 Rectángulo"/>
          <p:cNvSpPr/>
          <p:nvPr/>
        </p:nvSpPr>
        <p:spPr>
          <a:xfrm>
            <a:off x="954792" y="5294873"/>
            <a:ext cx="7486600" cy="1015663"/>
          </a:xfrm>
          <a:prstGeom prst="rect">
            <a:avLst/>
          </a:prstGeom>
          <a:ln>
            <a:solidFill>
              <a:schemeClr val="accent1"/>
            </a:solidFill>
            <a:prstDash val="sysDot"/>
          </a:ln>
        </p:spPr>
        <p:txBody>
          <a:bodyPr wrap="square">
            <a:spAutoFit/>
          </a:bodyPr>
          <a:lstStyle/>
          <a:p>
            <a:pPr algn="just"/>
            <a:r>
              <a:rPr lang="en-US" sz="2000" noProof="0" dirty="0"/>
              <a:t>In this course we will only study supervised/predictive learning and unsupervised/descriptive learning; reinforcement learning is covered in a subsequent course in the second semester.</a:t>
            </a:r>
          </a:p>
        </p:txBody>
      </p:sp>
    </p:spTree>
    <p:extLst>
      <p:ext uri="{BB962C8B-B14F-4D97-AF65-F5344CB8AC3E}">
        <p14:creationId xmlns:p14="http://schemas.microsoft.com/office/powerpoint/2010/main" val="1069256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r>
              <a:rPr lang="en-US" sz="2400" noProof="0" dirty="0"/>
              <a:t>Types supervised/predictive learning</a:t>
            </a:r>
            <a:endParaRPr lang="en-US" sz="2700" noProof="0"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539552" y="1052736"/>
                <a:ext cx="8208912" cy="525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200"/>
                  </a:spcAft>
                </a:pPr>
                <a:r>
                  <a:rPr lang="en-US" b="1" i="1" noProof="0" dirty="0">
                    <a:solidFill>
                      <a:srgbClr val="0070C0"/>
                    </a:solidFill>
                  </a:rPr>
                  <a:t>Supervised/predictive learning</a:t>
                </a:r>
                <a:r>
                  <a:rPr lang="en-US" noProof="0" dirty="0"/>
                  <a:t>:</a:t>
                </a:r>
              </a:p>
              <a:p>
                <a:pPr marL="457200" lvl="1" indent="0" algn="ctr">
                  <a:spcAft>
                    <a:spcPts val="1200"/>
                  </a:spcAft>
                  <a:buNone/>
                </a:pPr>
                <a:r>
                  <a:rPr lang="en-US" sz="2800" noProof="0" dirty="0"/>
                  <a:t>The goal is to learn a mapping from inputs </a:t>
                </a:r>
                <a14:m>
                  <m:oMath xmlns:m="http://schemas.openxmlformats.org/officeDocument/2006/math">
                    <m:sSub>
                      <m:sSubPr>
                        <m:ctrlPr>
                          <a:rPr lang="en-US" sz="2800" b="1" i="0" noProof="0" smtClean="0">
                            <a:latin typeface="Cambria Math"/>
                          </a:rPr>
                        </m:ctrlPr>
                      </m:sSubPr>
                      <m:e>
                        <m:r>
                          <m:rPr>
                            <m:nor/>
                          </m:rPr>
                          <a:rPr lang="en-US" sz="2800" b="1" i="0" noProof="0" smtClean="0">
                            <a:latin typeface="Cambria Math"/>
                          </a:rPr>
                          <m:t>x</m:t>
                        </m:r>
                      </m:e>
                      <m:sub>
                        <m:r>
                          <a:rPr lang="en-US" sz="2800" i="1" noProof="0" smtClean="0">
                            <a:latin typeface="Cambria Math"/>
                          </a:rPr>
                          <m:t>𝑖</m:t>
                        </m:r>
                      </m:sub>
                    </m:sSub>
                  </m:oMath>
                </a14:m>
                <a:r>
                  <a:rPr lang="en-US" sz="2800" noProof="0" dirty="0"/>
                  <a:t> to outputs </a:t>
                </a:r>
                <a14:m>
                  <m:oMath xmlns:m="http://schemas.openxmlformats.org/officeDocument/2006/math">
                    <m:sSub>
                      <m:sSubPr>
                        <m:ctrlPr>
                          <a:rPr lang="en-US" sz="2800" noProof="0" smtClean="0">
                            <a:latin typeface="Cambria Math"/>
                          </a:rPr>
                        </m:ctrlPr>
                      </m:sSubPr>
                      <m:e>
                        <m:r>
                          <a:rPr lang="en-US" sz="2800" noProof="0" smtClean="0">
                            <a:latin typeface="Cambria Math"/>
                          </a:rPr>
                          <m:t>𝑦</m:t>
                        </m:r>
                      </m:e>
                      <m:sub>
                        <m:r>
                          <a:rPr lang="en-US" sz="2800" noProof="0" smtClean="0">
                            <a:latin typeface="Cambria Math"/>
                          </a:rPr>
                          <m:t>𝑖</m:t>
                        </m:r>
                      </m:sub>
                    </m:sSub>
                  </m:oMath>
                </a14:m>
                <a:endParaRPr lang="en-US" noProof="0" dirty="0"/>
              </a:p>
              <a:p>
                <a:pPr marL="0" indent="0">
                  <a:spcAft>
                    <a:spcPts val="1200"/>
                  </a:spcAft>
                  <a:buNone/>
                </a:pPr>
                <a:endParaRPr lang="en-US" noProof="0" dirty="0"/>
              </a:p>
              <a:p>
                <a:pPr>
                  <a:spcAft>
                    <a:spcPts val="1200"/>
                  </a:spcAft>
                </a:pPr>
                <a:r>
                  <a:rPr lang="en-US" noProof="0" dirty="0"/>
                  <a:t>Types of predictive learning:</a:t>
                </a:r>
              </a:p>
              <a:p>
                <a:pPr lvl="1">
                  <a:spcAft>
                    <a:spcPts val="1200"/>
                  </a:spcAft>
                </a:pPr>
                <a:r>
                  <a:rPr lang="en-US" sz="2800" b="1" i="1" noProof="0" dirty="0">
                    <a:solidFill>
                      <a:srgbClr val="0070C0"/>
                    </a:solidFill>
                  </a:rPr>
                  <a:t>Regression</a:t>
                </a:r>
                <a:r>
                  <a:rPr lang="en-US" sz="2800" noProof="0" dirty="0"/>
                  <a:t>: when outputs </a:t>
                </a:r>
                <a14:m>
                  <m:oMath xmlns:m="http://schemas.openxmlformats.org/officeDocument/2006/math">
                    <m:sSub>
                      <m:sSubPr>
                        <m:ctrlPr>
                          <a:rPr lang="en-US" sz="2800" noProof="0" smtClean="0">
                            <a:latin typeface="Cambria Math"/>
                          </a:rPr>
                        </m:ctrlPr>
                      </m:sSubPr>
                      <m:e>
                        <m:r>
                          <a:rPr lang="en-US" sz="2800" noProof="0" smtClean="0">
                            <a:latin typeface="Cambria Math"/>
                          </a:rPr>
                          <m:t>𝑦</m:t>
                        </m:r>
                      </m:e>
                      <m:sub>
                        <m:r>
                          <a:rPr lang="en-US" sz="2800" noProof="0" smtClean="0">
                            <a:latin typeface="Cambria Math"/>
                          </a:rPr>
                          <m:t>𝑖</m:t>
                        </m:r>
                      </m:sub>
                    </m:sSub>
                  </m:oMath>
                </a14:m>
                <a:r>
                  <a:rPr lang="en-US" sz="2800" noProof="0" dirty="0"/>
                  <a:t> are real values (or ordinals = ordinal regression)</a:t>
                </a:r>
              </a:p>
              <a:p>
                <a:pPr lvl="1"/>
                <a:r>
                  <a:rPr lang="en-US" sz="2800" b="1" i="1" noProof="0" dirty="0">
                    <a:solidFill>
                      <a:srgbClr val="0070C0"/>
                    </a:solidFill>
                  </a:rPr>
                  <a:t>Classification</a:t>
                </a:r>
                <a:r>
                  <a:rPr lang="en-US" sz="2800" noProof="0" dirty="0"/>
                  <a:t> or </a:t>
                </a:r>
                <a:r>
                  <a:rPr lang="en-US" sz="2800" b="1" i="1" noProof="0" dirty="0">
                    <a:solidFill>
                      <a:srgbClr val="00B0F0"/>
                    </a:solidFill>
                  </a:rPr>
                  <a:t>pattern recognition</a:t>
                </a:r>
                <a:r>
                  <a:rPr lang="en-US" sz="2800" noProof="0" dirty="0"/>
                  <a:t>: when </a:t>
                </a:r>
                <a14:m>
                  <m:oMath xmlns:m="http://schemas.openxmlformats.org/officeDocument/2006/math">
                    <m:sSub>
                      <m:sSubPr>
                        <m:ctrlPr>
                          <a:rPr lang="en-US" sz="2800" noProof="0" smtClean="0">
                            <a:latin typeface="Cambria Math"/>
                          </a:rPr>
                        </m:ctrlPr>
                      </m:sSubPr>
                      <m:e>
                        <m:r>
                          <a:rPr lang="en-US" sz="2800" noProof="0" smtClean="0">
                            <a:latin typeface="Cambria Math"/>
                          </a:rPr>
                          <m:t>𝑦</m:t>
                        </m:r>
                      </m:e>
                      <m:sub>
                        <m:r>
                          <a:rPr lang="en-US" sz="2800" noProof="0" smtClean="0">
                            <a:latin typeface="Cambria Math"/>
                          </a:rPr>
                          <m:t>𝑖</m:t>
                        </m:r>
                      </m:sub>
                    </m:sSub>
                  </m:oMath>
                </a14:m>
                <a:r>
                  <a:rPr lang="en-US" sz="2800" noProof="0" dirty="0"/>
                  <a:t> is categorical or nominal</a:t>
                </a:r>
              </a:p>
              <a:p>
                <a:pPr lvl="1"/>
                <a:endParaRPr lang="en-US" sz="1800" noProof="0" dirty="0"/>
              </a:p>
              <a:p>
                <a:endParaRPr lang="en-US" sz="2000" noProof="0" dirty="0"/>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539552" y="1052736"/>
                <a:ext cx="8208912" cy="5257800"/>
              </a:xfrm>
              <a:prstGeom prst="rect">
                <a:avLst/>
              </a:prstGeom>
              <a:blipFill>
                <a:blip r:embed="rId2"/>
                <a:stretch>
                  <a:fillRect l="-1337" t="-1160" b="-812"/>
                </a:stretch>
              </a:blipFill>
            </p:spPr>
            <p:txBody>
              <a:bodyPr/>
              <a:lstStyle/>
              <a:p>
                <a:r>
                  <a:rPr lang="en-US">
                    <a:noFill/>
                  </a:rPr>
                  <a:t> </a:t>
                </a:r>
              </a:p>
            </p:txBody>
          </p:sp>
        </mc:Fallback>
      </mc:AlternateContent>
    </p:spTree>
    <p:extLst>
      <p:ext uri="{BB962C8B-B14F-4D97-AF65-F5344CB8AC3E}">
        <p14:creationId xmlns:p14="http://schemas.microsoft.com/office/powerpoint/2010/main" val="161249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r>
              <a:rPr lang="en-US" sz="2400" noProof="0" dirty="0"/>
              <a:t>Supervised/predictive learning</a:t>
            </a:r>
            <a:endParaRPr lang="en-US" sz="2700" noProof="0" dirty="0"/>
          </a:p>
        </p:txBody>
      </p:sp>
      <p:sp>
        <p:nvSpPr>
          <p:cNvPr id="5" name="Content Placeholder 2"/>
          <p:cNvSpPr txBox="1">
            <a:spLocks/>
          </p:cNvSpPr>
          <p:nvPr/>
        </p:nvSpPr>
        <p:spPr>
          <a:xfrm>
            <a:off x="539552" y="1412776"/>
            <a:ext cx="8208912" cy="3384376"/>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1200"/>
              </a:spcAft>
              <a:buNone/>
            </a:pPr>
            <a:r>
              <a:rPr lang="en-US" sz="3200" b="1" noProof="0" dirty="0">
                <a:solidFill>
                  <a:srgbClr val="0070C0"/>
                </a:solidFill>
              </a:rPr>
              <a:t>Objectives of Supervised/predictive learning</a:t>
            </a:r>
          </a:p>
          <a:p>
            <a:pPr marL="0" indent="0">
              <a:buNone/>
            </a:pPr>
            <a:r>
              <a:rPr lang="en-US" noProof="0" dirty="0"/>
              <a:t>On the basis of the training data we would like to</a:t>
            </a:r>
            <a:r>
              <a:rPr lang="en-US" sz="3200" noProof="0" dirty="0"/>
              <a:t>:</a:t>
            </a:r>
          </a:p>
          <a:p>
            <a:pPr marL="0" indent="0">
              <a:buNone/>
            </a:pPr>
            <a:endParaRPr lang="en-US" sz="3200" noProof="0" dirty="0"/>
          </a:p>
          <a:p>
            <a:pPr marL="514350" indent="-457200"/>
            <a:r>
              <a:rPr lang="en-US" noProof="0" dirty="0"/>
              <a:t>Accurately predict unseen test cases.</a:t>
            </a:r>
          </a:p>
          <a:p>
            <a:pPr marL="514350" indent="-457200"/>
            <a:r>
              <a:rPr lang="en-US" noProof="0" dirty="0"/>
              <a:t>Understand which inputs affect the outcome. </a:t>
            </a:r>
          </a:p>
          <a:p>
            <a:pPr marL="514350" indent="-457200"/>
            <a:r>
              <a:rPr lang="en-US" noProof="0" dirty="0"/>
              <a:t>Assess the quality of our predictions and inferences.</a:t>
            </a:r>
          </a:p>
          <a:p>
            <a:endParaRPr lang="en-US" sz="2000" noProof="0" dirty="0"/>
          </a:p>
        </p:txBody>
      </p:sp>
    </p:spTree>
    <p:extLst>
      <p:ext uri="{BB962C8B-B14F-4D97-AF65-F5344CB8AC3E}">
        <p14:creationId xmlns:p14="http://schemas.microsoft.com/office/powerpoint/2010/main" val="2650369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r>
              <a:rPr lang="en-US" sz="2400" noProof="0" dirty="0"/>
              <a:t>Unsupervised/descriptive learning</a:t>
            </a:r>
            <a:endParaRPr lang="en-US" sz="2700" noProof="0"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395536" y="1268760"/>
                <a:ext cx="8208912" cy="468052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1200"/>
                  </a:spcAft>
                </a:pPr>
                <a:r>
                  <a:rPr lang="en-US" b="1" i="1" noProof="0" dirty="0">
                    <a:solidFill>
                      <a:srgbClr val="0070C0"/>
                    </a:solidFill>
                  </a:rPr>
                  <a:t>Unsupervised/descriptive learning</a:t>
                </a:r>
                <a:r>
                  <a:rPr lang="en-US" b="1" noProof="0" dirty="0">
                    <a:solidFill>
                      <a:srgbClr val="0070C0"/>
                    </a:solidFill>
                  </a:rPr>
                  <a:t>:</a:t>
                </a:r>
              </a:p>
              <a:p>
                <a:pPr marL="457200" lvl="1" indent="0">
                  <a:spcAft>
                    <a:spcPts val="1200"/>
                  </a:spcAft>
                  <a:buNone/>
                </a:pPr>
                <a:r>
                  <a:rPr lang="en-US" noProof="0" dirty="0"/>
                  <a:t>We are only given inputs </a:t>
                </a:r>
                <a14:m>
                  <m:oMath xmlns:m="http://schemas.openxmlformats.org/officeDocument/2006/math">
                    <m:r>
                      <a:rPr lang="en-US" i="1" noProof="0" smtClean="0">
                        <a:latin typeface="Cambria Math"/>
                      </a:rPr>
                      <m:t>𝑃</m:t>
                    </m:r>
                    <m:r>
                      <a:rPr lang="en-US" i="1" noProof="0" smtClean="0">
                        <a:latin typeface="Cambria Math"/>
                      </a:rPr>
                      <m:t>=</m:t>
                    </m:r>
                    <m:sSubSup>
                      <m:sSubSupPr>
                        <m:ctrlPr>
                          <a:rPr lang="en-US" b="1" i="1" noProof="0" smtClean="0">
                            <a:latin typeface="Cambria Math" panose="02040503050406030204" pitchFamily="18" charset="0"/>
                          </a:rPr>
                        </m:ctrlPr>
                      </m:sSubSupPr>
                      <m:e>
                        <m:d>
                          <m:dPr>
                            <m:begChr m:val="{"/>
                            <m:endChr m:val="}"/>
                            <m:ctrlPr>
                              <a:rPr lang="en-US" b="1" i="1" noProof="0" smtClean="0">
                                <a:latin typeface="Cambria Math" panose="02040503050406030204" pitchFamily="18" charset="0"/>
                              </a:rPr>
                            </m:ctrlPr>
                          </m:dPr>
                          <m:e>
                            <m:sSub>
                              <m:sSubPr>
                                <m:ctrlPr>
                                  <a:rPr lang="en-US" b="1" i="0" noProof="0" smtClean="0">
                                    <a:latin typeface="Cambria Math"/>
                                  </a:rPr>
                                </m:ctrlPr>
                              </m:sSubPr>
                              <m:e>
                                <m:r>
                                  <m:rPr>
                                    <m:nor/>
                                  </m:rPr>
                                  <a:rPr lang="en-US" b="1" i="0" noProof="0" smtClean="0">
                                    <a:latin typeface="Cambria Math"/>
                                  </a:rPr>
                                  <m:t>x</m:t>
                                </m:r>
                              </m:e>
                              <m:sub>
                                <m:r>
                                  <a:rPr lang="en-US" i="1" noProof="0" smtClean="0">
                                    <a:latin typeface="Cambria Math"/>
                                  </a:rPr>
                                  <m:t>𝑖</m:t>
                                </m:r>
                              </m:sub>
                            </m:sSub>
                          </m:e>
                        </m:d>
                      </m:e>
                      <m:sub>
                        <m:r>
                          <a:rPr lang="en-US" i="1" noProof="0" smtClean="0">
                            <a:latin typeface="Cambria Math"/>
                          </a:rPr>
                          <m:t>𝑖</m:t>
                        </m:r>
                        <m:r>
                          <a:rPr lang="en-US" i="1" noProof="0" smtClean="0">
                            <a:latin typeface="Cambria Math"/>
                          </a:rPr>
                          <m:t>=1</m:t>
                        </m:r>
                      </m:sub>
                      <m:sup>
                        <m:r>
                          <a:rPr lang="en-US" b="0" i="1" noProof="0" smtClean="0">
                            <a:latin typeface="Cambria Math" panose="02040503050406030204" pitchFamily="18" charset="0"/>
                          </a:rPr>
                          <m:t>𝑛</m:t>
                        </m:r>
                      </m:sup>
                    </m:sSubSup>
                    <m:r>
                      <a:rPr lang="en-US" i="1" noProof="0" smtClean="0">
                        <a:latin typeface="Cambria Math"/>
                      </a:rPr>
                      <m:t> </m:t>
                    </m:r>
                  </m:oMath>
                </a14:m>
                <a:r>
                  <a:rPr lang="en-US" noProof="0" dirty="0"/>
                  <a:t>and the goal is to find “interesting patterns” in the data (</a:t>
                </a:r>
                <a:r>
                  <a:rPr lang="en-US" b="1" i="1" noProof="0" dirty="0">
                    <a:solidFill>
                      <a:srgbClr val="92D050"/>
                    </a:solidFill>
                  </a:rPr>
                  <a:t>knowledge discovery</a:t>
                </a:r>
                <a:r>
                  <a:rPr lang="en-US" noProof="0" dirty="0"/>
                  <a:t>)</a:t>
                </a:r>
                <a:endParaRPr lang="en-US" sz="2000" noProof="0" dirty="0"/>
              </a:p>
              <a:p>
                <a:pPr marL="0" indent="0">
                  <a:spcAft>
                    <a:spcPts val="1200"/>
                  </a:spcAft>
                  <a:buNone/>
                </a:pPr>
                <a:endParaRPr lang="en-US" sz="2400" noProof="0" dirty="0"/>
              </a:p>
              <a:p>
                <a:pPr lvl="1" algn="just"/>
                <a:r>
                  <a:rPr lang="en-US" noProof="0" dirty="0"/>
                  <a:t>Objective is more fuzzy – find groups of samples that behave similarly, find features that behave similarly, find linear combinations of features with the most variation.</a:t>
                </a:r>
              </a:p>
              <a:p>
                <a:pPr lvl="1"/>
                <a:r>
                  <a:rPr lang="en-US" noProof="0" dirty="0"/>
                  <a:t>Difficult to know how well your are doing.</a:t>
                </a:r>
              </a:p>
              <a:p>
                <a:pPr lvl="1"/>
                <a:r>
                  <a:rPr lang="en-US" noProof="0" dirty="0"/>
                  <a:t>Different from supervised learning, but can be useful as a pre-processing step for supervised learning.</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395536" y="1268760"/>
                <a:ext cx="8208912" cy="4680520"/>
              </a:xfrm>
              <a:prstGeom prst="rect">
                <a:avLst/>
              </a:prstGeom>
              <a:blipFill>
                <a:blip r:embed="rId2"/>
                <a:stretch>
                  <a:fillRect l="-1337" t="-1172" r="-1114" b="-1953"/>
                </a:stretch>
              </a:blipFill>
            </p:spPr>
            <p:txBody>
              <a:bodyPr/>
              <a:lstStyle/>
              <a:p>
                <a:r>
                  <a:rPr lang="en-US">
                    <a:noFill/>
                  </a:rPr>
                  <a:t> </a:t>
                </a:r>
              </a:p>
            </p:txBody>
          </p:sp>
        </mc:Fallback>
      </mc:AlternateContent>
    </p:spTree>
    <p:extLst>
      <p:ext uri="{BB962C8B-B14F-4D97-AF65-F5344CB8AC3E}">
        <p14:creationId xmlns:p14="http://schemas.microsoft.com/office/powerpoint/2010/main" val="1200797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404664"/>
            <a:ext cx="8459681" cy="6048672"/>
          </a:xfrm>
          <a:prstGeom prst="rect">
            <a:avLst/>
          </a:prstGeom>
        </p:spPr>
      </p:pic>
    </p:spTree>
    <p:extLst>
      <p:ext uri="{BB962C8B-B14F-4D97-AF65-F5344CB8AC3E}">
        <p14:creationId xmlns:p14="http://schemas.microsoft.com/office/powerpoint/2010/main" val="2451889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endParaRPr lang="en-US" sz="2700" noProof="0"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685800" y="1196752"/>
                <a:ext cx="7772400" cy="5472608"/>
              </a:xfrm>
              <a:prstGeom prst="rect">
                <a:avLst/>
              </a:prstGeom>
            </p:spPr>
            <p:txBody>
              <a:bodyPr vert="horz" lIns="91440" tIns="45720" rIns="91440" bIns="45720" rtlCol="0">
                <a:normAutofit fontScale="92500"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buNone/>
                </a:pPr>
                <a:r>
                  <a:rPr lang="en-US" sz="3900" b="1" noProof="0" dirty="0">
                    <a:solidFill>
                      <a:srgbClr val="0070C0"/>
                    </a:solidFill>
                  </a:rPr>
                  <a:t>The Netflix prize</a:t>
                </a:r>
                <a:endParaRPr lang="en-US" sz="4300" b="1" noProof="0" dirty="0">
                  <a:solidFill>
                    <a:srgbClr val="0070C0"/>
                  </a:solidFill>
                </a:endParaRPr>
              </a:p>
              <a:p>
                <a:pPr>
                  <a:spcAft>
                    <a:spcPts val="1200"/>
                  </a:spcAft>
                </a:pPr>
                <a:r>
                  <a:rPr lang="en-US" sz="2400" noProof="0" dirty="0"/>
                  <a:t>Competition started in October 2006. Training data is ratings for </a:t>
                </a:r>
                <a:r>
                  <a:rPr lang="en-US" sz="2400" b="1" noProof="0" dirty="0"/>
                  <a:t>18.000 movies by 400.000 </a:t>
                </a:r>
                <a:r>
                  <a:rPr lang="en-US" sz="2400" noProof="0" dirty="0"/>
                  <a:t>Netflix customers, each rating between </a:t>
                </a:r>
                <a:r>
                  <a:rPr lang="en-US" sz="2400" b="1" noProof="0" dirty="0"/>
                  <a:t>1</a:t>
                </a:r>
                <a:r>
                  <a:rPr lang="en-US" sz="2400" noProof="0" dirty="0"/>
                  <a:t> and </a:t>
                </a:r>
                <a:r>
                  <a:rPr lang="en-US" sz="2400" b="1" noProof="0" dirty="0"/>
                  <a:t>5</a:t>
                </a:r>
                <a:r>
                  <a:rPr lang="en-US" sz="2400" noProof="0" dirty="0"/>
                  <a:t>.</a:t>
                </a:r>
              </a:p>
              <a:p>
                <a:pPr>
                  <a:spcAft>
                    <a:spcPts val="1200"/>
                  </a:spcAft>
                </a:pPr>
                <a:r>
                  <a:rPr lang="en-US" sz="2400" noProof="0" dirty="0"/>
                  <a:t>Training data is very sparse </a:t>
                </a:r>
                <a14:m>
                  <m:oMath xmlns:m="http://schemas.openxmlformats.org/officeDocument/2006/math">
                    <m:r>
                      <a:rPr lang="en-US" sz="2400" i="1" noProof="0" smtClean="0">
                        <a:latin typeface="Cambria Math"/>
                      </a:rPr>
                      <m:t>−</m:t>
                    </m:r>
                  </m:oMath>
                </a14:m>
                <a:r>
                  <a:rPr lang="en-US" sz="2400" noProof="0" dirty="0"/>
                  <a:t> about </a:t>
                </a:r>
                <a:r>
                  <a:rPr lang="en-US" sz="2400" b="1" noProof="0" dirty="0"/>
                  <a:t>98%</a:t>
                </a:r>
                <a:r>
                  <a:rPr lang="en-US" sz="2400" noProof="0" dirty="0"/>
                  <a:t> missing.</a:t>
                </a:r>
              </a:p>
              <a:p>
                <a:pPr>
                  <a:spcAft>
                    <a:spcPts val="1200"/>
                  </a:spcAft>
                </a:pPr>
                <a:r>
                  <a:rPr lang="en-US" sz="2400" noProof="0" dirty="0"/>
                  <a:t>Objective is to predict the rating for a set of 1 million customer-movie pairs that are missing in the training data.</a:t>
                </a:r>
              </a:p>
              <a:p>
                <a:pPr>
                  <a:spcAft>
                    <a:spcPts val="1200"/>
                  </a:spcAft>
                </a:pPr>
                <a:r>
                  <a:rPr lang="en-US" sz="2400" noProof="0" dirty="0"/>
                  <a:t>Netflix's original algorithm achieved a root MSE of 0.953.</a:t>
                </a:r>
              </a:p>
              <a:p>
                <a:pPr>
                  <a:spcAft>
                    <a:spcPts val="1200"/>
                  </a:spcAft>
                </a:pPr>
                <a:r>
                  <a:rPr lang="en-US" sz="2400" noProof="0" dirty="0"/>
                  <a:t>The first team to achieve a 10% improvement </a:t>
                </a:r>
                <a:r>
                  <a:rPr lang="en-US" sz="2400" u="sng" noProof="0" dirty="0"/>
                  <a:t>wins one million dollars</a:t>
                </a:r>
                <a:r>
                  <a:rPr lang="en-US" sz="2400" noProof="0" dirty="0"/>
                  <a:t>.</a:t>
                </a:r>
              </a:p>
              <a:p>
                <a:pPr>
                  <a:spcAft>
                    <a:spcPts val="1200"/>
                  </a:spcAft>
                </a:pPr>
                <a:r>
                  <a:rPr lang="en-US" sz="2400" noProof="0" dirty="0"/>
                  <a:t>Is this a supervised or unsupervised problem?</a:t>
                </a:r>
              </a:p>
              <a:p>
                <a:pPr>
                  <a:spcAft>
                    <a:spcPts val="1200"/>
                  </a:spcAft>
                </a:pPr>
                <a:r>
                  <a:rPr lang="en-US" sz="2400" b="1" noProof="0" dirty="0">
                    <a:solidFill>
                      <a:srgbClr val="00B050"/>
                    </a:solidFill>
                  </a:rPr>
                  <a:t>Predict ratings?  … o finding “similar” customers?</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685800" y="1196752"/>
                <a:ext cx="7772400" cy="5472608"/>
              </a:xfrm>
              <a:prstGeom prst="rect">
                <a:avLst/>
              </a:prstGeom>
              <a:blipFill>
                <a:blip r:embed="rId2"/>
                <a:stretch>
                  <a:fillRect l="-941" t="-2673" r="-392"/>
                </a:stretch>
              </a:blipFill>
            </p:spPr>
            <p:txBody>
              <a:bodyPr/>
              <a:lstStyle/>
              <a:p>
                <a:r>
                  <a:rPr lang="en-US">
                    <a:noFill/>
                  </a:rPr>
                  <a:t> </a:t>
                </a:r>
              </a:p>
            </p:txBody>
          </p:sp>
        </mc:Fallback>
      </mc:AlternateContent>
      <p:pic>
        <p:nvPicPr>
          <p:cNvPr id="3" name="Imagen 2">
            <a:extLst>
              <a:ext uri="{FF2B5EF4-FFF2-40B4-BE49-F238E27FC236}">
                <a16:creationId xmlns:a16="http://schemas.microsoft.com/office/drawing/2014/main" id="{07209DA6-3938-4CF6-809C-F6ADC6E60E15}"/>
              </a:ext>
            </a:extLst>
          </p:cNvPr>
          <p:cNvPicPr>
            <a:picLocks noChangeAspect="1"/>
          </p:cNvPicPr>
          <p:nvPr/>
        </p:nvPicPr>
        <p:blipFill>
          <a:blip r:embed="rId3"/>
          <a:stretch>
            <a:fillRect/>
          </a:stretch>
        </p:blipFill>
        <p:spPr>
          <a:xfrm>
            <a:off x="6660232" y="38785"/>
            <a:ext cx="2016224" cy="1157966"/>
          </a:xfrm>
          <a:prstGeom prst="rect">
            <a:avLst/>
          </a:prstGeom>
        </p:spPr>
      </p:pic>
      <p:sp>
        <p:nvSpPr>
          <p:cNvPr id="6" name="CuadroTexto 5">
            <a:extLst>
              <a:ext uri="{FF2B5EF4-FFF2-40B4-BE49-F238E27FC236}">
                <a16:creationId xmlns:a16="http://schemas.microsoft.com/office/drawing/2014/main" id="{68DCD1BB-4F01-0E0F-300E-0F0C8710AF03}"/>
              </a:ext>
            </a:extLst>
          </p:cNvPr>
          <p:cNvSpPr txBox="1"/>
          <p:nvPr/>
        </p:nvSpPr>
        <p:spPr>
          <a:xfrm>
            <a:off x="5796136" y="1235536"/>
            <a:ext cx="3240360" cy="461665"/>
          </a:xfrm>
          <a:prstGeom prst="rect">
            <a:avLst/>
          </a:prstGeom>
          <a:solidFill>
            <a:schemeClr val="tx1"/>
          </a:solidFill>
        </p:spPr>
        <p:txBody>
          <a:bodyPr wrap="square">
            <a:spAutoFit/>
          </a:bodyPr>
          <a:lstStyle/>
          <a:p>
            <a:r>
              <a:rPr lang="en-US" sz="2400" b="1" noProof="0" dirty="0">
                <a:solidFill>
                  <a:srgbClr val="FF0000"/>
                </a:solidFill>
              </a:rPr>
              <a:t>A</a:t>
            </a:r>
            <a:r>
              <a:rPr lang="en-US" sz="2400" noProof="0" dirty="0"/>
              <a:t> </a:t>
            </a:r>
            <a:r>
              <a:rPr lang="en-US" sz="2400" b="1" noProof="0" dirty="0">
                <a:solidFill>
                  <a:srgbClr val="FF0000"/>
                </a:solidFill>
              </a:rPr>
              <a:t>$1 million competition</a:t>
            </a:r>
          </a:p>
        </p:txBody>
      </p:sp>
    </p:spTree>
    <p:extLst>
      <p:ext uri="{BB962C8B-B14F-4D97-AF65-F5344CB8AC3E}">
        <p14:creationId xmlns:p14="http://schemas.microsoft.com/office/powerpoint/2010/main" val="3001938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endParaRPr lang="en-US" sz="2700" noProof="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1124744"/>
            <a:ext cx="6939466" cy="56140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467273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0" y="805590"/>
            <a:ext cx="9144000" cy="5246819"/>
          </a:xfrm>
          <a:prstGeom prst="rect">
            <a:avLst/>
          </a:prstGeom>
        </p:spPr>
      </p:pic>
    </p:spTree>
    <p:extLst>
      <p:ext uri="{BB962C8B-B14F-4D97-AF65-F5344CB8AC3E}">
        <p14:creationId xmlns:p14="http://schemas.microsoft.com/office/powerpoint/2010/main" val="1705703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4211960" y="961582"/>
            <a:ext cx="4464496" cy="3403522"/>
          </a:xfrm>
          <a:prstGeom prst="rect">
            <a:avLst/>
          </a:prstGeom>
          <a:ln>
            <a:noFill/>
          </a:ln>
          <a:effectLst>
            <a:outerShdw blurRad="292100" dist="139700" dir="2700000" algn="tl" rotWithShape="0">
              <a:srgbClr val="333333">
                <a:alpha val="65000"/>
              </a:srgbClr>
            </a:outerShdw>
          </a:effectLst>
        </p:spPr>
      </p:pic>
      <p:sp>
        <p:nvSpPr>
          <p:cNvPr id="2" name="1 Título"/>
          <p:cNvSpPr>
            <a:spLocks noGrp="1"/>
          </p:cNvSpPr>
          <p:nvPr>
            <p:ph type="title"/>
          </p:nvPr>
        </p:nvSpPr>
        <p:spPr/>
        <p:txBody>
          <a:bodyPr>
            <a:normAutofit/>
          </a:bodyPr>
          <a:lstStyle/>
          <a:p>
            <a:r>
              <a:rPr lang="en-US" sz="3100" b="1" noProof="0" dirty="0"/>
              <a:t>Supervised or unsupervised?</a:t>
            </a:r>
            <a:endParaRPr lang="en-US" sz="2700" noProof="0" dirty="0"/>
          </a:p>
        </p:txBody>
      </p:sp>
      <p:sp>
        <p:nvSpPr>
          <p:cNvPr id="5" name="Content Placeholder 2"/>
          <p:cNvSpPr txBox="1">
            <a:spLocks/>
          </p:cNvSpPr>
          <p:nvPr/>
        </p:nvSpPr>
        <p:spPr>
          <a:xfrm>
            <a:off x="323528" y="1052736"/>
            <a:ext cx="7772400" cy="52578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b="1" noProof="0" dirty="0">
                <a:solidFill>
                  <a:srgbClr val="00B0F0"/>
                </a:solidFill>
              </a:rPr>
              <a:t>Fraud detection?</a:t>
            </a:r>
          </a:p>
          <a:p>
            <a:r>
              <a:rPr lang="en-US" sz="3200" b="1" noProof="0" dirty="0">
                <a:solidFill>
                  <a:srgbClr val="00B0F0"/>
                </a:solidFill>
              </a:rPr>
              <a:t>Anomaly detection?</a:t>
            </a:r>
            <a:endParaRPr lang="en-US" b="1" noProof="0" dirty="0">
              <a:solidFill>
                <a:srgbClr val="00B0F0"/>
              </a:solidFill>
            </a:endParaRPr>
          </a:p>
          <a:p>
            <a:endParaRPr lang="en-US" sz="3200" b="1" noProof="0" dirty="0">
              <a:solidFill>
                <a:srgbClr val="00B0F0"/>
              </a:solidFill>
            </a:endParaRPr>
          </a:p>
          <a:p>
            <a:pPr marL="400050" lvl="1" indent="0">
              <a:buNone/>
            </a:pPr>
            <a:r>
              <a:rPr lang="en-US" sz="2800" b="1" noProof="0" dirty="0" err="1">
                <a:solidFill>
                  <a:srgbClr val="C00000"/>
                </a:solidFill>
              </a:rPr>
              <a:t>ONEClass</a:t>
            </a:r>
            <a:r>
              <a:rPr lang="en-US" sz="2800" b="1" noProof="0" dirty="0">
                <a:solidFill>
                  <a:srgbClr val="C00000"/>
                </a:solidFill>
              </a:rPr>
              <a:t> models!</a:t>
            </a:r>
          </a:p>
          <a:p>
            <a:pPr marL="0" indent="0">
              <a:buNone/>
            </a:pPr>
            <a:endParaRPr lang="en-US" sz="2400" b="1" noProof="0" dirty="0">
              <a:solidFill>
                <a:srgbClr val="00B0F0"/>
              </a:solidFill>
            </a:endParaRPr>
          </a:p>
          <a:p>
            <a:endParaRPr lang="en-US" sz="3200" b="1" noProof="0" dirty="0">
              <a:solidFill>
                <a:srgbClr val="00B0F0"/>
              </a:solidFill>
            </a:endParaRPr>
          </a:p>
          <a:p>
            <a:endParaRPr lang="en-US" sz="3200" b="1" noProof="0" dirty="0"/>
          </a:p>
          <a:p>
            <a:r>
              <a:rPr lang="en-US" sz="3200" b="1" noProof="0" dirty="0"/>
              <a:t>Telefónica (Network Optimization)</a:t>
            </a:r>
          </a:p>
          <a:p>
            <a:pPr lvl="1"/>
            <a:r>
              <a:rPr lang="en-US" b="1" noProof="0" dirty="0"/>
              <a:t>Can we detect AVE Passengers?</a:t>
            </a:r>
          </a:p>
          <a:p>
            <a:pPr lvl="1"/>
            <a:r>
              <a:rPr lang="en-US" b="1" noProof="0" dirty="0"/>
              <a:t>Labels?</a:t>
            </a:r>
          </a:p>
        </p:txBody>
      </p:sp>
    </p:spTree>
    <p:extLst>
      <p:ext uri="{BB962C8B-B14F-4D97-AF65-F5344CB8AC3E}">
        <p14:creationId xmlns:p14="http://schemas.microsoft.com/office/powerpoint/2010/main" val="2260008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Also different Supervised problems:</a:t>
            </a:r>
            <a:br>
              <a:rPr lang="en-US" sz="3100" b="1" noProof="0" dirty="0"/>
            </a:br>
            <a:r>
              <a:rPr lang="en-US" sz="3100" b="1" noProof="0" dirty="0"/>
              <a:t>Multi-class &amp; Multi-Label Classification</a:t>
            </a:r>
            <a:endParaRPr lang="en-US" sz="2700" noProof="0" dirty="0"/>
          </a:p>
        </p:txBody>
      </p:sp>
      <p:sp>
        <p:nvSpPr>
          <p:cNvPr id="5" name="Content Placeholder 2"/>
          <p:cNvSpPr txBox="1">
            <a:spLocks/>
          </p:cNvSpPr>
          <p:nvPr/>
        </p:nvSpPr>
        <p:spPr>
          <a:xfrm>
            <a:off x="323528" y="1052736"/>
            <a:ext cx="7772400" cy="5257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200" b="1" noProof="0" dirty="0">
                <a:solidFill>
                  <a:srgbClr val="00B0F0"/>
                </a:solidFill>
              </a:rPr>
              <a:t>Think about the labels in these applications:</a:t>
            </a:r>
          </a:p>
          <a:p>
            <a:r>
              <a:rPr lang="en-US" sz="3200" b="1" noProof="0" dirty="0">
                <a:solidFill>
                  <a:srgbClr val="00B0F0"/>
                </a:solidFill>
              </a:rPr>
              <a:t>Object detection?</a:t>
            </a:r>
          </a:p>
          <a:p>
            <a:pPr lvl="7"/>
            <a:r>
              <a:rPr lang="en-US" sz="3200" b="1" noProof="0" dirty="0">
                <a:solidFill>
                  <a:srgbClr val="00B0F0"/>
                </a:solidFill>
              </a:rPr>
              <a:t>Sound classification? </a:t>
            </a:r>
            <a:endParaRPr lang="en-US" sz="2400" b="1" noProof="0" dirty="0"/>
          </a:p>
          <a:p>
            <a:pPr marL="3657600" lvl="8" indent="0">
              <a:buNone/>
            </a:pPr>
            <a:endParaRPr lang="en-US" sz="2400" b="1" noProof="0" dirty="0">
              <a:solidFill>
                <a:srgbClr val="00B0F0"/>
              </a:solidFill>
            </a:endParaRPr>
          </a:p>
          <a:p>
            <a:pPr marL="0" indent="0">
              <a:buNone/>
            </a:pPr>
            <a:endParaRPr lang="en-US" sz="3200" b="1" noProof="0" dirty="0">
              <a:solidFill>
                <a:srgbClr val="00B0F0"/>
              </a:solidFill>
            </a:endParaRPr>
          </a:p>
        </p:txBody>
      </p:sp>
      <p:pic>
        <p:nvPicPr>
          <p:cNvPr id="6" name="Imagen 5">
            <a:extLst>
              <a:ext uri="{FF2B5EF4-FFF2-40B4-BE49-F238E27FC236}">
                <a16:creationId xmlns:a16="http://schemas.microsoft.com/office/drawing/2014/main" id="{39B0077F-C832-B788-3B87-DDC2C0AB47AB}"/>
              </a:ext>
            </a:extLst>
          </p:cNvPr>
          <p:cNvPicPr>
            <a:picLocks noChangeAspect="1"/>
          </p:cNvPicPr>
          <p:nvPr/>
        </p:nvPicPr>
        <p:blipFill>
          <a:blip r:embed="rId2"/>
          <a:stretch>
            <a:fillRect/>
          </a:stretch>
        </p:blipFill>
        <p:spPr>
          <a:xfrm>
            <a:off x="683568" y="2348880"/>
            <a:ext cx="1952625" cy="2857500"/>
          </a:xfrm>
          <a:prstGeom prst="rect">
            <a:avLst/>
          </a:prstGeom>
        </p:spPr>
      </p:pic>
      <p:pic>
        <p:nvPicPr>
          <p:cNvPr id="7" name="Imagen 6">
            <a:extLst>
              <a:ext uri="{FF2B5EF4-FFF2-40B4-BE49-F238E27FC236}">
                <a16:creationId xmlns:a16="http://schemas.microsoft.com/office/drawing/2014/main" id="{11F9BF03-E769-B086-93C6-21F499D686E8}"/>
              </a:ext>
            </a:extLst>
          </p:cNvPr>
          <p:cNvPicPr>
            <a:picLocks noChangeAspect="1"/>
          </p:cNvPicPr>
          <p:nvPr/>
        </p:nvPicPr>
        <p:blipFill>
          <a:blip r:embed="rId3"/>
          <a:stretch>
            <a:fillRect/>
          </a:stretch>
        </p:blipFill>
        <p:spPr>
          <a:xfrm>
            <a:off x="3035989" y="2932005"/>
            <a:ext cx="4660143" cy="2124477"/>
          </a:xfrm>
          <a:prstGeom prst="rect">
            <a:avLst/>
          </a:prstGeom>
        </p:spPr>
      </p:pic>
      <p:pic>
        <p:nvPicPr>
          <p:cNvPr id="20" name="Imagen 19">
            <a:extLst>
              <a:ext uri="{FF2B5EF4-FFF2-40B4-BE49-F238E27FC236}">
                <a16:creationId xmlns:a16="http://schemas.microsoft.com/office/drawing/2014/main" id="{9974A170-7EDF-EE4F-E7AB-871C75670509}"/>
              </a:ext>
            </a:extLst>
          </p:cNvPr>
          <p:cNvPicPr>
            <a:picLocks noChangeAspect="1"/>
          </p:cNvPicPr>
          <p:nvPr/>
        </p:nvPicPr>
        <p:blipFill>
          <a:blip r:embed="rId4">
            <a:duotone>
              <a:srgbClr val="FF4C00">
                <a:shade val="45000"/>
                <a:satMod val="135000"/>
              </a:srgbClr>
              <a:prstClr val="white"/>
            </a:duotone>
          </a:blip>
          <a:stretch>
            <a:fillRect/>
          </a:stretch>
        </p:blipFill>
        <p:spPr>
          <a:xfrm>
            <a:off x="4953949" y="5277266"/>
            <a:ext cx="2324524" cy="396833"/>
          </a:xfrm>
          <a:prstGeom prst="rect">
            <a:avLst/>
          </a:prstGeom>
        </p:spPr>
      </p:pic>
      <p:sp>
        <p:nvSpPr>
          <p:cNvPr id="21" name="CuadroTexto 20">
            <a:extLst>
              <a:ext uri="{FF2B5EF4-FFF2-40B4-BE49-F238E27FC236}">
                <a16:creationId xmlns:a16="http://schemas.microsoft.com/office/drawing/2014/main" id="{713FF455-A3ED-7F0F-6208-8F04941EEEE4}"/>
              </a:ext>
            </a:extLst>
          </p:cNvPr>
          <p:cNvSpPr txBox="1"/>
          <p:nvPr/>
        </p:nvSpPr>
        <p:spPr>
          <a:xfrm>
            <a:off x="3275856" y="5200498"/>
            <a:ext cx="629283" cy="369332"/>
          </a:xfrm>
          <a:prstGeom prst="rect">
            <a:avLst/>
          </a:prstGeom>
          <a:noFill/>
        </p:spPr>
        <p:txBody>
          <a:bodyPr wrap="square">
            <a:spAutoFit/>
          </a:bodyPr>
          <a:lstStyle/>
          <a:p>
            <a:r>
              <a:rPr lang="en-US" noProof="0" dirty="0">
                <a:solidFill>
                  <a:srgbClr val="ED7D31"/>
                </a:solidFill>
                <a:latin typeface="Trebuchet MS"/>
              </a:rPr>
              <a:t>Cars</a:t>
            </a:r>
          </a:p>
        </p:txBody>
      </p:sp>
      <p:pic>
        <p:nvPicPr>
          <p:cNvPr id="22" name="Imagen 21">
            <a:extLst>
              <a:ext uri="{FF2B5EF4-FFF2-40B4-BE49-F238E27FC236}">
                <a16:creationId xmlns:a16="http://schemas.microsoft.com/office/drawing/2014/main" id="{8C3D02DC-BF7C-A02D-C185-F067924A399B}"/>
              </a:ext>
            </a:extLst>
          </p:cNvPr>
          <p:cNvPicPr>
            <a:picLocks noChangeAspect="1"/>
          </p:cNvPicPr>
          <p:nvPr/>
        </p:nvPicPr>
        <p:blipFill>
          <a:blip r:embed="rId5"/>
          <a:stretch>
            <a:fillRect/>
          </a:stretch>
        </p:blipFill>
        <p:spPr>
          <a:xfrm>
            <a:off x="4995953" y="5660349"/>
            <a:ext cx="2282520" cy="404272"/>
          </a:xfrm>
          <a:prstGeom prst="rect">
            <a:avLst/>
          </a:prstGeom>
        </p:spPr>
      </p:pic>
      <p:sp>
        <p:nvSpPr>
          <p:cNvPr id="23" name="CuadroTexto 22">
            <a:extLst>
              <a:ext uri="{FF2B5EF4-FFF2-40B4-BE49-F238E27FC236}">
                <a16:creationId xmlns:a16="http://schemas.microsoft.com/office/drawing/2014/main" id="{5AD09D44-76E1-37BF-5955-A7485E993FEE}"/>
              </a:ext>
            </a:extLst>
          </p:cNvPr>
          <p:cNvSpPr txBox="1"/>
          <p:nvPr/>
        </p:nvSpPr>
        <p:spPr>
          <a:xfrm>
            <a:off x="3275856" y="5660837"/>
            <a:ext cx="2412459" cy="369332"/>
          </a:xfrm>
          <a:prstGeom prst="rect">
            <a:avLst/>
          </a:prstGeom>
          <a:noFill/>
        </p:spPr>
        <p:txBody>
          <a:bodyPr wrap="square">
            <a:spAutoFit/>
          </a:bodyPr>
          <a:lstStyle/>
          <a:p>
            <a:r>
              <a:rPr lang="en-US" noProof="0" dirty="0">
                <a:solidFill>
                  <a:srgbClr val="0070C0"/>
                </a:solidFill>
                <a:latin typeface="Trebuchet MS"/>
              </a:rPr>
              <a:t>People talking</a:t>
            </a:r>
          </a:p>
        </p:txBody>
      </p:sp>
      <p:sp>
        <p:nvSpPr>
          <p:cNvPr id="24" name="CuadroTexto 23">
            <a:extLst>
              <a:ext uri="{FF2B5EF4-FFF2-40B4-BE49-F238E27FC236}">
                <a16:creationId xmlns:a16="http://schemas.microsoft.com/office/drawing/2014/main" id="{FDB17028-DF2F-FFAE-B509-7DBC3AB3831F}"/>
              </a:ext>
            </a:extLst>
          </p:cNvPr>
          <p:cNvSpPr txBox="1"/>
          <p:nvPr/>
        </p:nvSpPr>
        <p:spPr>
          <a:xfrm>
            <a:off x="3275856" y="6125870"/>
            <a:ext cx="778332" cy="369332"/>
          </a:xfrm>
          <a:prstGeom prst="rect">
            <a:avLst/>
          </a:prstGeom>
          <a:noFill/>
        </p:spPr>
        <p:txBody>
          <a:bodyPr wrap="square">
            <a:spAutoFit/>
          </a:bodyPr>
          <a:lstStyle/>
          <a:p>
            <a:r>
              <a:rPr lang="en-US" noProof="0" dirty="0">
                <a:solidFill>
                  <a:srgbClr val="359018"/>
                </a:solidFill>
                <a:latin typeface="Trebuchet MS"/>
              </a:rPr>
              <a:t>Music</a:t>
            </a:r>
          </a:p>
        </p:txBody>
      </p:sp>
      <p:pic>
        <p:nvPicPr>
          <p:cNvPr id="25" name="Imagen 24">
            <a:extLst>
              <a:ext uri="{FF2B5EF4-FFF2-40B4-BE49-F238E27FC236}">
                <a16:creationId xmlns:a16="http://schemas.microsoft.com/office/drawing/2014/main" id="{A420BCD7-D084-6FA1-7950-1A44CAE0DF93}"/>
              </a:ext>
            </a:extLst>
          </p:cNvPr>
          <p:cNvPicPr>
            <a:picLocks noChangeAspect="1"/>
          </p:cNvPicPr>
          <p:nvPr/>
        </p:nvPicPr>
        <p:blipFill>
          <a:blip r:embed="rId6"/>
          <a:stretch>
            <a:fillRect/>
          </a:stretch>
        </p:blipFill>
        <p:spPr>
          <a:xfrm>
            <a:off x="5089814" y="6083975"/>
            <a:ext cx="2188659" cy="372924"/>
          </a:xfrm>
          <a:prstGeom prst="rect">
            <a:avLst/>
          </a:prstGeom>
        </p:spPr>
      </p:pic>
    </p:spTree>
    <p:extLst>
      <p:ext uri="{BB962C8B-B14F-4D97-AF65-F5344CB8AC3E}">
        <p14:creationId xmlns:p14="http://schemas.microsoft.com/office/powerpoint/2010/main" val="3049589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CF3A2-299B-6FDD-7DF1-48A9184B2D4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BFE869E-6EDC-B8B0-E904-A36689FDB234}"/>
              </a:ext>
            </a:extLst>
          </p:cNvPr>
          <p:cNvPicPr>
            <a:picLocks noChangeAspect="1"/>
          </p:cNvPicPr>
          <p:nvPr/>
        </p:nvPicPr>
        <p:blipFill>
          <a:blip r:embed="rId2"/>
          <a:stretch>
            <a:fillRect/>
          </a:stretch>
        </p:blipFill>
        <p:spPr>
          <a:xfrm>
            <a:off x="683568" y="476672"/>
            <a:ext cx="1296144" cy="1170304"/>
          </a:xfrm>
          <a:prstGeom prst="rect">
            <a:avLst/>
          </a:prstGeom>
        </p:spPr>
      </p:pic>
      <p:sp>
        <p:nvSpPr>
          <p:cNvPr id="6" name="CuadroTexto 5">
            <a:extLst>
              <a:ext uri="{FF2B5EF4-FFF2-40B4-BE49-F238E27FC236}">
                <a16:creationId xmlns:a16="http://schemas.microsoft.com/office/drawing/2014/main" id="{F03BA251-41E5-B574-6078-5999BCFBC643}"/>
              </a:ext>
            </a:extLst>
          </p:cNvPr>
          <p:cNvSpPr txBox="1"/>
          <p:nvPr/>
        </p:nvSpPr>
        <p:spPr>
          <a:xfrm>
            <a:off x="2290091" y="260648"/>
            <a:ext cx="6192688" cy="1569660"/>
          </a:xfrm>
          <a:prstGeom prst="rect">
            <a:avLst/>
          </a:prstGeom>
          <a:noFill/>
        </p:spPr>
        <p:txBody>
          <a:bodyPr wrap="square" rtlCol="0">
            <a:spAutoFit/>
          </a:bodyPr>
          <a:lstStyle/>
          <a:p>
            <a:r>
              <a:rPr lang="en-US" sz="3200" dirty="0"/>
              <a:t>Consider that sometimes you can decide more efficient or effective to change:</a:t>
            </a:r>
          </a:p>
        </p:txBody>
      </p:sp>
      <p:sp>
        <p:nvSpPr>
          <p:cNvPr id="7" name="CuadroTexto 6">
            <a:extLst>
              <a:ext uri="{FF2B5EF4-FFF2-40B4-BE49-F238E27FC236}">
                <a16:creationId xmlns:a16="http://schemas.microsoft.com/office/drawing/2014/main" id="{D1F9172A-D668-6435-F037-203B5959B894}"/>
              </a:ext>
            </a:extLst>
          </p:cNvPr>
          <p:cNvSpPr txBox="1"/>
          <p:nvPr/>
        </p:nvSpPr>
        <p:spPr>
          <a:xfrm>
            <a:off x="683568" y="1892371"/>
            <a:ext cx="8159176" cy="1569660"/>
          </a:xfrm>
          <a:prstGeom prst="rect">
            <a:avLst/>
          </a:prstGeom>
          <a:noFill/>
        </p:spPr>
        <p:txBody>
          <a:bodyPr wrap="square" rtlCol="0">
            <a:spAutoFit/>
          </a:bodyPr>
          <a:lstStyle/>
          <a:p>
            <a:endParaRPr lang="en-US" sz="3200" dirty="0"/>
          </a:p>
          <a:p>
            <a:pPr marL="457200" indent="-457200">
              <a:buFont typeface="Arial" panose="020B0604020202020204" pitchFamily="34" charset="0"/>
              <a:buChar char="•"/>
            </a:pPr>
            <a:r>
              <a:rPr lang="en-US" sz="3200" dirty="0"/>
              <a:t>A </a:t>
            </a:r>
            <a:r>
              <a:rPr lang="en-US" sz="3200" b="1" dirty="0">
                <a:solidFill>
                  <a:schemeClr val="accent6">
                    <a:lumMod val="75000"/>
                  </a:schemeClr>
                </a:solidFill>
              </a:rPr>
              <a:t>classification</a:t>
            </a:r>
            <a:r>
              <a:rPr lang="en-US" sz="3200" dirty="0"/>
              <a:t> problem into a </a:t>
            </a:r>
            <a:r>
              <a:rPr lang="en-US" sz="3200" b="1" dirty="0">
                <a:solidFill>
                  <a:srgbClr val="00B0F0"/>
                </a:solidFill>
              </a:rPr>
              <a:t>regression </a:t>
            </a:r>
            <a:r>
              <a:rPr lang="en-US" sz="3200" dirty="0"/>
              <a:t>one.</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2361943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9780D3A-74D9-0D5F-42AC-01F5001C8F21}"/>
              </a:ext>
            </a:extLst>
          </p:cNvPr>
          <p:cNvPicPr>
            <a:picLocks noChangeAspect="1"/>
          </p:cNvPicPr>
          <p:nvPr/>
        </p:nvPicPr>
        <p:blipFill>
          <a:blip r:embed="rId2"/>
          <a:stretch>
            <a:fillRect/>
          </a:stretch>
        </p:blipFill>
        <p:spPr>
          <a:xfrm>
            <a:off x="971600" y="3140968"/>
            <a:ext cx="7585472" cy="3219670"/>
          </a:xfrm>
          <a:prstGeom prst="rect">
            <a:avLst/>
          </a:prstGeom>
        </p:spPr>
      </p:pic>
      <p:sp>
        <p:nvSpPr>
          <p:cNvPr id="4" name="CuadroTexto 3">
            <a:extLst>
              <a:ext uri="{FF2B5EF4-FFF2-40B4-BE49-F238E27FC236}">
                <a16:creationId xmlns:a16="http://schemas.microsoft.com/office/drawing/2014/main" id="{2C265FE8-71C2-2B60-8B3E-F6CF1D2C32A6}"/>
              </a:ext>
            </a:extLst>
          </p:cNvPr>
          <p:cNvSpPr txBox="1"/>
          <p:nvPr/>
        </p:nvSpPr>
        <p:spPr>
          <a:xfrm>
            <a:off x="560441" y="260648"/>
            <a:ext cx="8023118" cy="2677656"/>
          </a:xfrm>
          <a:prstGeom prst="rect">
            <a:avLst/>
          </a:prstGeom>
          <a:solidFill>
            <a:srgbClr val="FFFFFF"/>
          </a:solidFill>
          <a:ln>
            <a:solidFill>
              <a:srgbClr val="C00000"/>
            </a:solidFill>
          </a:ln>
        </p:spPr>
        <p:txBody>
          <a:bodyPr wrap="square">
            <a:spAutoFit/>
          </a:bodyPr>
          <a:lstStyle/>
          <a:p>
            <a:r>
              <a:rPr lang="en-US" sz="2800" dirty="0"/>
              <a:t>In first versions of </a:t>
            </a:r>
            <a:r>
              <a:rPr lang="en-US" sz="2800" b="1" dirty="0"/>
              <a:t>image segmentation YOLO </a:t>
            </a:r>
            <a:r>
              <a:rPr lang="en-US" sz="2800" dirty="0"/>
              <a:t>algorithm object detection was addressed as a single regression problem:</a:t>
            </a:r>
          </a:p>
          <a:p>
            <a:pPr marL="457200" indent="-457200">
              <a:buFont typeface="Courier New" panose="02070309020205020404" pitchFamily="49" charset="0"/>
              <a:buChar char="o"/>
            </a:pPr>
            <a:r>
              <a:rPr lang="en-US" sz="2800" dirty="0"/>
              <a:t>predicting bounding boxes (location and size)</a:t>
            </a:r>
          </a:p>
          <a:p>
            <a:pPr marL="457200" indent="-457200">
              <a:buFont typeface="Courier New" panose="02070309020205020404" pitchFamily="49" charset="0"/>
              <a:buChar char="o"/>
            </a:pPr>
            <a:r>
              <a:rPr lang="en-US" sz="2800" dirty="0"/>
              <a:t>and class probabilities simultaneously from an image in one pass.</a:t>
            </a:r>
          </a:p>
        </p:txBody>
      </p:sp>
    </p:spTree>
    <p:extLst>
      <p:ext uri="{BB962C8B-B14F-4D97-AF65-F5344CB8AC3E}">
        <p14:creationId xmlns:p14="http://schemas.microsoft.com/office/powerpoint/2010/main" val="1548996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7A02328-83A8-A5D4-CE09-3410FB87151F}"/>
              </a:ext>
            </a:extLst>
          </p:cNvPr>
          <p:cNvPicPr>
            <a:picLocks noChangeAspect="1"/>
          </p:cNvPicPr>
          <p:nvPr/>
        </p:nvPicPr>
        <p:blipFill>
          <a:blip r:embed="rId2"/>
          <a:stretch>
            <a:fillRect/>
          </a:stretch>
        </p:blipFill>
        <p:spPr>
          <a:xfrm>
            <a:off x="683568" y="476672"/>
            <a:ext cx="1296144" cy="1170304"/>
          </a:xfrm>
          <a:prstGeom prst="rect">
            <a:avLst/>
          </a:prstGeom>
        </p:spPr>
      </p:pic>
      <p:sp>
        <p:nvSpPr>
          <p:cNvPr id="6" name="CuadroTexto 5">
            <a:extLst>
              <a:ext uri="{FF2B5EF4-FFF2-40B4-BE49-F238E27FC236}">
                <a16:creationId xmlns:a16="http://schemas.microsoft.com/office/drawing/2014/main" id="{F8ED8F39-284E-7510-54D6-89BAE895A016}"/>
              </a:ext>
            </a:extLst>
          </p:cNvPr>
          <p:cNvSpPr txBox="1"/>
          <p:nvPr/>
        </p:nvSpPr>
        <p:spPr>
          <a:xfrm>
            <a:off x="2290091" y="260648"/>
            <a:ext cx="6192688" cy="1569660"/>
          </a:xfrm>
          <a:prstGeom prst="rect">
            <a:avLst/>
          </a:prstGeom>
          <a:noFill/>
        </p:spPr>
        <p:txBody>
          <a:bodyPr wrap="square" rtlCol="0">
            <a:spAutoFit/>
          </a:bodyPr>
          <a:lstStyle/>
          <a:p>
            <a:r>
              <a:rPr lang="en-US" sz="3200" dirty="0"/>
              <a:t>Consider that sometimes you can decide more efficient or effective to change:</a:t>
            </a:r>
          </a:p>
        </p:txBody>
      </p:sp>
      <p:sp>
        <p:nvSpPr>
          <p:cNvPr id="7" name="CuadroTexto 6">
            <a:extLst>
              <a:ext uri="{FF2B5EF4-FFF2-40B4-BE49-F238E27FC236}">
                <a16:creationId xmlns:a16="http://schemas.microsoft.com/office/drawing/2014/main" id="{3AD72FD4-DABC-48F4-8AA8-326784C0C68D}"/>
              </a:ext>
            </a:extLst>
          </p:cNvPr>
          <p:cNvSpPr txBox="1"/>
          <p:nvPr/>
        </p:nvSpPr>
        <p:spPr>
          <a:xfrm>
            <a:off x="673681" y="2473148"/>
            <a:ext cx="8159176" cy="2554545"/>
          </a:xfrm>
          <a:prstGeom prst="rect">
            <a:avLst/>
          </a:prstGeom>
          <a:noFill/>
        </p:spPr>
        <p:txBody>
          <a:bodyPr wrap="square" rtlCol="0">
            <a:spAutoFit/>
          </a:bodyPr>
          <a:lstStyle/>
          <a:p>
            <a:endParaRPr lang="en-US" sz="3200" dirty="0"/>
          </a:p>
          <a:p>
            <a:pPr marL="457200" indent="-457200">
              <a:buFont typeface="Arial" panose="020B0604020202020204" pitchFamily="34" charset="0"/>
              <a:buChar char="•"/>
            </a:pPr>
            <a:r>
              <a:rPr lang="en-US" sz="3200" dirty="0"/>
              <a:t>A </a:t>
            </a:r>
            <a:r>
              <a:rPr lang="en-US" sz="3200" b="1" dirty="0">
                <a:solidFill>
                  <a:schemeClr val="accent6">
                    <a:lumMod val="75000"/>
                  </a:schemeClr>
                </a:solidFill>
              </a:rPr>
              <a:t>classification</a:t>
            </a:r>
            <a:r>
              <a:rPr lang="en-US" sz="3200" dirty="0"/>
              <a:t> problem into a </a:t>
            </a:r>
            <a:r>
              <a:rPr lang="en-US" sz="3200" b="1" dirty="0">
                <a:solidFill>
                  <a:srgbClr val="00B0F0"/>
                </a:solidFill>
              </a:rPr>
              <a:t>regression </a:t>
            </a:r>
            <a:r>
              <a:rPr lang="en-US" sz="3200" dirty="0"/>
              <a:t>one.</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200" dirty="0"/>
              <a:t>A </a:t>
            </a:r>
            <a:r>
              <a:rPr lang="en-US" sz="3200" b="1" dirty="0">
                <a:solidFill>
                  <a:srgbClr val="00B0F0"/>
                </a:solidFill>
              </a:rPr>
              <a:t>regression</a:t>
            </a:r>
            <a:r>
              <a:rPr lang="en-US" sz="3200" dirty="0"/>
              <a:t> problem into a </a:t>
            </a:r>
            <a:r>
              <a:rPr lang="en-US" sz="3200" b="1" dirty="0">
                <a:solidFill>
                  <a:schemeClr val="accent6">
                    <a:lumMod val="75000"/>
                  </a:schemeClr>
                </a:solidFill>
              </a:rPr>
              <a:t>classification</a:t>
            </a:r>
            <a:r>
              <a:rPr lang="en-US" sz="3200" dirty="0"/>
              <a:t> one.</a:t>
            </a:r>
          </a:p>
          <a:p>
            <a:pPr marL="457200" indent="-457200">
              <a:buFont typeface="Arial" panose="020B0604020202020204" pitchFamily="34" charset="0"/>
              <a:buChar char="•"/>
            </a:pPr>
            <a:endParaRPr lang="en-US" sz="3200" dirty="0"/>
          </a:p>
        </p:txBody>
      </p:sp>
    </p:spTree>
    <p:extLst>
      <p:ext uri="{BB962C8B-B14F-4D97-AF65-F5344CB8AC3E}">
        <p14:creationId xmlns:p14="http://schemas.microsoft.com/office/powerpoint/2010/main" val="331406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68FFCDD-E009-BB90-29BE-8C4816565D10}"/>
              </a:ext>
            </a:extLst>
          </p:cNvPr>
          <p:cNvSpPr txBox="1"/>
          <p:nvPr/>
        </p:nvSpPr>
        <p:spPr>
          <a:xfrm>
            <a:off x="1043608" y="2348880"/>
            <a:ext cx="7344816" cy="2308324"/>
          </a:xfrm>
          <a:prstGeom prst="rect">
            <a:avLst/>
          </a:prstGeom>
          <a:noFill/>
        </p:spPr>
        <p:txBody>
          <a:bodyPr wrap="square">
            <a:spAutoFit/>
          </a:bodyPr>
          <a:lstStyle/>
          <a:p>
            <a:r>
              <a:rPr lang="en-US" sz="3600" dirty="0"/>
              <a:t>For example, instead of predicting the exact Sleep Apnea Index of a patient (regression), you can classify as “healthy" or "severe" (classification).</a:t>
            </a:r>
          </a:p>
        </p:txBody>
      </p:sp>
      <p:sp>
        <p:nvSpPr>
          <p:cNvPr id="10" name="CuadroTexto 9">
            <a:extLst>
              <a:ext uri="{FF2B5EF4-FFF2-40B4-BE49-F238E27FC236}">
                <a16:creationId xmlns:a16="http://schemas.microsoft.com/office/drawing/2014/main" id="{40BFE07A-12E6-FCA7-96B3-82F5722346B0}"/>
              </a:ext>
            </a:extLst>
          </p:cNvPr>
          <p:cNvSpPr txBox="1"/>
          <p:nvPr/>
        </p:nvSpPr>
        <p:spPr>
          <a:xfrm>
            <a:off x="323528" y="533847"/>
            <a:ext cx="7848872" cy="1077218"/>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200" dirty="0">
                <a:solidFill>
                  <a:prstClr val="black"/>
                </a:solidFill>
                <a:latin typeface="Calibri Light"/>
              </a:rPr>
              <a:t>Convert you</a:t>
            </a:r>
            <a:r>
              <a:rPr kumimoji="0" lang="en-US" sz="3200" b="0" i="0" u="none" strike="noStrike" kern="1200" cap="none" spc="0" normalizeH="0" baseline="0" noProof="0" dirty="0">
                <a:ln>
                  <a:noFill/>
                </a:ln>
                <a:solidFill>
                  <a:prstClr val="black"/>
                </a:solidFill>
                <a:effectLst/>
                <a:uLnTx/>
                <a:uFillTx/>
                <a:latin typeface="Calibri Light"/>
                <a:ea typeface="+mn-ea"/>
                <a:cs typeface="+mn-cs"/>
              </a:rPr>
              <a:t> </a:t>
            </a:r>
            <a:r>
              <a:rPr kumimoji="0" lang="en-US" sz="3200" b="1" i="0" u="none" strike="noStrike" kern="1200" cap="none" spc="0" normalizeH="0" baseline="0" noProof="0" dirty="0">
                <a:ln>
                  <a:noFill/>
                </a:ln>
                <a:solidFill>
                  <a:srgbClr val="00B0F0"/>
                </a:solidFill>
                <a:effectLst/>
                <a:uLnTx/>
                <a:uFillTx/>
                <a:latin typeface="Calibri Light"/>
                <a:ea typeface="+mn-ea"/>
                <a:cs typeface="+mn-cs"/>
              </a:rPr>
              <a:t>regression</a:t>
            </a:r>
            <a:r>
              <a:rPr kumimoji="0" lang="en-US" sz="3200" b="0" i="0" u="none" strike="noStrike" kern="1200" cap="none" spc="0" normalizeH="0" baseline="0" noProof="0" dirty="0">
                <a:ln>
                  <a:noFill/>
                </a:ln>
                <a:solidFill>
                  <a:prstClr val="black"/>
                </a:solidFill>
                <a:effectLst/>
                <a:uLnTx/>
                <a:uFillTx/>
                <a:latin typeface="Calibri Light"/>
                <a:ea typeface="+mn-ea"/>
                <a:cs typeface="+mn-cs"/>
              </a:rPr>
              <a:t> problem into a </a:t>
            </a:r>
            <a:r>
              <a:rPr kumimoji="0" lang="en-US" sz="3200" b="1" i="0" u="none" strike="noStrike" kern="1200" cap="none" spc="0" normalizeH="0" baseline="0" noProof="0" dirty="0">
                <a:ln>
                  <a:noFill/>
                </a:ln>
                <a:solidFill>
                  <a:srgbClr val="F79646">
                    <a:lumMod val="75000"/>
                  </a:srgbClr>
                </a:solidFill>
                <a:effectLst/>
                <a:uLnTx/>
                <a:uFillTx/>
                <a:latin typeface="Calibri Light"/>
                <a:ea typeface="+mn-ea"/>
                <a:cs typeface="+mn-cs"/>
              </a:rPr>
              <a:t>classification</a:t>
            </a:r>
            <a:r>
              <a:rPr lang="en-US" sz="3200" dirty="0">
                <a:solidFill>
                  <a:prstClr val="black"/>
                </a:solidFill>
                <a:latin typeface="Calibri Light"/>
              </a:rPr>
              <a:t> problem</a:t>
            </a:r>
            <a:r>
              <a:rPr kumimoji="0" lang="en-US" sz="3200" b="0" i="0" u="none" strike="noStrike" kern="1200" cap="none" spc="0" normalizeH="0" baseline="0" noProof="0" dirty="0">
                <a:ln>
                  <a:noFill/>
                </a:ln>
                <a:solidFill>
                  <a:prstClr val="black"/>
                </a:solidFill>
                <a:effectLst/>
                <a:uLnTx/>
                <a:uFillTx/>
                <a:latin typeface="Calibri Light"/>
                <a:ea typeface="+mn-ea"/>
                <a:cs typeface="+mn-cs"/>
              </a:rPr>
              <a:t>.</a:t>
            </a:r>
          </a:p>
        </p:txBody>
      </p:sp>
    </p:spTree>
    <p:extLst>
      <p:ext uri="{BB962C8B-B14F-4D97-AF65-F5344CB8AC3E}">
        <p14:creationId xmlns:p14="http://schemas.microsoft.com/office/powerpoint/2010/main" val="4187594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713C5-6049-28A9-F23B-76E41E2D85B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EE313FB5-E363-1B76-4762-0ED39D6F09BE}"/>
              </a:ext>
            </a:extLst>
          </p:cNvPr>
          <p:cNvPicPr>
            <a:picLocks noChangeAspect="1"/>
          </p:cNvPicPr>
          <p:nvPr/>
        </p:nvPicPr>
        <p:blipFill>
          <a:blip r:embed="rId2"/>
          <a:stretch>
            <a:fillRect/>
          </a:stretch>
        </p:blipFill>
        <p:spPr>
          <a:xfrm>
            <a:off x="683568" y="476672"/>
            <a:ext cx="1296144" cy="1170304"/>
          </a:xfrm>
          <a:prstGeom prst="rect">
            <a:avLst/>
          </a:prstGeom>
        </p:spPr>
      </p:pic>
      <p:sp>
        <p:nvSpPr>
          <p:cNvPr id="6" name="CuadroTexto 5">
            <a:extLst>
              <a:ext uri="{FF2B5EF4-FFF2-40B4-BE49-F238E27FC236}">
                <a16:creationId xmlns:a16="http://schemas.microsoft.com/office/drawing/2014/main" id="{E0D81A13-B684-CC33-3AC7-2EF351CCC12C}"/>
              </a:ext>
            </a:extLst>
          </p:cNvPr>
          <p:cNvSpPr txBox="1"/>
          <p:nvPr/>
        </p:nvSpPr>
        <p:spPr>
          <a:xfrm>
            <a:off x="2483768" y="584002"/>
            <a:ext cx="6192688" cy="1077218"/>
          </a:xfrm>
          <a:prstGeom prst="rect">
            <a:avLst/>
          </a:prstGeom>
          <a:noFill/>
        </p:spPr>
        <p:txBody>
          <a:bodyPr wrap="square" rtlCol="0">
            <a:spAutoFit/>
          </a:bodyPr>
          <a:lstStyle/>
          <a:p>
            <a:r>
              <a:rPr lang="en-US" sz="3200" dirty="0"/>
              <a:t>Also know about different classification tasks:</a:t>
            </a:r>
          </a:p>
        </p:txBody>
      </p:sp>
      <p:sp>
        <p:nvSpPr>
          <p:cNvPr id="8" name="CuadroTexto 7">
            <a:extLst>
              <a:ext uri="{FF2B5EF4-FFF2-40B4-BE49-F238E27FC236}">
                <a16:creationId xmlns:a16="http://schemas.microsoft.com/office/drawing/2014/main" id="{A47CC391-D7AF-BF7B-0B28-7B99F1818A9B}"/>
              </a:ext>
            </a:extLst>
          </p:cNvPr>
          <p:cNvSpPr txBox="1"/>
          <p:nvPr/>
        </p:nvSpPr>
        <p:spPr>
          <a:xfrm>
            <a:off x="1547664" y="2492896"/>
            <a:ext cx="6264696" cy="2554545"/>
          </a:xfrm>
          <a:prstGeom prst="rect">
            <a:avLst/>
          </a:prstGeom>
          <a:solidFill>
            <a:srgbClr val="FFFFFF"/>
          </a:solidFill>
          <a:ln>
            <a:solidFill>
              <a:srgbClr val="C00000"/>
            </a:solidFill>
          </a:ln>
        </p:spPr>
        <p:txBody>
          <a:bodyPr wrap="square">
            <a:spAutoFit/>
          </a:bodyPr>
          <a:lstStyle>
            <a:defPPr>
              <a:defRPr lang="es-ES"/>
            </a:defPPr>
            <a:lvl1pPr>
              <a:defRPr sz="2800"/>
            </a:lvl1pPr>
          </a:lstStyle>
          <a:p>
            <a:pPr marL="457200" indent="-457200">
              <a:buFont typeface="Arial" panose="020B0604020202020204" pitchFamily="34" charset="0"/>
              <a:buChar char="•"/>
            </a:pPr>
            <a:r>
              <a:rPr lang="en-US" b="1" dirty="0"/>
              <a:t>Binary</a:t>
            </a:r>
            <a:r>
              <a:rPr lang="en-US" dirty="0"/>
              <a:t> classification</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b="1" dirty="0"/>
              <a:t>Multiclass</a:t>
            </a:r>
            <a:r>
              <a:rPr lang="en-US" dirty="0"/>
              <a:t> classification</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r>
              <a:rPr lang="en-US" dirty="0"/>
              <a:t>Multiclass </a:t>
            </a:r>
            <a:r>
              <a:rPr lang="en-US" b="1" dirty="0"/>
              <a:t>Multilabel </a:t>
            </a:r>
            <a:r>
              <a:rPr lang="en-US" dirty="0"/>
              <a:t>classification</a:t>
            </a:r>
          </a:p>
        </p:txBody>
      </p:sp>
    </p:spTree>
    <p:extLst>
      <p:ext uri="{BB962C8B-B14F-4D97-AF65-F5344CB8AC3E}">
        <p14:creationId xmlns:p14="http://schemas.microsoft.com/office/powerpoint/2010/main" val="3982336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nterfaz de usuario gráfica&#10;&#10;Descripción generada automáticamente con confianza baja">
            <a:extLst>
              <a:ext uri="{FF2B5EF4-FFF2-40B4-BE49-F238E27FC236}">
                <a16:creationId xmlns:a16="http://schemas.microsoft.com/office/drawing/2014/main" id="{4DEB8BF0-E736-8B65-83DF-B3FEF211D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61" y="476672"/>
            <a:ext cx="9144000" cy="5177065"/>
          </a:xfrm>
          <a:prstGeom prst="rect">
            <a:avLst/>
          </a:prstGeom>
        </p:spPr>
      </p:pic>
      <p:sp>
        <p:nvSpPr>
          <p:cNvPr id="8" name="CuadroTexto 7">
            <a:extLst>
              <a:ext uri="{FF2B5EF4-FFF2-40B4-BE49-F238E27FC236}">
                <a16:creationId xmlns:a16="http://schemas.microsoft.com/office/drawing/2014/main" id="{0A59DA27-B856-A21C-4749-6161EFBC9543}"/>
              </a:ext>
            </a:extLst>
          </p:cNvPr>
          <p:cNvSpPr txBox="1"/>
          <p:nvPr/>
        </p:nvSpPr>
        <p:spPr>
          <a:xfrm>
            <a:off x="899592" y="5805264"/>
            <a:ext cx="7992888" cy="646331"/>
          </a:xfrm>
          <a:prstGeom prst="rect">
            <a:avLst/>
          </a:prstGeom>
          <a:noFill/>
        </p:spPr>
        <p:txBody>
          <a:bodyPr wrap="square">
            <a:spAutoFit/>
          </a:bodyPr>
          <a:lstStyle/>
          <a:p>
            <a:r>
              <a:rPr lang="en-US" noProof="0" dirty="0">
                <a:hlinkClick r:id="rId3"/>
              </a:rPr>
              <a:t>https://medium.com/@saugata.paul1010/a-detailed-case-study-on-multi-label-classification-with-machine-learning-algorithms-and-72031742c9aa</a:t>
            </a:r>
            <a:r>
              <a:rPr lang="en-US" noProof="0" dirty="0"/>
              <a:t> </a:t>
            </a:r>
          </a:p>
        </p:txBody>
      </p:sp>
    </p:spTree>
    <p:extLst>
      <p:ext uri="{BB962C8B-B14F-4D97-AF65-F5344CB8AC3E}">
        <p14:creationId xmlns:p14="http://schemas.microsoft.com/office/powerpoint/2010/main" val="3462351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B121CE3-E474-B4DB-B4AB-FC48B897B32E}"/>
              </a:ext>
            </a:extLst>
          </p:cNvPr>
          <p:cNvPicPr>
            <a:picLocks noChangeAspect="1"/>
          </p:cNvPicPr>
          <p:nvPr/>
        </p:nvPicPr>
        <p:blipFill>
          <a:blip r:embed="rId2"/>
          <a:stretch>
            <a:fillRect/>
          </a:stretch>
        </p:blipFill>
        <p:spPr>
          <a:xfrm>
            <a:off x="683568" y="620688"/>
            <a:ext cx="1224136" cy="1230863"/>
          </a:xfrm>
          <a:prstGeom prst="rect">
            <a:avLst/>
          </a:prstGeom>
        </p:spPr>
      </p:pic>
      <p:sp>
        <p:nvSpPr>
          <p:cNvPr id="4" name="CuadroTexto 3">
            <a:extLst>
              <a:ext uri="{FF2B5EF4-FFF2-40B4-BE49-F238E27FC236}">
                <a16:creationId xmlns:a16="http://schemas.microsoft.com/office/drawing/2014/main" id="{F7A787EE-6963-9E8D-1337-CCD86FC5F4B4}"/>
              </a:ext>
            </a:extLst>
          </p:cNvPr>
          <p:cNvSpPr txBox="1"/>
          <p:nvPr/>
        </p:nvSpPr>
        <p:spPr>
          <a:xfrm>
            <a:off x="2267744" y="451289"/>
            <a:ext cx="6192688" cy="1569660"/>
          </a:xfrm>
          <a:prstGeom prst="rect">
            <a:avLst/>
          </a:prstGeom>
          <a:noFill/>
        </p:spPr>
        <p:txBody>
          <a:bodyPr wrap="square" rtlCol="0">
            <a:spAutoFit/>
          </a:bodyPr>
          <a:lstStyle/>
          <a:p>
            <a:r>
              <a:rPr lang="en-US" sz="3200" dirty="0"/>
              <a:t>What would be the outputs of a </a:t>
            </a:r>
            <a:r>
              <a:rPr lang="en-US" sz="3200" b="1" dirty="0">
                <a:solidFill>
                  <a:srgbClr val="C00000"/>
                </a:solidFill>
              </a:rPr>
              <a:t>classification algorithm </a:t>
            </a:r>
            <a:r>
              <a:rPr lang="en-US" sz="3200" dirty="0"/>
              <a:t>for these different tasks?</a:t>
            </a:r>
          </a:p>
        </p:txBody>
      </p:sp>
      <p:sp>
        <p:nvSpPr>
          <p:cNvPr id="5" name="Rectángulo: esquinas redondeadas 4">
            <a:extLst>
              <a:ext uri="{FF2B5EF4-FFF2-40B4-BE49-F238E27FC236}">
                <a16:creationId xmlns:a16="http://schemas.microsoft.com/office/drawing/2014/main" id="{71E0D300-6BBB-BBA8-FB5A-9FF461B25213}"/>
              </a:ext>
            </a:extLst>
          </p:cNvPr>
          <p:cNvSpPr/>
          <p:nvPr/>
        </p:nvSpPr>
        <p:spPr>
          <a:xfrm>
            <a:off x="2931327" y="2420888"/>
            <a:ext cx="3280575" cy="1733277"/>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b="1" dirty="0"/>
              <a:t>Machine Learning</a:t>
            </a:r>
          </a:p>
          <a:p>
            <a:pPr algn="ctr"/>
            <a:r>
              <a:rPr lang="en-US" sz="2000" b="1" dirty="0"/>
              <a:t>Deep Learning</a:t>
            </a:r>
          </a:p>
          <a:p>
            <a:pPr algn="ctr"/>
            <a:r>
              <a:rPr lang="en-US" sz="2000" b="1" dirty="0"/>
              <a:t>AI</a:t>
            </a:r>
          </a:p>
          <a:p>
            <a:pPr algn="ctr"/>
            <a:r>
              <a:rPr lang="en-US" sz="2000" b="1" dirty="0"/>
              <a:t>Classification Algorithm</a:t>
            </a:r>
            <a:endParaRPr lang="en-US" sz="2400" b="1" dirty="0"/>
          </a:p>
        </p:txBody>
      </p:sp>
      <p:cxnSp>
        <p:nvCxnSpPr>
          <p:cNvPr id="7" name="Conector recto de flecha 6">
            <a:extLst>
              <a:ext uri="{FF2B5EF4-FFF2-40B4-BE49-F238E27FC236}">
                <a16:creationId xmlns:a16="http://schemas.microsoft.com/office/drawing/2014/main" id="{1331EBE6-CA01-9D00-32E4-A1193C6D6841}"/>
              </a:ext>
            </a:extLst>
          </p:cNvPr>
          <p:cNvCxnSpPr>
            <a:cxnSpLocks/>
            <a:stCxn id="13" idx="2"/>
            <a:endCxn id="5" idx="1"/>
          </p:cNvCxnSpPr>
          <p:nvPr/>
        </p:nvCxnSpPr>
        <p:spPr>
          <a:xfrm>
            <a:off x="1523926" y="3287526"/>
            <a:ext cx="1407401" cy="1"/>
          </a:xfrm>
          <a:prstGeom prst="straightConnector1">
            <a:avLst/>
          </a:prstGeom>
          <a:ln w="349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345CF96A-1132-A59D-073D-89ADFBEEE942}"/>
              </a:ext>
            </a:extLst>
          </p:cNvPr>
          <p:cNvCxnSpPr>
            <a:cxnSpLocks/>
          </p:cNvCxnSpPr>
          <p:nvPr/>
        </p:nvCxnSpPr>
        <p:spPr>
          <a:xfrm>
            <a:off x="6211902" y="2830716"/>
            <a:ext cx="720080" cy="1"/>
          </a:xfrm>
          <a:prstGeom prst="straightConnector1">
            <a:avLst/>
          </a:prstGeom>
          <a:ln w="349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81AA53E0-4AC5-75AA-5353-503DD4862AAA}"/>
              </a:ext>
            </a:extLst>
          </p:cNvPr>
          <p:cNvCxnSpPr>
            <a:cxnSpLocks/>
          </p:cNvCxnSpPr>
          <p:nvPr/>
        </p:nvCxnSpPr>
        <p:spPr>
          <a:xfrm>
            <a:off x="6214856" y="3140968"/>
            <a:ext cx="720080" cy="1"/>
          </a:xfrm>
          <a:prstGeom prst="straightConnector1">
            <a:avLst/>
          </a:prstGeom>
          <a:ln w="349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779FA747-5803-2281-5D85-5C88CB098DAC}"/>
              </a:ext>
            </a:extLst>
          </p:cNvPr>
          <p:cNvCxnSpPr>
            <a:cxnSpLocks/>
          </p:cNvCxnSpPr>
          <p:nvPr/>
        </p:nvCxnSpPr>
        <p:spPr>
          <a:xfrm>
            <a:off x="6212956" y="3779562"/>
            <a:ext cx="720080" cy="1"/>
          </a:xfrm>
          <a:prstGeom prst="straightConnector1">
            <a:avLst/>
          </a:prstGeom>
          <a:ln w="349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6F10A587-90A2-77AA-9082-41C9650FCFD2}"/>
                  </a:ext>
                </a:extLst>
              </p:cNvPr>
              <p:cNvSpPr txBox="1"/>
              <p:nvPr/>
            </p:nvSpPr>
            <p:spPr>
              <a:xfrm>
                <a:off x="910617" y="2764306"/>
                <a:ext cx="1226618" cy="523220"/>
              </a:xfrm>
              <a:prstGeom prst="rect">
                <a:avLst/>
              </a:prstGeom>
              <a:noFill/>
            </p:spPr>
            <p:txBody>
              <a:bodyPr wrap="none" rtlCol="0">
                <a:spAutoFit/>
              </a:bodyPr>
              <a:lstStyle/>
              <a:p>
                <a14:m>
                  <m:oMath xmlns:m="http://schemas.openxmlformats.org/officeDocument/2006/math">
                    <m:r>
                      <a:rPr lang="es-ES" sz="2800" b="1" i="1" smtClean="0">
                        <a:latin typeface="Cambria Math" panose="02040503050406030204" pitchFamily="18" charset="0"/>
                      </a:rPr>
                      <m:t>𝒙</m:t>
                    </m:r>
                  </m:oMath>
                </a14:m>
                <a:r>
                  <a:rPr lang="en-US" sz="2800" b="1" dirty="0"/>
                  <a:t> </a:t>
                </a:r>
                <a:r>
                  <a:rPr lang="en-US" sz="2800" dirty="0"/>
                  <a:t>input</a:t>
                </a:r>
              </a:p>
            </p:txBody>
          </p:sp>
        </mc:Choice>
        <mc:Fallback xmlns="">
          <p:sp>
            <p:nvSpPr>
              <p:cNvPr id="13" name="CuadroTexto 12">
                <a:extLst>
                  <a:ext uri="{FF2B5EF4-FFF2-40B4-BE49-F238E27FC236}">
                    <a16:creationId xmlns:a16="http://schemas.microsoft.com/office/drawing/2014/main" id="{6F10A587-90A2-77AA-9082-41C9650FCFD2}"/>
                  </a:ext>
                </a:extLst>
              </p:cNvPr>
              <p:cNvSpPr txBox="1">
                <a:spLocks noRot="1" noChangeAspect="1" noMove="1" noResize="1" noEditPoints="1" noAdjustHandles="1" noChangeArrowheads="1" noChangeShapeType="1" noTextEdit="1"/>
              </p:cNvSpPr>
              <p:nvPr/>
            </p:nvSpPr>
            <p:spPr>
              <a:xfrm>
                <a:off x="910617" y="2764306"/>
                <a:ext cx="1226618" cy="523220"/>
              </a:xfrm>
              <a:prstGeom prst="rect">
                <a:avLst/>
              </a:prstGeom>
              <a:blipFill>
                <a:blip r:embed="rId3"/>
                <a:stretch>
                  <a:fillRect t="-10465" r="-8911"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DF9D60E8-E57D-7D60-320E-7CF5883FD0A9}"/>
                  </a:ext>
                </a:extLst>
              </p:cNvPr>
              <p:cNvSpPr txBox="1"/>
              <p:nvPr/>
            </p:nvSpPr>
            <p:spPr>
              <a:xfrm>
                <a:off x="7024027" y="2292107"/>
                <a:ext cx="1462260" cy="1077218"/>
              </a:xfrm>
              <a:prstGeom prst="rect">
                <a:avLst/>
              </a:prstGeom>
              <a:noFill/>
            </p:spPr>
            <p:txBody>
              <a:bodyPr wrap="none" rtlCol="0">
                <a:spAutoFit/>
              </a:bodyPr>
              <a:lstStyle/>
              <a:p>
                <a14:m>
                  <m:oMath xmlns:m="http://schemas.openxmlformats.org/officeDocument/2006/math">
                    <m:r>
                      <a:rPr lang="es-ES" sz="2800" b="1" i="1" smtClean="0">
                        <a:latin typeface="Cambria Math" panose="02040503050406030204" pitchFamily="18" charset="0"/>
                      </a:rPr>
                      <m:t>𝒚</m:t>
                    </m:r>
                  </m:oMath>
                </a14:m>
                <a:r>
                  <a:rPr lang="en-US" sz="2800" b="1" dirty="0"/>
                  <a:t> </a:t>
                </a:r>
                <a:r>
                  <a:rPr lang="en-US" sz="2800" dirty="0"/>
                  <a:t>output</a:t>
                </a:r>
              </a:p>
              <a:p>
                <a:pPr algn="ctr"/>
                <a:r>
                  <a:rPr lang="en-US" sz="3600" b="1" dirty="0">
                    <a:solidFill>
                      <a:srgbClr val="C00000"/>
                    </a:solidFill>
                  </a:rPr>
                  <a:t>?</a:t>
                </a:r>
              </a:p>
            </p:txBody>
          </p:sp>
        </mc:Choice>
        <mc:Fallback xmlns="">
          <p:sp>
            <p:nvSpPr>
              <p:cNvPr id="20" name="CuadroTexto 19">
                <a:extLst>
                  <a:ext uri="{FF2B5EF4-FFF2-40B4-BE49-F238E27FC236}">
                    <a16:creationId xmlns:a16="http://schemas.microsoft.com/office/drawing/2014/main" id="{DF9D60E8-E57D-7D60-320E-7CF5883FD0A9}"/>
                  </a:ext>
                </a:extLst>
              </p:cNvPr>
              <p:cNvSpPr txBox="1">
                <a:spLocks noRot="1" noChangeAspect="1" noMove="1" noResize="1" noEditPoints="1" noAdjustHandles="1" noChangeArrowheads="1" noChangeShapeType="1" noTextEdit="1"/>
              </p:cNvSpPr>
              <p:nvPr/>
            </p:nvSpPr>
            <p:spPr>
              <a:xfrm>
                <a:off x="7024027" y="2292107"/>
                <a:ext cx="1462260" cy="1077218"/>
              </a:xfrm>
              <a:prstGeom prst="rect">
                <a:avLst/>
              </a:prstGeom>
              <a:blipFill>
                <a:blip r:embed="rId4"/>
                <a:stretch>
                  <a:fillRect t="-5085" r="-7083" b="-203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FEF8BCE8-A56E-C3D7-F528-2E68CABBF55E}"/>
                  </a:ext>
                </a:extLst>
              </p:cNvPr>
              <p:cNvSpPr txBox="1"/>
              <p:nvPr/>
            </p:nvSpPr>
            <p:spPr>
              <a:xfrm>
                <a:off x="702071" y="4362873"/>
                <a:ext cx="8023118" cy="1815882"/>
              </a:xfrm>
              <a:prstGeom prst="rect">
                <a:avLst/>
              </a:prstGeom>
              <a:solidFill>
                <a:srgbClr val="FFFFFF"/>
              </a:solidFill>
              <a:ln>
                <a:solidFill>
                  <a:srgbClr val="C00000"/>
                </a:solidFill>
              </a:ln>
            </p:spPr>
            <p:txBody>
              <a:bodyPr wrap="square">
                <a:spAutoFit/>
              </a:bodyPr>
              <a:lstStyle/>
              <a:p>
                <a:r>
                  <a:rPr lang="en-US" sz="2800" dirty="0"/>
                  <a:t>Think about “outputs” as “posteriors”</a:t>
                </a:r>
              </a:p>
              <a:p>
                <a:pPr/>
                <a14:m>
                  <m:oMathPara xmlns:m="http://schemas.openxmlformats.org/officeDocument/2006/math">
                    <m:oMath>
                      <m:r>
                        <m:rPr>
                          <m:sty m:val="p"/>
                        </m:rPr>
                        <a:rPr lang="es-ES" sz="2800" b="0" i="0" smtClean="0">
                          <a:latin typeface="Cambria Math" panose="02040503050406030204" pitchFamily="18" charset="0"/>
                        </a:rPr>
                        <m:t>P</m:t>
                      </m:r>
                      <m:r>
                        <a:rPr lang="es-ES" sz="2800" b="0" i="1" smtClean="0">
                          <a:latin typeface="Cambria Math" panose="02040503050406030204" pitchFamily="18" charset="0"/>
                        </a:rPr>
                        <m:t>(</m:t>
                      </m:r>
                      <m:r>
                        <a:rPr lang="es-ES" sz="2800" b="1" i="1" smtClean="0">
                          <a:latin typeface="Cambria Math" panose="02040503050406030204" pitchFamily="18" charset="0"/>
                        </a:rPr>
                        <m:t>𝒚</m:t>
                      </m:r>
                      <m:r>
                        <a:rPr lang="es-ES" sz="2800" b="0" i="1" smtClean="0">
                          <a:latin typeface="Cambria Math" panose="02040503050406030204" pitchFamily="18" charset="0"/>
                        </a:rPr>
                        <m:t>|</m:t>
                      </m:r>
                      <m:r>
                        <a:rPr lang="es-ES" sz="2800" b="1" i="1" smtClean="0">
                          <a:latin typeface="Cambria Math" panose="02040503050406030204" pitchFamily="18" charset="0"/>
                        </a:rPr>
                        <m:t>𝒙</m:t>
                      </m:r>
                      <m:r>
                        <a:rPr lang="es-ES" sz="2800" b="0" i="1" smtClean="0">
                          <a:latin typeface="Cambria Math" panose="02040503050406030204" pitchFamily="18" charset="0"/>
                        </a:rPr>
                        <m:t>)</m:t>
                      </m:r>
                    </m:oMath>
                  </m:oMathPara>
                </a14:m>
                <a:endParaRPr lang="en-US" sz="2800" dirty="0"/>
              </a:p>
              <a:p>
                <a:endParaRPr lang="en-US" sz="2800" dirty="0"/>
              </a:p>
              <a:p>
                <a:pPr algn="r"/>
                <a:r>
                  <a:rPr lang="en-US" sz="2800" dirty="0">
                    <a:solidFill>
                      <a:srgbClr val="C00000"/>
                    </a:solidFill>
                  </a:rPr>
                  <a:t>Statistical Learning</a:t>
                </a:r>
              </a:p>
            </p:txBody>
          </p:sp>
        </mc:Choice>
        <mc:Fallback xmlns="">
          <p:sp>
            <p:nvSpPr>
              <p:cNvPr id="21" name="CuadroTexto 20">
                <a:extLst>
                  <a:ext uri="{FF2B5EF4-FFF2-40B4-BE49-F238E27FC236}">
                    <a16:creationId xmlns:a16="http://schemas.microsoft.com/office/drawing/2014/main" id="{FEF8BCE8-A56E-C3D7-F528-2E68CABBF55E}"/>
                  </a:ext>
                </a:extLst>
              </p:cNvPr>
              <p:cNvSpPr txBox="1">
                <a:spLocks noRot="1" noChangeAspect="1" noMove="1" noResize="1" noEditPoints="1" noAdjustHandles="1" noChangeArrowheads="1" noChangeShapeType="1" noTextEdit="1"/>
              </p:cNvSpPr>
              <p:nvPr/>
            </p:nvSpPr>
            <p:spPr>
              <a:xfrm>
                <a:off x="702071" y="4362873"/>
                <a:ext cx="8023118" cy="1815882"/>
              </a:xfrm>
              <a:prstGeom prst="rect">
                <a:avLst/>
              </a:prstGeom>
              <a:blipFill>
                <a:blip r:embed="rId5"/>
                <a:stretch>
                  <a:fillRect l="-1442" t="-3000" r="-1517" b="-8333"/>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1876992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72530-2F05-662F-1BC5-55D51F91977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66991437-F82C-B02D-EDD0-02F6835710FA}"/>
                  </a:ext>
                </a:extLst>
              </p:cNvPr>
              <p:cNvSpPr txBox="1"/>
              <p:nvPr/>
            </p:nvSpPr>
            <p:spPr>
              <a:xfrm>
                <a:off x="2339752" y="315413"/>
                <a:ext cx="5976664" cy="1384995"/>
              </a:xfrm>
              <a:prstGeom prst="rect">
                <a:avLst/>
              </a:prstGeom>
              <a:noFill/>
              <a:ln>
                <a:noFill/>
              </a:ln>
            </p:spPr>
            <p:txBody>
              <a:bodyPr wrap="square">
                <a:spAutoFit/>
              </a:bodyPr>
              <a:lstStyle/>
              <a:p>
                <a:r>
                  <a:rPr lang="en-US" sz="2800" dirty="0"/>
                  <a:t>Now considering “outputs” as “posteriors”</a:t>
                </a:r>
              </a:p>
              <a:p>
                <a:pPr/>
                <a14:m>
                  <m:oMathPara xmlns:m="http://schemas.openxmlformats.org/officeDocument/2006/math">
                    <m:oMath>
                      <m:r>
                        <m:rPr>
                          <m:sty m:val="p"/>
                        </m:rPr>
                        <a:rPr lang="es-ES" sz="2800" b="0" i="0" smtClean="0">
                          <a:latin typeface="Cambria Math" panose="02040503050406030204" pitchFamily="18" charset="0"/>
                        </a:rPr>
                        <m:t>P</m:t>
                      </m:r>
                      <m:r>
                        <a:rPr lang="es-ES" sz="2800" b="0" i="1" smtClean="0">
                          <a:latin typeface="Cambria Math" panose="02040503050406030204" pitchFamily="18" charset="0"/>
                        </a:rPr>
                        <m:t>(</m:t>
                      </m:r>
                      <m:r>
                        <a:rPr lang="es-ES" sz="2800" b="1" i="1" smtClean="0">
                          <a:latin typeface="Cambria Math" panose="02040503050406030204" pitchFamily="18" charset="0"/>
                        </a:rPr>
                        <m:t>𝒚</m:t>
                      </m:r>
                      <m:r>
                        <a:rPr lang="es-ES" sz="2800" b="0" i="1" smtClean="0">
                          <a:latin typeface="Cambria Math" panose="02040503050406030204" pitchFamily="18" charset="0"/>
                        </a:rPr>
                        <m:t>|</m:t>
                      </m:r>
                      <m:r>
                        <a:rPr lang="es-ES" sz="2800" b="1" i="1" smtClean="0">
                          <a:latin typeface="Cambria Math" panose="02040503050406030204" pitchFamily="18" charset="0"/>
                        </a:rPr>
                        <m:t>𝒙</m:t>
                      </m:r>
                      <m:r>
                        <a:rPr lang="es-ES" sz="2800" b="0" i="1" smtClean="0">
                          <a:latin typeface="Cambria Math" panose="02040503050406030204" pitchFamily="18" charset="0"/>
                        </a:rPr>
                        <m:t>)</m:t>
                      </m:r>
                    </m:oMath>
                  </m:oMathPara>
                </a14:m>
                <a:endParaRPr lang="en-US" sz="2800" dirty="0"/>
              </a:p>
            </p:txBody>
          </p:sp>
        </mc:Choice>
        <mc:Fallback xmlns="">
          <p:sp>
            <p:nvSpPr>
              <p:cNvPr id="21" name="CuadroTexto 20">
                <a:extLst>
                  <a:ext uri="{FF2B5EF4-FFF2-40B4-BE49-F238E27FC236}">
                    <a16:creationId xmlns:a16="http://schemas.microsoft.com/office/drawing/2014/main" id="{66991437-F82C-B02D-EDD0-02F6835710FA}"/>
                  </a:ext>
                </a:extLst>
              </p:cNvPr>
              <p:cNvSpPr txBox="1">
                <a:spLocks noRot="1" noChangeAspect="1" noMove="1" noResize="1" noEditPoints="1" noAdjustHandles="1" noChangeArrowheads="1" noChangeShapeType="1" noTextEdit="1"/>
              </p:cNvSpPr>
              <p:nvPr/>
            </p:nvSpPr>
            <p:spPr>
              <a:xfrm>
                <a:off x="2339752" y="315413"/>
                <a:ext cx="5976664" cy="1384995"/>
              </a:xfrm>
              <a:prstGeom prst="rect">
                <a:avLst/>
              </a:prstGeom>
              <a:blipFill>
                <a:blip r:embed="rId2"/>
                <a:stretch>
                  <a:fillRect l="-2143" t="-44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44E5F07F-C992-679F-514E-3D7E728E8634}"/>
                  </a:ext>
                </a:extLst>
              </p:cNvPr>
              <p:cNvSpPr txBox="1"/>
              <p:nvPr/>
            </p:nvSpPr>
            <p:spPr>
              <a:xfrm>
                <a:off x="971600" y="2276872"/>
                <a:ext cx="7344816" cy="3540841"/>
              </a:xfrm>
              <a:prstGeom prst="rect">
                <a:avLst/>
              </a:prstGeom>
              <a:solidFill>
                <a:srgbClr val="FFFFFF"/>
              </a:solidFill>
              <a:ln>
                <a:solidFill>
                  <a:srgbClr val="C00000"/>
                </a:solidFill>
              </a:ln>
            </p:spPr>
            <p:txBody>
              <a:bodyPr wrap="square">
                <a:spAutoFit/>
              </a:bodyPr>
              <a:lstStyle/>
              <a:p>
                <a:r>
                  <a:rPr lang="en-US" sz="2800" dirty="0"/>
                  <a:t>Think about </a:t>
                </a:r>
                <a:r>
                  <a:rPr lang="en-US" sz="2800" b="1" dirty="0"/>
                  <a:t>training:  </a:t>
                </a:r>
                <a14:m>
                  <m:oMath xmlns:m="http://schemas.openxmlformats.org/officeDocument/2006/math">
                    <m:sSubSup>
                      <m:sSubSupPr>
                        <m:ctrlPr>
                          <a:rPr lang="en-US" sz="2800" i="1">
                            <a:latin typeface="Cambria Math" panose="02040503050406030204" pitchFamily="18" charset="0"/>
                          </a:rPr>
                        </m:ctrlPr>
                      </m:sSubSupPr>
                      <m:e>
                        <m:d>
                          <m:dPr>
                            <m:begChr m:val="{"/>
                            <m:endChr m:val="}"/>
                            <m:ctrlPr>
                              <a:rPr lang="en-US" sz="2800" b="1" i="1">
                                <a:latin typeface="Cambria Math" panose="02040503050406030204" pitchFamily="18" charset="0"/>
                              </a:rPr>
                            </m:ctrlPr>
                          </m:dPr>
                          <m:e>
                            <m:d>
                              <m:dPr>
                                <m:ctrlPr>
                                  <a:rPr lang="en-US" sz="2800" b="1" i="1">
                                    <a:latin typeface="Cambria Math" panose="02040503050406030204" pitchFamily="18" charset="0"/>
                                  </a:rPr>
                                </m:ctrlPr>
                              </m:dPr>
                              <m:e>
                                <m:sSub>
                                  <m:sSubPr>
                                    <m:ctrlPr>
                                      <a:rPr lang="en-US" sz="2800" b="1" i="0">
                                        <a:latin typeface="Cambria Math"/>
                                      </a:rPr>
                                    </m:ctrlPr>
                                  </m:sSubPr>
                                  <m:e>
                                    <m:r>
                                      <m:rPr>
                                        <m:nor/>
                                      </m:rPr>
                                      <a:rPr lang="en-US" sz="2800" b="1" i="0">
                                        <a:latin typeface="Cambria Math"/>
                                      </a:rPr>
                                      <m:t>x</m:t>
                                    </m:r>
                                  </m:e>
                                  <m:sub>
                                    <m:r>
                                      <a:rPr lang="en-US" sz="2800" i="1">
                                        <a:latin typeface="Cambria Math"/>
                                      </a:rPr>
                                      <m:t>𝑖</m:t>
                                    </m:r>
                                  </m:sub>
                                </m:sSub>
                                <m:r>
                                  <a:rPr lang="en-US" sz="2800" i="1">
                                    <a:latin typeface="Cambria Math"/>
                                  </a:rPr>
                                  <m:t>,</m:t>
                                </m:r>
                                <m:sSub>
                                  <m:sSubPr>
                                    <m:ctrlPr>
                                      <a:rPr lang="en-US" sz="2800" i="1">
                                        <a:latin typeface="Cambria Math"/>
                                      </a:rPr>
                                    </m:ctrlPr>
                                  </m:sSubPr>
                                  <m:e>
                                    <m:r>
                                      <a:rPr lang="en-US" sz="2800" i="1">
                                        <a:latin typeface="Cambria Math"/>
                                      </a:rPr>
                                      <m:t>𝑦</m:t>
                                    </m:r>
                                  </m:e>
                                  <m:sub>
                                    <m:r>
                                      <a:rPr lang="en-US" sz="2800" i="1">
                                        <a:latin typeface="Cambria Math"/>
                                      </a:rPr>
                                      <m:t>𝑖</m:t>
                                    </m:r>
                                  </m:sub>
                                </m:sSub>
                              </m:e>
                            </m:d>
                          </m:e>
                        </m:d>
                      </m:e>
                      <m:sub>
                        <m:r>
                          <a:rPr lang="en-US" sz="2800" i="1">
                            <a:latin typeface="Cambria Math"/>
                          </a:rPr>
                          <m:t>𝑖</m:t>
                        </m:r>
                        <m:r>
                          <a:rPr lang="en-US" sz="2800" i="1">
                            <a:latin typeface="Cambria Math"/>
                          </a:rPr>
                          <m:t>=1</m:t>
                        </m:r>
                      </m:sub>
                      <m:sup>
                        <m:r>
                          <a:rPr lang="en-US" sz="2800" i="1">
                            <a:latin typeface="Cambria Math" panose="02040503050406030204" pitchFamily="18" charset="0"/>
                          </a:rPr>
                          <m:t>𝑛</m:t>
                        </m:r>
                      </m:sup>
                    </m:sSubSup>
                  </m:oMath>
                </a14:m>
                <a:r>
                  <a:rPr lang="es-ES" sz="2800" dirty="0"/>
                  <a:t>  (training data)</a:t>
                </a:r>
                <a:endParaRPr lang="en-US" sz="2800" b="1" dirty="0"/>
              </a:p>
              <a:p>
                <a:endParaRPr lang="en-US" sz="2800" b="1" dirty="0"/>
              </a:p>
              <a:p>
                <a:pPr marL="457200" indent="-457200">
                  <a:buFont typeface="Arial" panose="020B0604020202020204" pitchFamily="34" charset="0"/>
                  <a:buChar char="•"/>
                </a:pPr>
                <a:r>
                  <a:rPr lang="en-US" sz="2800" b="1" dirty="0"/>
                  <a:t>… could you </a:t>
                </a:r>
                <a:r>
                  <a:rPr lang="en-US" sz="2800" b="1" i="1" dirty="0"/>
                  <a:t>estimate:</a:t>
                </a:r>
                <a:r>
                  <a:rPr lang="en-US" sz="2800" b="1" dirty="0"/>
                  <a:t> </a:t>
                </a:r>
                <a14:m>
                  <m:oMath xmlns:m="http://schemas.openxmlformats.org/officeDocument/2006/math">
                    <m:r>
                      <m:rPr>
                        <m:sty m:val="p"/>
                      </m:rPr>
                      <a:rPr lang="es-ES" sz="2800">
                        <a:latin typeface="Cambria Math" panose="02040503050406030204" pitchFamily="18" charset="0"/>
                      </a:rPr>
                      <m:t>P</m:t>
                    </m:r>
                    <m:r>
                      <a:rPr lang="es-ES" sz="2800" i="1">
                        <a:latin typeface="Cambria Math" panose="02040503050406030204" pitchFamily="18" charset="0"/>
                      </a:rPr>
                      <m:t>(</m:t>
                    </m:r>
                    <m:sSub>
                      <m:sSubPr>
                        <m:ctrlPr>
                          <a:rPr lang="en-US" sz="2800" b="1" i="0">
                            <a:latin typeface="Cambria Math"/>
                          </a:rPr>
                        </m:ctrlPr>
                      </m:sSubPr>
                      <m:e>
                        <m:r>
                          <m:rPr>
                            <m:nor/>
                          </m:rPr>
                          <a:rPr lang="en-US" sz="2800" b="1" i="0">
                            <a:latin typeface="Cambria Math"/>
                          </a:rPr>
                          <m:t>x</m:t>
                        </m:r>
                      </m:e>
                      <m:sub>
                        <m:r>
                          <a:rPr lang="en-US" sz="2800" i="1">
                            <a:latin typeface="Cambria Math"/>
                          </a:rPr>
                          <m:t>𝑖</m:t>
                        </m:r>
                      </m:sub>
                    </m:sSub>
                    <m:r>
                      <a:rPr lang="es-ES" sz="2800" i="1">
                        <a:latin typeface="Cambria Math" panose="02040503050406030204" pitchFamily="18" charset="0"/>
                      </a:rPr>
                      <m:t>|</m:t>
                    </m:r>
                    <m:sSub>
                      <m:sSubPr>
                        <m:ctrlPr>
                          <a:rPr lang="en-US" sz="2800" i="1">
                            <a:latin typeface="Cambria Math"/>
                          </a:rPr>
                        </m:ctrlPr>
                      </m:sSubPr>
                      <m:e>
                        <m:r>
                          <a:rPr lang="en-US" sz="2800" i="1">
                            <a:latin typeface="Cambria Math"/>
                          </a:rPr>
                          <m:t>𝑦</m:t>
                        </m:r>
                      </m:e>
                      <m:sub>
                        <m:r>
                          <a:rPr lang="en-US" sz="2800" i="1">
                            <a:latin typeface="Cambria Math"/>
                          </a:rPr>
                          <m:t>𝑖</m:t>
                        </m:r>
                      </m:sub>
                    </m:sSub>
                    <m:r>
                      <a:rPr lang="es-ES" sz="2800" i="1">
                        <a:latin typeface="Cambria Math" panose="02040503050406030204" pitchFamily="18" charset="0"/>
                      </a:rPr>
                      <m:t>)</m:t>
                    </m:r>
                  </m:oMath>
                </a14:m>
                <a:endParaRPr lang="en-US" sz="2800" dirty="0"/>
              </a:p>
              <a:p>
                <a:pPr marL="457200" indent="-457200">
                  <a:buFont typeface="Arial" panose="020B0604020202020204" pitchFamily="34" charset="0"/>
                  <a:buChar char="•"/>
                </a:pPr>
                <a:endParaRPr lang="en-US" sz="2800" b="1" dirty="0"/>
              </a:p>
              <a:p>
                <a:pPr marL="457200" indent="-457200">
                  <a:buFont typeface="Arial" panose="020B0604020202020204" pitchFamily="34" charset="0"/>
                  <a:buChar char="•"/>
                </a:pPr>
                <a:r>
                  <a:rPr lang="en-US" sz="2800" b="1" dirty="0"/>
                  <a:t>and then:</a:t>
                </a:r>
              </a:p>
              <a:p>
                <a:pPr algn="ctr"/>
                <a14:m>
                  <m:oMath xmlns:m="http://schemas.openxmlformats.org/officeDocument/2006/math">
                    <m:r>
                      <m:rPr>
                        <m:sty m:val="p"/>
                      </m:rPr>
                      <a:rPr lang="es-ES" sz="2800" b="0" i="0" smtClean="0">
                        <a:latin typeface="Cambria Math" panose="02040503050406030204" pitchFamily="18" charset="0"/>
                      </a:rPr>
                      <m:t>P</m:t>
                    </m:r>
                    <m:r>
                      <a:rPr lang="es-ES" sz="2800" b="0" i="1" smtClean="0">
                        <a:latin typeface="Cambria Math" panose="02040503050406030204" pitchFamily="18" charset="0"/>
                      </a:rPr>
                      <m:t>(</m:t>
                    </m:r>
                    <m:r>
                      <a:rPr lang="es-ES" sz="2800" b="1" i="1" smtClean="0">
                        <a:latin typeface="Cambria Math" panose="02040503050406030204" pitchFamily="18" charset="0"/>
                      </a:rPr>
                      <m:t>𝒚</m:t>
                    </m:r>
                    <m:r>
                      <a:rPr lang="es-ES" sz="2800" b="0" i="1" smtClean="0">
                        <a:latin typeface="Cambria Math" panose="02040503050406030204" pitchFamily="18" charset="0"/>
                      </a:rPr>
                      <m:t>|</m:t>
                    </m:r>
                    <m:r>
                      <a:rPr lang="es-ES" sz="2800" b="1" i="1" smtClean="0">
                        <a:latin typeface="Cambria Math" panose="02040503050406030204" pitchFamily="18" charset="0"/>
                      </a:rPr>
                      <m:t>𝒙</m:t>
                    </m:r>
                    <m:r>
                      <a:rPr lang="es-ES" sz="2800" b="0" i="1" smtClean="0">
                        <a:latin typeface="Cambria Math" panose="02040503050406030204" pitchFamily="18" charset="0"/>
                      </a:rPr>
                      <m:t>)</m:t>
                    </m:r>
                  </m:oMath>
                </a14:m>
                <a:r>
                  <a:rPr lang="en-US" sz="2800" dirty="0"/>
                  <a:t> = ?</a:t>
                </a:r>
              </a:p>
              <a:p>
                <a:endParaRPr lang="en-US" sz="2800" dirty="0"/>
              </a:p>
              <a:p>
                <a:pPr algn="r"/>
                <a:r>
                  <a:rPr lang="en-US" sz="2800" dirty="0">
                    <a:solidFill>
                      <a:srgbClr val="C00000"/>
                    </a:solidFill>
                  </a:rPr>
                  <a:t>Statistical Learning</a:t>
                </a:r>
              </a:p>
            </p:txBody>
          </p:sp>
        </mc:Choice>
        <mc:Fallback xmlns="">
          <p:sp>
            <p:nvSpPr>
              <p:cNvPr id="2" name="CuadroTexto 1">
                <a:extLst>
                  <a:ext uri="{FF2B5EF4-FFF2-40B4-BE49-F238E27FC236}">
                    <a16:creationId xmlns:a16="http://schemas.microsoft.com/office/drawing/2014/main" id="{44E5F07F-C992-679F-514E-3D7E728E8634}"/>
                  </a:ext>
                </a:extLst>
              </p:cNvPr>
              <p:cNvSpPr txBox="1">
                <a:spLocks noRot="1" noChangeAspect="1" noMove="1" noResize="1" noEditPoints="1" noAdjustHandles="1" noChangeArrowheads="1" noChangeShapeType="1" noTextEdit="1"/>
              </p:cNvSpPr>
              <p:nvPr/>
            </p:nvSpPr>
            <p:spPr>
              <a:xfrm>
                <a:off x="971600" y="2276872"/>
                <a:ext cx="7344816" cy="3540841"/>
              </a:xfrm>
              <a:prstGeom prst="rect">
                <a:avLst/>
              </a:prstGeom>
              <a:blipFill>
                <a:blip r:embed="rId3"/>
                <a:stretch>
                  <a:fillRect l="-1574" t="-1546" r="-1657" b="-3952"/>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3347567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C6CE-6155-01FA-3A98-E029175823E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B0017921-80F8-D6DB-CF53-F9B01725EFD6}"/>
                  </a:ext>
                </a:extLst>
              </p:cNvPr>
              <p:cNvSpPr txBox="1"/>
              <p:nvPr/>
            </p:nvSpPr>
            <p:spPr>
              <a:xfrm>
                <a:off x="2339752" y="315413"/>
                <a:ext cx="5976664" cy="1384995"/>
              </a:xfrm>
              <a:prstGeom prst="rect">
                <a:avLst/>
              </a:prstGeom>
              <a:noFill/>
              <a:ln>
                <a:noFill/>
              </a:ln>
            </p:spPr>
            <p:txBody>
              <a:bodyPr wrap="square">
                <a:spAutoFit/>
              </a:bodyPr>
              <a:lstStyle/>
              <a:p>
                <a:r>
                  <a:rPr lang="en-US" sz="2800" dirty="0"/>
                  <a:t>Now considering “outputs” as “posteriors”</a:t>
                </a:r>
              </a:p>
              <a:p>
                <a:pPr/>
                <a14:m>
                  <m:oMathPara xmlns:m="http://schemas.openxmlformats.org/officeDocument/2006/math">
                    <m:oMath>
                      <m:r>
                        <m:rPr>
                          <m:sty m:val="p"/>
                        </m:rPr>
                        <a:rPr lang="es-ES" sz="2800" b="0" i="0" smtClean="0">
                          <a:latin typeface="Cambria Math" panose="02040503050406030204" pitchFamily="18" charset="0"/>
                        </a:rPr>
                        <m:t>P</m:t>
                      </m:r>
                      <m:r>
                        <a:rPr lang="es-ES" sz="2800" b="0" i="1" smtClean="0">
                          <a:latin typeface="Cambria Math" panose="02040503050406030204" pitchFamily="18" charset="0"/>
                        </a:rPr>
                        <m:t>(</m:t>
                      </m:r>
                      <m:r>
                        <a:rPr lang="es-ES" sz="2800" b="1" i="1" smtClean="0">
                          <a:latin typeface="Cambria Math" panose="02040503050406030204" pitchFamily="18" charset="0"/>
                        </a:rPr>
                        <m:t>𝒚</m:t>
                      </m:r>
                      <m:r>
                        <a:rPr lang="es-ES" sz="2800" b="0" i="1" smtClean="0">
                          <a:latin typeface="Cambria Math" panose="02040503050406030204" pitchFamily="18" charset="0"/>
                        </a:rPr>
                        <m:t>|</m:t>
                      </m:r>
                      <m:r>
                        <a:rPr lang="es-ES" sz="2800" b="1" i="1" smtClean="0">
                          <a:latin typeface="Cambria Math" panose="02040503050406030204" pitchFamily="18" charset="0"/>
                        </a:rPr>
                        <m:t>𝒙</m:t>
                      </m:r>
                      <m:r>
                        <a:rPr lang="es-ES" sz="2800" b="0" i="1" smtClean="0">
                          <a:latin typeface="Cambria Math" panose="02040503050406030204" pitchFamily="18" charset="0"/>
                        </a:rPr>
                        <m:t>)</m:t>
                      </m:r>
                    </m:oMath>
                  </m:oMathPara>
                </a14:m>
                <a:endParaRPr lang="en-US" sz="2800" dirty="0"/>
              </a:p>
            </p:txBody>
          </p:sp>
        </mc:Choice>
        <mc:Fallback xmlns="">
          <p:sp>
            <p:nvSpPr>
              <p:cNvPr id="21" name="CuadroTexto 20">
                <a:extLst>
                  <a:ext uri="{FF2B5EF4-FFF2-40B4-BE49-F238E27FC236}">
                    <a16:creationId xmlns:a16="http://schemas.microsoft.com/office/drawing/2014/main" id="{B0017921-80F8-D6DB-CF53-F9B01725EFD6}"/>
                  </a:ext>
                </a:extLst>
              </p:cNvPr>
              <p:cNvSpPr txBox="1">
                <a:spLocks noRot="1" noChangeAspect="1" noMove="1" noResize="1" noEditPoints="1" noAdjustHandles="1" noChangeArrowheads="1" noChangeShapeType="1" noTextEdit="1"/>
              </p:cNvSpPr>
              <p:nvPr/>
            </p:nvSpPr>
            <p:spPr>
              <a:xfrm>
                <a:off x="2339752" y="315413"/>
                <a:ext cx="5976664" cy="1384995"/>
              </a:xfrm>
              <a:prstGeom prst="rect">
                <a:avLst/>
              </a:prstGeom>
              <a:blipFill>
                <a:blip r:embed="rId2"/>
                <a:stretch>
                  <a:fillRect l="-2143" t="-4405"/>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CuadroTexto 1">
                <a:extLst>
                  <a:ext uri="{FF2B5EF4-FFF2-40B4-BE49-F238E27FC236}">
                    <a16:creationId xmlns:a16="http://schemas.microsoft.com/office/drawing/2014/main" id="{F5A6F57A-2CA3-D500-39FB-6786024832FD}"/>
                  </a:ext>
                </a:extLst>
              </p:cNvPr>
              <p:cNvSpPr txBox="1"/>
              <p:nvPr/>
            </p:nvSpPr>
            <p:spPr>
              <a:xfrm>
                <a:off x="971600" y="2276872"/>
                <a:ext cx="7344816" cy="3968843"/>
              </a:xfrm>
              <a:prstGeom prst="rect">
                <a:avLst/>
              </a:prstGeom>
              <a:solidFill>
                <a:srgbClr val="FFFFFF"/>
              </a:solidFill>
              <a:ln>
                <a:solidFill>
                  <a:srgbClr val="C00000"/>
                </a:solidFill>
              </a:ln>
            </p:spPr>
            <p:txBody>
              <a:bodyPr wrap="square">
                <a:spAutoFit/>
              </a:bodyPr>
              <a:lstStyle/>
              <a:p>
                <a:r>
                  <a:rPr lang="en-US" sz="2800" dirty="0"/>
                  <a:t>Think about </a:t>
                </a:r>
                <a:r>
                  <a:rPr lang="en-US" sz="2800" b="1" dirty="0"/>
                  <a:t>training:  </a:t>
                </a:r>
                <a14:m>
                  <m:oMath xmlns:m="http://schemas.openxmlformats.org/officeDocument/2006/math">
                    <m:sSubSup>
                      <m:sSubSupPr>
                        <m:ctrlPr>
                          <a:rPr lang="en-US" sz="2800" i="1">
                            <a:latin typeface="Cambria Math" panose="02040503050406030204" pitchFamily="18" charset="0"/>
                          </a:rPr>
                        </m:ctrlPr>
                      </m:sSubSupPr>
                      <m:e>
                        <m:d>
                          <m:dPr>
                            <m:begChr m:val="{"/>
                            <m:endChr m:val="}"/>
                            <m:ctrlPr>
                              <a:rPr lang="en-US" sz="2800" b="1" i="1">
                                <a:latin typeface="Cambria Math" panose="02040503050406030204" pitchFamily="18" charset="0"/>
                              </a:rPr>
                            </m:ctrlPr>
                          </m:dPr>
                          <m:e>
                            <m:d>
                              <m:dPr>
                                <m:ctrlPr>
                                  <a:rPr lang="en-US" sz="2800" b="1" i="1">
                                    <a:latin typeface="Cambria Math" panose="02040503050406030204" pitchFamily="18" charset="0"/>
                                  </a:rPr>
                                </m:ctrlPr>
                              </m:dPr>
                              <m:e>
                                <m:sSub>
                                  <m:sSubPr>
                                    <m:ctrlPr>
                                      <a:rPr lang="en-US" sz="2800" b="1" i="0">
                                        <a:latin typeface="Cambria Math"/>
                                      </a:rPr>
                                    </m:ctrlPr>
                                  </m:sSubPr>
                                  <m:e>
                                    <m:r>
                                      <m:rPr>
                                        <m:nor/>
                                      </m:rPr>
                                      <a:rPr lang="en-US" sz="2800" b="1" i="0">
                                        <a:latin typeface="Cambria Math"/>
                                      </a:rPr>
                                      <m:t>x</m:t>
                                    </m:r>
                                  </m:e>
                                  <m:sub>
                                    <m:r>
                                      <a:rPr lang="en-US" sz="2800" i="1">
                                        <a:latin typeface="Cambria Math"/>
                                      </a:rPr>
                                      <m:t>𝑖</m:t>
                                    </m:r>
                                  </m:sub>
                                </m:sSub>
                                <m:r>
                                  <a:rPr lang="en-US" sz="2800" i="1">
                                    <a:latin typeface="Cambria Math"/>
                                  </a:rPr>
                                  <m:t>,</m:t>
                                </m:r>
                                <m:sSub>
                                  <m:sSubPr>
                                    <m:ctrlPr>
                                      <a:rPr lang="en-US" sz="2800" i="1">
                                        <a:latin typeface="Cambria Math"/>
                                      </a:rPr>
                                    </m:ctrlPr>
                                  </m:sSubPr>
                                  <m:e>
                                    <m:r>
                                      <a:rPr lang="en-US" sz="2800" i="1">
                                        <a:latin typeface="Cambria Math"/>
                                      </a:rPr>
                                      <m:t>𝑦</m:t>
                                    </m:r>
                                  </m:e>
                                  <m:sub>
                                    <m:r>
                                      <a:rPr lang="en-US" sz="2800" i="1">
                                        <a:latin typeface="Cambria Math"/>
                                      </a:rPr>
                                      <m:t>𝑖</m:t>
                                    </m:r>
                                  </m:sub>
                                </m:sSub>
                              </m:e>
                            </m:d>
                          </m:e>
                        </m:d>
                      </m:e>
                      <m:sub>
                        <m:r>
                          <a:rPr lang="en-US" sz="2800" i="1">
                            <a:latin typeface="Cambria Math"/>
                          </a:rPr>
                          <m:t>𝑖</m:t>
                        </m:r>
                        <m:r>
                          <a:rPr lang="en-US" sz="2800" i="1">
                            <a:latin typeface="Cambria Math"/>
                          </a:rPr>
                          <m:t>=1</m:t>
                        </m:r>
                      </m:sub>
                      <m:sup>
                        <m:r>
                          <a:rPr lang="en-US" sz="2800" i="1">
                            <a:latin typeface="Cambria Math" panose="02040503050406030204" pitchFamily="18" charset="0"/>
                          </a:rPr>
                          <m:t>𝑛</m:t>
                        </m:r>
                      </m:sup>
                    </m:sSubSup>
                  </m:oMath>
                </a14:m>
                <a:r>
                  <a:rPr lang="es-ES" sz="2800" dirty="0"/>
                  <a:t>  (training data)</a:t>
                </a:r>
                <a:endParaRPr lang="en-US" sz="2800" b="1" dirty="0"/>
              </a:p>
              <a:p>
                <a:endParaRPr lang="en-US" sz="2800" b="1" dirty="0"/>
              </a:p>
              <a:p>
                <a:pPr marL="457200" indent="-457200">
                  <a:buFont typeface="Arial" panose="020B0604020202020204" pitchFamily="34" charset="0"/>
                  <a:buChar char="•"/>
                </a:pPr>
                <a:r>
                  <a:rPr lang="en-US" sz="2800" b="1" dirty="0"/>
                  <a:t>And that you can estimate: </a:t>
                </a:r>
                <a14:m>
                  <m:oMath xmlns:m="http://schemas.openxmlformats.org/officeDocument/2006/math">
                    <m:r>
                      <m:rPr>
                        <m:sty m:val="p"/>
                      </m:rPr>
                      <a:rPr lang="es-ES" sz="2800">
                        <a:latin typeface="Cambria Math" panose="02040503050406030204" pitchFamily="18" charset="0"/>
                      </a:rPr>
                      <m:t>P</m:t>
                    </m:r>
                    <m:r>
                      <a:rPr lang="es-ES" sz="2800" i="1">
                        <a:latin typeface="Cambria Math" panose="02040503050406030204" pitchFamily="18" charset="0"/>
                      </a:rPr>
                      <m:t>(</m:t>
                    </m:r>
                    <m:sSub>
                      <m:sSubPr>
                        <m:ctrlPr>
                          <a:rPr lang="en-US" sz="2800" b="1" i="0">
                            <a:latin typeface="Cambria Math"/>
                          </a:rPr>
                        </m:ctrlPr>
                      </m:sSubPr>
                      <m:e>
                        <m:r>
                          <m:rPr>
                            <m:nor/>
                          </m:rPr>
                          <a:rPr lang="en-US" sz="2800" b="1" i="0">
                            <a:latin typeface="Cambria Math"/>
                          </a:rPr>
                          <m:t>x</m:t>
                        </m:r>
                      </m:e>
                      <m:sub>
                        <m:r>
                          <a:rPr lang="en-US" sz="2800" i="1">
                            <a:latin typeface="Cambria Math"/>
                          </a:rPr>
                          <m:t>𝑖</m:t>
                        </m:r>
                      </m:sub>
                    </m:sSub>
                    <m:r>
                      <a:rPr lang="es-ES" sz="2800" i="1">
                        <a:latin typeface="Cambria Math" panose="02040503050406030204" pitchFamily="18" charset="0"/>
                      </a:rPr>
                      <m:t>|</m:t>
                    </m:r>
                    <m:sSub>
                      <m:sSubPr>
                        <m:ctrlPr>
                          <a:rPr lang="en-US" sz="2800" i="1">
                            <a:latin typeface="Cambria Math"/>
                          </a:rPr>
                        </m:ctrlPr>
                      </m:sSubPr>
                      <m:e>
                        <m:r>
                          <a:rPr lang="en-US" sz="2800" i="1">
                            <a:latin typeface="Cambria Math"/>
                          </a:rPr>
                          <m:t>𝑦</m:t>
                        </m:r>
                      </m:e>
                      <m:sub>
                        <m:r>
                          <a:rPr lang="en-US" sz="2800" i="1">
                            <a:latin typeface="Cambria Math"/>
                          </a:rPr>
                          <m:t>𝑖</m:t>
                        </m:r>
                      </m:sub>
                    </m:sSub>
                    <m:r>
                      <a:rPr lang="es-ES" sz="2800" i="1">
                        <a:latin typeface="Cambria Math" panose="02040503050406030204" pitchFamily="18" charset="0"/>
                      </a:rPr>
                      <m:t>)</m:t>
                    </m:r>
                  </m:oMath>
                </a14:m>
                <a:endParaRPr lang="en-US" sz="2800" dirty="0"/>
              </a:p>
              <a:p>
                <a:pPr marL="457200" indent="-457200">
                  <a:buFont typeface="Arial" panose="020B0604020202020204" pitchFamily="34" charset="0"/>
                  <a:buChar char="•"/>
                </a:pPr>
                <a:endParaRPr lang="en-US" sz="2800" b="1" dirty="0"/>
              </a:p>
              <a:p>
                <a:pPr marL="457200" indent="-457200">
                  <a:buFont typeface="Arial" panose="020B0604020202020204" pitchFamily="34" charset="0"/>
                  <a:buChar char="•"/>
                </a:pPr>
                <a:r>
                  <a:rPr lang="en-US" sz="2800" b="1" dirty="0"/>
                  <a:t>Then:</a:t>
                </a:r>
              </a:p>
              <a:p>
                <a:pPr algn="ctr"/>
                <a14:m>
                  <m:oMath xmlns:m="http://schemas.openxmlformats.org/officeDocument/2006/math">
                    <m:r>
                      <m:rPr>
                        <m:sty m:val="p"/>
                      </m:rPr>
                      <a:rPr lang="es-ES" sz="2800" b="0" i="0" smtClean="0">
                        <a:latin typeface="Cambria Math" panose="02040503050406030204" pitchFamily="18" charset="0"/>
                      </a:rPr>
                      <m:t>P</m:t>
                    </m:r>
                    <m:r>
                      <a:rPr lang="es-ES" sz="2800" b="0" i="1" smtClean="0">
                        <a:latin typeface="Cambria Math" panose="02040503050406030204" pitchFamily="18" charset="0"/>
                      </a:rPr>
                      <m:t>(</m:t>
                    </m:r>
                    <m:r>
                      <a:rPr lang="es-ES" sz="2800" b="1" i="1" smtClean="0">
                        <a:latin typeface="Cambria Math" panose="02040503050406030204" pitchFamily="18" charset="0"/>
                      </a:rPr>
                      <m:t>𝒚</m:t>
                    </m:r>
                    <m:r>
                      <a:rPr lang="es-ES" sz="2800" b="0" i="1" smtClean="0">
                        <a:latin typeface="Cambria Math" panose="02040503050406030204" pitchFamily="18" charset="0"/>
                      </a:rPr>
                      <m:t>|</m:t>
                    </m:r>
                    <m:r>
                      <a:rPr lang="es-ES" sz="2800" b="1" i="1" smtClean="0">
                        <a:latin typeface="Cambria Math" panose="02040503050406030204" pitchFamily="18" charset="0"/>
                      </a:rPr>
                      <m:t>𝒙</m:t>
                    </m:r>
                    <m:r>
                      <a:rPr lang="es-ES" sz="2800" b="0" i="1" smtClean="0">
                        <a:latin typeface="Cambria Math" panose="02040503050406030204" pitchFamily="18" charset="0"/>
                      </a:rPr>
                      <m:t>)</m:t>
                    </m:r>
                  </m:oMath>
                </a14:m>
                <a:r>
                  <a:rPr lang="en-US" sz="2800" dirty="0"/>
                  <a:t> =</a:t>
                </a:r>
                <a14:m>
                  <m:oMath xmlns:m="http://schemas.openxmlformats.org/officeDocument/2006/math">
                    <m:f>
                      <m:fPr>
                        <m:ctrlPr>
                          <a:rPr lang="es-ES" sz="3200" b="0" i="0" dirty="0" smtClean="0">
                            <a:latin typeface="Cambria Math" panose="02040503050406030204" pitchFamily="18" charset="0"/>
                          </a:rPr>
                        </m:ctrlPr>
                      </m:fPr>
                      <m:num>
                        <m:r>
                          <m:rPr>
                            <m:nor/>
                          </m:rPr>
                          <a:rPr lang="es-ES" sz="3200" b="0" i="0" dirty="0" smtClean="0">
                            <a:latin typeface="Cambria Math" panose="02040503050406030204" pitchFamily="18" charset="0"/>
                          </a:rPr>
                          <m:t>P</m:t>
                        </m:r>
                        <m:d>
                          <m:dPr>
                            <m:ctrlPr>
                              <a:rPr lang="es-ES" sz="3200" b="1" i="1" dirty="0" smtClean="0">
                                <a:latin typeface="Cambria Math" panose="02040503050406030204" pitchFamily="18" charset="0"/>
                              </a:rPr>
                            </m:ctrlPr>
                          </m:dPr>
                          <m:e>
                            <m:r>
                              <a:rPr lang="es-ES" sz="3200" b="1" i="1" dirty="0" smtClean="0">
                                <a:latin typeface="Cambria Math" panose="02040503050406030204" pitchFamily="18" charset="0"/>
                              </a:rPr>
                              <m:t>𝒙</m:t>
                            </m:r>
                          </m:e>
                          <m:e>
                            <m:r>
                              <a:rPr lang="es-ES" sz="3200" b="1" i="1" dirty="0" smtClean="0">
                                <a:latin typeface="Cambria Math" panose="02040503050406030204" pitchFamily="18" charset="0"/>
                              </a:rPr>
                              <m:t>𝒚</m:t>
                            </m:r>
                          </m:e>
                        </m:d>
                        <m:r>
                          <m:rPr>
                            <m:nor/>
                          </m:rPr>
                          <a:rPr lang="es-ES" sz="3200" b="0" i="0" dirty="0" smtClean="0">
                            <a:latin typeface="Cambria Math" panose="02040503050406030204" pitchFamily="18" charset="0"/>
                          </a:rPr>
                          <m:t>P</m:t>
                        </m:r>
                        <m:r>
                          <a:rPr lang="es-ES" sz="3200" b="0" i="1" dirty="0" smtClean="0">
                            <a:latin typeface="Cambria Math" panose="02040503050406030204" pitchFamily="18" charset="0"/>
                          </a:rPr>
                          <m:t>(</m:t>
                        </m:r>
                        <m:r>
                          <a:rPr lang="es-ES" sz="3200" b="1" i="1" dirty="0" smtClean="0">
                            <a:latin typeface="Cambria Math" panose="02040503050406030204" pitchFamily="18" charset="0"/>
                          </a:rPr>
                          <m:t>𝒚</m:t>
                        </m:r>
                        <m:r>
                          <a:rPr lang="es-ES" sz="3200" b="0" i="1" dirty="0" smtClean="0">
                            <a:latin typeface="Cambria Math" panose="02040503050406030204" pitchFamily="18" charset="0"/>
                          </a:rPr>
                          <m:t>)</m:t>
                        </m:r>
                      </m:num>
                      <m:den>
                        <m:r>
                          <m:rPr>
                            <m:nor/>
                          </m:rPr>
                          <a:rPr lang="es-ES" sz="3200" b="0" i="0" dirty="0" smtClean="0">
                            <a:latin typeface="Cambria Math" panose="02040503050406030204" pitchFamily="18" charset="0"/>
                          </a:rPr>
                          <m:t>P</m:t>
                        </m:r>
                        <m:r>
                          <a:rPr lang="es-ES" sz="3200" b="0" i="1" dirty="0" smtClean="0">
                            <a:latin typeface="Cambria Math" panose="02040503050406030204" pitchFamily="18" charset="0"/>
                          </a:rPr>
                          <m:t>(</m:t>
                        </m:r>
                        <m:r>
                          <a:rPr lang="es-ES" sz="3200" b="1" i="1" dirty="0" smtClean="0">
                            <a:latin typeface="Cambria Math" panose="02040503050406030204" pitchFamily="18" charset="0"/>
                          </a:rPr>
                          <m:t>𝒙</m:t>
                        </m:r>
                        <m:r>
                          <a:rPr lang="es-ES" sz="3200" b="0" i="1" dirty="0" smtClean="0">
                            <a:latin typeface="Cambria Math" panose="02040503050406030204" pitchFamily="18" charset="0"/>
                          </a:rPr>
                          <m:t>)</m:t>
                        </m:r>
                      </m:den>
                    </m:f>
                  </m:oMath>
                </a14:m>
                <a:r>
                  <a:rPr lang="en-US" sz="2800" dirty="0"/>
                  <a:t> </a:t>
                </a:r>
              </a:p>
              <a:p>
                <a:endParaRPr lang="en-US" sz="2800" dirty="0"/>
              </a:p>
              <a:p>
                <a:pPr algn="r"/>
                <a:r>
                  <a:rPr lang="en-US" sz="2800" dirty="0">
                    <a:solidFill>
                      <a:srgbClr val="C00000"/>
                    </a:solidFill>
                  </a:rPr>
                  <a:t>Statistical Learning: </a:t>
                </a:r>
                <a:r>
                  <a:rPr lang="en-US" sz="2800" b="1" dirty="0">
                    <a:solidFill>
                      <a:srgbClr val="C00000"/>
                    </a:solidFill>
                  </a:rPr>
                  <a:t>Bayes Theorem</a:t>
                </a:r>
              </a:p>
            </p:txBody>
          </p:sp>
        </mc:Choice>
        <mc:Fallback xmlns="">
          <p:sp>
            <p:nvSpPr>
              <p:cNvPr id="2" name="CuadroTexto 1">
                <a:extLst>
                  <a:ext uri="{FF2B5EF4-FFF2-40B4-BE49-F238E27FC236}">
                    <a16:creationId xmlns:a16="http://schemas.microsoft.com/office/drawing/2014/main" id="{F5A6F57A-2CA3-D500-39FB-6786024832FD}"/>
                  </a:ext>
                </a:extLst>
              </p:cNvPr>
              <p:cNvSpPr txBox="1">
                <a:spLocks noRot="1" noChangeAspect="1" noMove="1" noResize="1" noEditPoints="1" noAdjustHandles="1" noChangeArrowheads="1" noChangeShapeType="1" noTextEdit="1"/>
              </p:cNvSpPr>
              <p:nvPr/>
            </p:nvSpPr>
            <p:spPr>
              <a:xfrm>
                <a:off x="971600" y="2276872"/>
                <a:ext cx="7344816" cy="3968843"/>
              </a:xfrm>
              <a:prstGeom prst="rect">
                <a:avLst/>
              </a:prstGeom>
              <a:blipFill>
                <a:blip r:embed="rId3"/>
                <a:stretch>
                  <a:fillRect l="-1574" t="-1378" r="-1657" b="-3216"/>
                </a:stretch>
              </a:blipFill>
              <a:ln>
                <a:solidFill>
                  <a:srgbClr val="C00000"/>
                </a:solidFill>
              </a:ln>
            </p:spPr>
            <p:txBody>
              <a:bodyPr/>
              <a:lstStyle/>
              <a:p>
                <a:r>
                  <a:rPr lang="en-US">
                    <a:noFill/>
                  </a:rPr>
                  <a:t> </a:t>
                </a:r>
              </a:p>
            </p:txBody>
          </p:sp>
        </mc:Fallback>
      </mc:AlternateContent>
    </p:spTree>
    <p:extLst>
      <p:ext uri="{BB962C8B-B14F-4D97-AF65-F5344CB8AC3E}">
        <p14:creationId xmlns:p14="http://schemas.microsoft.com/office/powerpoint/2010/main" val="2627092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6EB6C2B-5BB9-7757-231D-6B87681B7824}"/>
              </a:ext>
            </a:extLst>
          </p:cNvPr>
          <p:cNvSpPr txBox="1"/>
          <p:nvPr/>
        </p:nvSpPr>
        <p:spPr>
          <a:xfrm>
            <a:off x="879727" y="2348880"/>
            <a:ext cx="7822973" cy="2585323"/>
          </a:xfrm>
          <a:prstGeom prst="rect">
            <a:avLst/>
          </a:prstGeom>
          <a:solidFill>
            <a:srgbClr val="FEE8FF"/>
          </a:solidFill>
          <a:ln>
            <a:solidFill>
              <a:srgbClr val="C4228A"/>
            </a:solidFill>
          </a:ln>
        </p:spPr>
        <p:txBody>
          <a:bodyPr wrap="square" rtlCol="0">
            <a:spAutoFit/>
          </a:bodyPr>
          <a:lstStyle/>
          <a:p>
            <a:r>
              <a:rPr lang="en-US" sz="4000" b="1" dirty="0">
                <a:solidFill>
                  <a:schemeClr val="tx1">
                    <a:lumMod val="75000"/>
                    <a:lumOff val="25000"/>
                  </a:schemeClr>
                </a:solidFill>
              </a:rPr>
              <a:t>Main takeaways</a:t>
            </a:r>
            <a:r>
              <a:rPr lang="en-US" sz="4000" dirty="0"/>
              <a:t>:</a:t>
            </a:r>
          </a:p>
          <a:p>
            <a:pPr marL="571500" indent="-571500">
              <a:buFont typeface="Arial" panose="020B0604020202020204" pitchFamily="34" charset="0"/>
              <a:buChar char="•"/>
            </a:pPr>
            <a:r>
              <a:rPr lang="en-US" sz="3200" dirty="0"/>
              <a:t>To succeed in </a:t>
            </a:r>
            <a:r>
              <a:rPr lang="en-US" sz="3200" b="1" dirty="0"/>
              <a:t>classification</a:t>
            </a:r>
            <a:r>
              <a:rPr lang="en-US" sz="3200" dirty="0"/>
              <a:t>, we should approach probabilities, thus the name:</a:t>
            </a:r>
          </a:p>
          <a:p>
            <a:pPr lvl="3"/>
            <a:r>
              <a:rPr lang="en-US" sz="4000" b="1" dirty="0">
                <a:solidFill>
                  <a:srgbClr val="C00000"/>
                </a:solidFill>
              </a:rPr>
              <a:t>statistical learning</a:t>
            </a:r>
            <a:endParaRPr lang="en-US" dirty="0"/>
          </a:p>
          <a:p>
            <a:endParaRPr lang="en-US" dirty="0"/>
          </a:p>
        </p:txBody>
      </p:sp>
      <mc:AlternateContent xmlns:mc="http://schemas.openxmlformats.org/markup-compatibility/2006" xmlns:a14="http://schemas.microsoft.com/office/drawing/2010/main">
        <mc:Choice Requires="a14">
          <p:sp>
            <p:nvSpPr>
              <p:cNvPr id="7" name="CuadroTexto 6">
                <a:extLst>
                  <a:ext uri="{FF2B5EF4-FFF2-40B4-BE49-F238E27FC236}">
                    <a16:creationId xmlns:a16="http://schemas.microsoft.com/office/drawing/2014/main" id="{2DD462D4-F5FC-F244-FD17-34BA255491E3}"/>
                  </a:ext>
                </a:extLst>
              </p:cNvPr>
              <p:cNvSpPr txBox="1"/>
              <p:nvPr/>
            </p:nvSpPr>
            <p:spPr>
              <a:xfrm>
                <a:off x="3347864" y="118848"/>
                <a:ext cx="4572000" cy="1382110"/>
              </a:xfrm>
              <a:prstGeom prst="rect">
                <a:avLst/>
              </a:prstGeom>
              <a:noFill/>
            </p:spPr>
            <p:txBody>
              <a:bodyPr wrap="square">
                <a:spAutoFit/>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1" i="0" u="none" strike="noStrike" kern="1200" cap="none" spc="0" normalizeH="0" baseline="0" noProof="0" dirty="0">
                  <a:ln>
                    <a:noFill/>
                  </a:ln>
                  <a:solidFill>
                    <a:prstClr val="black"/>
                  </a:solidFill>
                  <a:effectLst/>
                  <a:uLnTx/>
                  <a:uFillTx/>
                  <a:latin typeface="Calibri Ligh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kumimoji="0" lang="es-ES" sz="2800" b="0" i="0"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P</m:t>
                    </m:r>
                    <m:r>
                      <a:rPr kumimoji="0" lang="es-E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s-ES" sz="2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𝒚</m:t>
                    </m:r>
                    <m:r>
                      <a:rPr kumimoji="0" lang="es-E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s-ES" sz="28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𝒙</m:t>
                    </m:r>
                    <m:r>
                      <a:rPr kumimoji="0" lang="es-E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US" sz="2800" b="0" i="0" u="none" strike="noStrike" kern="1200" cap="none" spc="0" normalizeH="0" baseline="0" noProof="0" dirty="0">
                    <a:ln>
                      <a:noFill/>
                    </a:ln>
                    <a:solidFill>
                      <a:prstClr val="black"/>
                    </a:solidFill>
                    <a:effectLst/>
                    <a:uLnTx/>
                    <a:uFillTx/>
                    <a:latin typeface="Calibri Light"/>
                    <a:ea typeface="+mn-ea"/>
                    <a:cs typeface="+mn-cs"/>
                  </a:rPr>
                  <a:t> =</a:t>
                </a:r>
                <a14:m>
                  <m:oMath xmlns:m="http://schemas.openxmlformats.org/officeDocument/2006/math">
                    <m:f>
                      <m:fPr>
                        <m:ctrlPr>
                          <a:rPr kumimoji="0" lang="es-ES" sz="3200" b="0" i="0"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fPr>
                      <m:num>
                        <m:r>
                          <m:rPr>
                            <m:nor/>
                          </m:rPr>
                          <a:rPr kumimoji="0" lang="es-ES" sz="3200" b="0" i="0"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P</m:t>
                        </m:r>
                        <m:d>
                          <m:dPr>
                            <m:ctrlPr>
                              <a:rPr kumimoji="0" lang="es-ES" sz="3200" b="1"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dPr>
                          <m:e>
                            <m:r>
                              <a:rPr kumimoji="0" lang="es-ES" sz="3200" b="1"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𝒙</m:t>
                            </m:r>
                          </m:e>
                          <m:e>
                            <m:r>
                              <a:rPr kumimoji="0" lang="es-ES" sz="3200" b="1"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𝒚</m:t>
                            </m:r>
                          </m:e>
                        </m:d>
                        <m:r>
                          <m:rPr>
                            <m:nor/>
                          </m:rPr>
                          <a:rPr kumimoji="0" lang="es-ES" sz="3200" b="0" i="0"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P</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3200" b="1"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𝒚</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num>
                      <m:den>
                        <m:r>
                          <m:rPr>
                            <m:nor/>
                          </m:rPr>
                          <a:rPr kumimoji="0" lang="es-ES" sz="3200" b="0" i="0"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P</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s-ES" sz="3200" b="1"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𝒙</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den>
                    </m:f>
                  </m:oMath>
                </a14:m>
                <a:r>
                  <a:rPr kumimoji="0" lang="en-US" sz="2800" b="0" i="0" u="none" strike="noStrike" kern="1200" cap="none" spc="0" normalizeH="0" baseline="0" noProof="0" dirty="0">
                    <a:ln>
                      <a:noFill/>
                    </a:ln>
                    <a:solidFill>
                      <a:prstClr val="black"/>
                    </a:solidFill>
                    <a:effectLst/>
                    <a:uLnTx/>
                    <a:uFillTx/>
                    <a:latin typeface="Calibri Light"/>
                    <a:ea typeface="+mn-ea"/>
                    <a:cs typeface="+mn-cs"/>
                  </a:rPr>
                  <a:t> </a:t>
                </a:r>
              </a:p>
            </p:txBody>
          </p:sp>
        </mc:Choice>
        <mc:Fallback xmlns="">
          <p:sp>
            <p:nvSpPr>
              <p:cNvPr id="7" name="CuadroTexto 6">
                <a:extLst>
                  <a:ext uri="{FF2B5EF4-FFF2-40B4-BE49-F238E27FC236}">
                    <a16:creationId xmlns:a16="http://schemas.microsoft.com/office/drawing/2014/main" id="{2DD462D4-F5FC-F244-FD17-34BA255491E3}"/>
                  </a:ext>
                </a:extLst>
              </p:cNvPr>
              <p:cNvSpPr txBox="1">
                <a:spLocks noRot="1" noChangeAspect="1" noMove="1" noResize="1" noEditPoints="1" noAdjustHandles="1" noChangeArrowheads="1" noChangeShapeType="1" noTextEdit="1"/>
              </p:cNvSpPr>
              <p:nvPr/>
            </p:nvSpPr>
            <p:spPr>
              <a:xfrm>
                <a:off x="3347864" y="118848"/>
                <a:ext cx="4572000" cy="1382110"/>
              </a:xfrm>
              <a:prstGeom prst="rect">
                <a:avLst/>
              </a:prstGeom>
              <a:blipFill>
                <a:blip r:embed="rId2"/>
                <a:stretch>
                  <a:fillRect/>
                </a:stretch>
              </a:blipFill>
            </p:spPr>
            <p:txBody>
              <a:bodyPr/>
              <a:lstStyle/>
              <a:p>
                <a:r>
                  <a:rPr lang="en-US">
                    <a:noFill/>
                  </a:rPr>
                  <a:t> </a:t>
                </a:r>
              </a:p>
            </p:txBody>
          </p:sp>
        </mc:Fallback>
      </mc:AlternateContent>
      <p:sp>
        <p:nvSpPr>
          <p:cNvPr id="15" name="CuadroTexto 14">
            <a:extLst>
              <a:ext uri="{FF2B5EF4-FFF2-40B4-BE49-F238E27FC236}">
                <a16:creationId xmlns:a16="http://schemas.microsoft.com/office/drawing/2014/main" id="{958F7E69-A235-BFAA-9571-4789FC950D60}"/>
              </a:ext>
            </a:extLst>
          </p:cNvPr>
          <p:cNvSpPr txBox="1"/>
          <p:nvPr/>
        </p:nvSpPr>
        <p:spPr>
          <a:xfrm>
            <a:off x="755576" y="809903"/>
            <a:ext cx="4572000" cy="523220"/>
          </a:xfrm>
          <a:prstGeom prst="rect">
            <a:avLst/>
          </a:prstGeom>
          <a:noFill/>
        </p:spPr>
        <p:txBody>
          <a:bodyPr wrap="square">
            <a:spAutoFit/>
          </a:bodyPr>
          <a:lstStyle/>
          <a:p>
            <a:r>
              <a:rPr kumimoji="0" lang="en-US" sz="2800" b="1" i="0" u="none" strike="noStrike" kern="1200" cap="none" spc="0" normalizeH="0" baseline="0" noProof="0" dirty="0">
                <a:ln>
                  <a:noFill/>
                </a:ln>
                <a:solidFill>
                  <a:srgbClr val="C00000"/>
                </a:solidFill>
                <a:effectLst/>
                <a:uLnTx/>
                <a:uFillTx/>
                <a:latin typeface="Calibri Light"/>
                <a:ea typeface="+mn-ea"/>
                <a:cs typeface="+mn-cs"/>
              </a:rPr>
              <a:t>Bayes Theorem</a:t>
            </a:r>
            <a:endParaRPr lang="en-US" dirty="0"/>
          </a:p>
        </p:txBody>
      </p:sp>
    </p:spTree>
    <p:extLst>
      <p:ext uri="{BB962C8B-B14F-4D97-AF65-F5344CB8AC3E}">
        <p14:creationId xmlns:p14="http://schemas.microsoft.com/office/powerpoint/2010/main" val="1045731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1593A-B0BD-A875-A3DE-83E24AEFAA3E}"/>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918A6B69-2BCE-977A-3019-FF3C7EC8A201}"/>
              </a:ext>
            </a:extLst>
          </p:cNvPr>
          <p:cNvSpPr>
            <a:spLocks noGrp="1"/>
          </p:cNvSpPr>
          <p:nvPr>
            <p:ph type="sldNum" sz="quarter" idx="12"/>
          </p:nvPr>
        </p:nvSpPr>
        <p:spPr/>
        <p:txBody>
          <a:bodyPr/>
          <a:lstStyle/>
          <a:p>
            <a:fld id="{132FADFE-3B8F-471C-ABF0-DBC7717ECBBC}" type="slidenum">
              <a:rPr lang="es-ES" smtClean="0"/>
              <a:t>27</a:t>
            </a:fld>
            <a:endParaRPr lang="es-ES"/>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09EF5E10-E8CB-663C-4378-565E9BBFDB14}"/>
                  </a:ext>
                </a:extLst>
              </p:cNvPr>
              <p:cNvSpPr txBox="1"/>
              <p:nvPr/>
            </p:nvSpPr>
            <p:spPr>
              <a:xfrm>
                <a:off x="863827" y="727611"/>
                <a:ext cx="7822973" cy="4462760"/>
              </a:xfrm>
              <a:prstGeom prst="rect">
                <a:avLst/>
              </a:prstGeom>
              <a:solidFill>
                <a:srgbClr val="FEE8FF"/>
              </a:solidFill>
              <a:ln>
                <a:solidFill>
                  <a:srgbClr val="C4228A"/>
                </a:solidFill>
              </a:ln>
            </p:spPr>
            <p:txBody>
              <a:bodyPr wrap="square" rtlCol="0">
                <a:spAutoFit/>
              </a:bodyPr>
              <a:lstStyle>
                <a:defPPr>
                  <a:defRPr lang="es-ES"/>
                </a:defPPr>
                <a:lvl1pPr>
                  <a:defRPr sz="4000" b="1">
                    <a:solidFill>
                      <a:schemeClr val="tx1">
                        <a:lumMod val="75000"/>
                        <a:lumOff val="25000"/>
                      </a:schemeClr>
                    </a:solidFill>
                  </a:defRPr>
                </a:lvl1pPr>
                <a:lvl4pPr lvl="3">
                  <a:defRPr sz="4000" b="1">
                    <a:solidFill>
                      <a:srgbClr val="C00000"/>
                    </a:solidFill>
                  </a:defRPr>
                </a:lvl4pPr>
              </a:lstStyle>
              <a:p>
                <a:r>
                  <a:rPr lang="en-US" dirty="0"/>
                  <a:t>Main takeaways:</a:t>
                </a:r>
              </a:p>
              <a:p>
                <a:pPr marL="571500" indent="-571500">
                  <a:buFont typeface="Arial" panose="020B0604020202020204" pitchFamily="34" charset="0"/>
                  <a:buChar char="•"/>
                </a:pPr>
                <a:r>
                  <a:rPr lang="en-US" sz="3200" dirty="0">
                    <a:solidFill>
                      <a:schemeClr val="tx1"/>
                    </a:solidFill>
                  </a:rPr>
                  <a:t>Usually, we don’t know the true probabilities</a:t>
                </a:r>
                <a:endParaRPr lang="es-ES" sz="3200" dirty="0">
                  <a:solidFill>
                    <a:schemeClr val="tx1"/>
                  </a:solidFill>
                </a:endParaRPr>
              </a:p>
              <a:p>
                <a:pPr/>
                <a14:m>
                  <m:oMathPara xmlns:m="http://schemas.openxmlformats.org/officeDocument/2006/math">
                    <m:oMath>
                      <m:r>
                        <m:rPr>
                          <m:nor/>
                        </m:rPr>
                        <a:rPr lang="es-ES" sz="3600" i="0" dirty="0"/>
                        <m:t>P(</m:t>
                      </m:r>
                      <m:r>
                        <a:rPr lang="es-ES" sz="3600" dirty="0">
                          <a:latin typeface="Cambria Math" panose="02040503050406030204" pitchFamily="18" charset="0"/>
                        </a:rPr>
                        <m:t>𝒙</m:t>
                      </m:r>
                      <m:r>
                        <m:rPr>
                          <m:nor/>
                        </m:rPr>
                        <a:rPr lang="es-ES" sz="3600" i="0" dirty="0"/>
                        <m:t>,</m:t>
                      </m:r>
                      <m:r>
                        <a:rPr lang="es-ES" sz="3600" dirty="0">
                          <a:latin typeface="Cambria Math" panose="02040503050406030204" pitchFamily="18" charset="0"/>
                        </a:rPr>
                        <m:t>𝒚</m:t>
                      </m:r>
                      <m:r>
                        <m:rPr>
                          <m:nor/>
                        </m:rPr>
                        <a:rPr lang="es-ES" sz="3600" i="0" dirty="0"/>
                        <m:t>)=P</m:t>
                      </m:r>
                      <m:d>
                        <m:dPr>
                          <m:ctrlPr>
                            <a:rPr lang="es-ES" sz="3600" dirty="0">
                              <a:latin typeface="Cambria Math" panose="02040503050406030204" pitchFamily="18" charset="0"/>
                            </a:rPr>
                          </m:ctrlPr>
                        </m:dPr>
                        <m:e>
                          <m:r>
                            <a:rPr lang="es-ES" sz="3600" dirty="0">
                              <a:latin typeface="Cambria Math" panose="02040503050406030204" pitchFamily="18" charset="0"/>
                            </a:rPr>
                            <m:t>𝒙</m:t>
                          </m:r>
                        </m:e>
                        <m:e>
                          <m:r>
                            <a:rPr lang="es-ES" sz="3600" dirty="0">
                              <a:latin typeface="Cambria Math" panose="02040503050406030204" pitchFamily="18" charset="0"/>
                            </a:rPr>
                            <m:t>𝒚</m:t>
                          </m:r>
                        </m:e>
                      </m:d>
                      <m:r>
                        <m:rPr>
                          <m:nor/>
                        </m:rPr>
                        <a:rPr lang="es-ES" sz="3600" i="0" dirty="0"/>
                        <m:t>P</m:t>
                      </m:r>
                      <m:r>
                        <a:rPr lang="es-ES" sz="3600" dirty="0">
                          <a:latin typeface="Cambria Math" panose="02040503050406030204" pitchFamily="18" charset="0"/>
                        </a:rPr>
                        <m:t>(</m:t>
                      </m:r>
                      <m:r>
                        <a:rPr lang="es-ES" sz="3600" dirty="0">
                          <a:latin typeface="Cambria Math" panose="02040503050406030204" pitchFamily="18" charset="0"/>
                        </a:rPr>
                        <m:t>𝒚</m:t>
                      </m:r>
                      <m:r>
                        <a:rPr lang="es-ES" sz="3600" dirty="0">
                          <a:latin typeface="Cambria Math" panose="02040503050406030204" pitchFamily="18" charset="0"/>
                        </a:rPr>
                        <m:t>)</m:t>
                      </m:r>
                    </m:oMath>
                  </m:oMathPara>
                </a14:m>
                <a:endParaRPr lang="en-US" sz="3600" dirty="0"/>
              </a:p>
              <a:p>
                <a:endParaRPr lang="en-US" dirty="0"/>
              </a:p>
              <a:p>
                <a:pPr marL="571500" indent="-571500">
                  <a:buFont typeface="Arial" panose="020B0604020202020204" pitchFamily="34" charset="0"/>
                  <a:buChar char="•"/>
                </a:pPr>
                <a:r>
                  <a:rPr lang="en-US" sz="3200" dirty="0">
                    <a:solidFill>
                      <a:schemeClr val="tx1"/>
                    </a:solidFill>
                  </a:rPr>
                  <a:t>Therefore, we must </a:t>
                </a:r>
                <a:r>
                  <a:rPr lang="en-US" sz="3200" dirty="0">
                    <a:solidFill>
                      <a:srgbClr val="C00000"/>
                    </a:solidFill>
                  </a:rPr>
                  <a:t>approach the task </a:t>
                </a:r>
                <a14:m>
                  <m:oMath xmlns:m="http://schemas.openxmlformats.org/officeDocument/2006/math">
                    <m:r>
                      <a:rPr lang="es-ES" sz="3200" b="1" i="1" smtClean="0">
                        <a:solidFill>
                          <a:srgbClr val="C00000"/>
                        </a:solidFill>
                        <a:latin typeface="Cambria Math" panose="02040503050406030204" pitchFamily="18" charset="0"/>
                      </a:rPr>
                      <m:t>𝒚</m:t>
                    </m:r>
                    <m:r>
                      <a:rPr lang="es-ES" sz="3200" b="1" i="1" smtClean="0">
                        <a:solidFill>
                          <a:srgbClr val="C00000"/>
                        </a:solidFill>
                        <a:latin typeface="Cambria Math" panose="02040503050406030204" pitchFamily="18" charset="0"/>
                      </a:rPr>
                      <m:t>=</m:t>
                    </m:r>
                    <m:r>
                      <m:rPr>
                        <m:sty m:val="p"/>
                      </m:rPr>
                      <a:rPr lang="es-ES" sz="3200" b="1" i="1" smtClean="0">
                        <a:solidFill>
                          <a:srgbClr val="C00000"/>
                        </a:solidFill>
                        <a:latin typeface="Cambria Math" panose="02040503050406030204" pitchFamily="18" charset="0"/>
                      </a:rPr>
                      <m:t>f</m:t>
                    </m:r>
                    <m:r>
                      <a:rPr lang="es-ES" sz="3200" b="1" i="1" smtClean="0">
                        <a:solidFill>
                          <a:srgbClr val="C00000"/>
                        </a:solidFill>
                        <a:latin typeface="Cambria Math" panose="02040503050406030204" pitchFamily="18" charset="0"/>
                      </a:rPr>
                      <m:t>(</m:t>
                    </m:r>
                    <m:r>
                      <a:rPr lang="es-ES" sz="3200" b="1" i="1" smtClean="0">
                        <a:solidFill>
                          <a:srgbClr val="C00000"/>
                        </a:solidFill>
                        <a:latin typeface="Cambria Math" panose="02040503050406030204" pitchFamily="18" charset="0"/>
                      </a:rPr>
                      <m:t>𝒙</m:t>
                    </m:r>
                    <m:r>
                      <a:rPr lang="es-ES" sz="3200" b="1" i="1" smtClean="0">
                        <a:solidFill>
                          <a:srgbClr val="C00000"/>
                        </a:solidFill>
                        <a:latin typeface="Cambria Math" panose="02040503050406030204" pitchFamily="18" charset="0"/>
                      </a:rPr>
                      <m:t>)</m:t>
                    </m:r>
                  </m:oMath>
                </a14:m>
                <a:r>
                  <a:rPr lang="en-US" sz="3200" dirty="0">
                    <a:solidFill>
                      <a:srgbClr val="C00000"/>
                    </a:solidFill>
                  </a:rPr>
                  <a:t> in a </a:t>
                </a:r>
                <a:r>
                  <a:rPr lang="en-US" sz="3200" dirty="0">
                    <a:solidFill>
                      <a:srgbClr val="0070C0"/>
                    </a:solidFill>
                  </a:rPr>
                  <a:t>parametric </a:t>
                </a:r>
                <a:r>
                  <a:rPr lang="en-US" sz="3200" dirty="0">
                    <a:solidFill>
                      <a:srgbClr val="C00000"/>
                    </a:solidFill>
                  </a:rPr>
                  <a:t>or </a:t>
                </a:r>
                <a:r>
                  <a:rPr lang="en-US" sz="3200" dirty="0">
                    <a:solidFill>
                      <a:schemeClr val="accent6">
                        <a:lumMod val="75000"/>
                      </a:schemeClr>
                    </a:solidFill>
                  </a:rPr>
                  <a:t>non-parametric way</a:t>
                </a:r>
              </a:p>
              <a:p>
                <a:endParaRPr lang="en-US" dirty="0"/>
              </a:p>
            </p:txBody>
          </p:sp>
        </mc:Choice>
        <mc:Fallback xmlns="">
          <p:sp>
            <p:nvSpPr>
              <p:cNvPr id="3" name="CuadroTexto 2">
                <a:extLst>
                  <a:ext uri="{FF2B5EF4-FFF2-40B4-BE49-F238E27FC236}">
                    <a16:creationId xmlns:a16="http://schemas.microsoft.com/office/drawing/2014/main" id="{09EF5E10-E8CB-663C-4378-565E9BBFDB14}"/>
                  </a:ext>
                </a:extLst>
              </p:cNvPr>
              <p:cNvSpPr txBox="1">
                <a:spLocks noRot="1" noChangeAspect="1" noMove="1" noResize="1" noEditPoints="1" noAdjustHandles="1" noChangeArrowheads="1" noChangeShapeType="1" noTextEdit="1"/>
              </p:cNvSpPr>
              <p:nvPr/>
            </p:nvSpPr>
            <p:spPr>
              <a:xfrm>
                <a:off x="863827" y="727611"/>
                <a:ext cx="7822973" cy="4462760"/>
              </a:xfrm>
              <a:prstGeom prst="rect">
                <a:avLst/>
              </a:prstGeom>
              <a:blipFill>
                <a:blip r:embed="rId2"/>
                <a:stretch>
                  <a:fillRect l="-2724" t="-2316" r="-623"/>
                </a:stretch>
              </a:blipFill>
              <a:ln>
                <a:solidFill>
                  <a:srgbClr val="C4228A"/>
                </a:solidFill>
              </a:ln>
            </p:spPr>
            <p:txBody>
              <a:bodyPr/>
              <a:lstStyle/>
              <a:p>
                <a:r>
                  <a:rPr lang="en-US">
                    <a:noFill/>
                  </a:rPr>
                  <a:t> </a:t>
                </a:r>
              </a:p>
            </p:txBody>
          </p:sp>
        </mc:Fallback>
      </mc:AlternateContent>
    </p:spTree>
    <p:extLst>
      <p:ext uri="{BB962C8B-B14F-4D97-AF65-F5344CB8AC3E}">
        <p14:creationId xmlns:p14="http://schemas.microsoft.com/office/powerpoint/2010/main" val="3236204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7DF99-6EF2-1137-7FC4-CBB612E11919}"/>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ACEA1CC-AC26-6FEB-4A6F-F7DF3F761BA7}"/>
              </a:ext>
            </a:extLst>
          </p:cNvPr>
          <p:cNvSpPr>
            <a:spLocks noGrp="1"/>
          </p:cNvSpPr>
          <p:nvPr>
            <p:ph type="sldNum" sz="quarter" idx="12"/>
          </p:nvPr>
        </p:nvSpPr>
        <p:spPr/>
        <p:txBody>
          <a:bodyPr/>
          <a:lstStyle/>
          <a:p>
            <a:fld id="{132FADFE-3B8F-471C-ABF0-DBC7717ECBBC}" type="slidenum">
              <a:rPr lang="es-ES" smtClean="0"/>
              <a:t>28</a:t>
            </a:fld>
            <a:endParaRPr lang="es-ES"/>
          </a:p>
        </p:txBody>
      </p:sp>
      <p:sp>
        <p:nvSpPr>
          <p:cNvPr id="3" name="CuadroTexto 2">
            <a:extLst>
              <a:ext uri="{FF2B5EF4-FFF2-40B4-BE49-F238E27FC236}">
                <a16:creationId xmlns:a16="http://schemas.microsoft.com/office/drawing/2014/main" id="{3450755A-089A-F8FD-1E19-BB4A80C1F912}"/>
              </a:ext>
            </a:extLst>
          </p:cNvPr>
          <p:cNvSpPr txBox="1"/>
          <p:nvPr/>
        </p:nvSpPr>
        <p:spPr>
          <a:xfrm>
            <a:off x="660513" y="836712"/>
            <a:ext cx="7822973" cy="1692771"/>
          </a:xfrm>
          <a:prstGeom prst="rect">
            <a:avLst/>
          </a:prstGeom>
          <a:solidFill>
            <a:srgbClr val="FEE8FF"/>
          </a:solidFill>
          <a:ln>
            <a:solidFill>
              <a:srgbClr val="C4228A"/>
            </a:solidFill>
          </a:ln>
        </p:spPr>
        <p:txBody>
          <a:bodyPr wrap="square" rtlCol="0">
            <a:spAutoFit/>
          </a:bodyPr>
          <a:lstStyle>
            <a:defPPr>
              <a:defRPr lang="es-ES"/>
            </a:defPPr>
            <a:lvl1pPr>
              <a:defRPr sz="4000" b="1">
                <a:solidFill>
                  <a:schemeClr val="tx1">
                    <a:lumMod val="75000"/>
                    <a:lumOff val="25000"/>
                  </a:schemeClr>
                </a:solidFill>
              </a:defRPr>
            </a:lvl1pPr>
            <a:lvl4pPr lvl="3">
              <a:defRPr sz="4000" b="1">
                <a:solidFill>
                  <a:srgbClr val="C00000"/>
                </a:solidFill>
              </a:defRPr>
            </a:lvl4pPr>
          </a:lstStyle>
          <a:p>
            <a:r>
              <a:rPr lang="en-US" dirty="0"/>
              <a:t>Main takeaways:</a:t>
            </a:r>
          </a:p>
          <a:p>
            <a:pPr marL="571500" indent="-571500">
              <a:buFont typeface="Arial" panose="020B0604020202020204" pitchFamily="34" charset="0"/>
              <a:buChar char="•"/>
            </a:pPr>
            <a:r>
              <a:rPr lang="en-US" sz="3200" dirty="0">
                <a:solidFill>
                  <a:schemeClr val="tx1"/>
                </a:solidFill>
              </a:rPr>
              <a:t>A similar same discussion can be done for a </a:t>
            </a:r>
            <a:r>
              <a:rPr lang="en-US" sz="3200" dirty="0">
                <a:solidFill>
                  <a:srgbClr val="00B0F0"/>
                </a:solidFill>
              </a:rPr>
              <a:t>regression</a:t>
            </a:r>
            <a:r>
              <a:rPr lang="en-US" sz="3200" dirty="0">
                <a:solidFill>
                  <a:schemeClr val="tx1"/>
                </a:solidFill>
              </a:rPr>
              <a:t> problems.</a:t>
            </a:r>
            <a:endParaRPr lang="en-US" dirty="0"/>
          </a:p>
        </p:txBody>
      </p:sp>
      <p:sp>
        <p:nvSpPr>
          <p:cNvPr id="4" name="CuadroTexto 3">
            <a:extLst>
              <a:ext uri="{FF2B5EF4-FFF2-40B4-BE49-F238E27FC236}">
                <a16:creationId xmlns:a16="http://schemas.microsoft.com/office/drawing/2014/main" id="{2BDE06D3-14C3-9B58-A31D-3CBE640DEBD8}"/>
              </a:ext>
            </a:extLst>
          </p:cNvPr>
          <p:cNvSpPr txBox="1"/>
          <p:nvPr/>
        </p:nvSpPr>
        <p:spPr>
          <a:xfrm>
            <a:off x="1643336" y="3447028"/>
            <a:ext cx="5976664" cy="1569660"/>
          </a:xfrm>
          <a:prstGeom prst="rect">
            <a:avLst/>
          </a:prstGeom>
          <a:solidFill>
            <a:srgbClr val="FCFEE8"/>
          </a:solidFill>
          <a:ln>
            <a:solidFill>
              <a:srgbClr val="C4228A"/>
            </a:solidFill>
          </a:ln>
        </p:spPr>
        <p:txBody>
          <a:bodyPr wrap="square" rtlCol="0">
            <a:spAutoFit/>
          </a:bodyPr>
          <a:lstStyle/>
          <a:p>
            <a:pPr algn="ctr"/>
            <a:r>
              <a:rPr lang="en-US" sz="4800" dirty="0">
                <a:solidFill>
                  <a:schemeClr val="accent6">
                    <a:lumMod val="50000"/>
                  </a:schemeClr>
                </a:solidFill>
              </a:rPr>
              <a:t>These discussions are studied in Chapter 2</a:t>
            </a:r>
          </a:p>
        </p:txBody>
      </p:sp>
    </p:spTree>
    <p:extLst>
      <p:ext uri="{BB962C8B-B14F-4D97-AF65-F5344CB8AC3E}">
        <p14:creationId xmlns:p14="http://schemas.microsoft.com/office/powerpoint/2010/main" val="175419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n-US" sz="3100" b="1" noProof="0" dirty="0"/>
              <a:t>Introduction to Machine Learning</a:t>
            </a:r>
            <a:br>
              <a:rPr lang="en-US" sz="3100" b="1" noProof="0" dirty="0"/>
            </a:br>
            <a:endParaRPr lang="en-US" sz="2700" noProof="0" dirty="0"/>
          </a:p>
        </p:txBody>
      </p:sp>
      <mc:AlternateContent xmlns:mc="http://schemas.openxmlformats.org/markup-compatibility/2006" xmlns:a14="http://schemas.microsoft.com/office/drawing/2010/main">
        <mc:Choice Requires="a14">
          <p:sp>
            <p:nvSpPr>
              <p:cNvPr id="5" name="Content Placeholder 2"/>
              <p:cNvSpPr txBox="1">
                <a:spLocks/>
              </p:cNvSpPr>
              <p:nvPr/>
            </p:nvSpPr>
            <p:spPr>
              <a:xfrm>
                <a:off x="671052" y="1052736"/>
                <a:ext cx="7772400" cy="5257800"/>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lgn="ctr">
                  <a:buNone/>
                </a:pPr>
                <a:r>
                  <a:rPr lang="en-US" sz="3200" b="1" noProof="0" dirty="0">
                    <a:solidFill>
                      <a:srgbClr val="0070C0"/>
                    </a:solidFill>
                  </a:rPr>
                  <a:t>Statistical Learning versus Machine Learning</a:t>
                </a:r>
              </a:p>
              <a:p>
                <a:pPr marL="457200" lvl="1" indent="0" algn="ctr">
                  <a:buNone/>
                </a:pPr>
                <a:endParaRPr lang="en-US" sz="800" b="1" noProof="0" dirty="0">
                  <a:solidFill>
                    <a:srgbClr val="00B0F0"/>
                  </a:solidFill>
                </a:endParaRPr>
              </a:p>
              <a:p>
                <a:pPr>
                  <a:spcAft>
                    <a:spcPts val="1200"/>
                  </a:spcAft>
                </a:pPr>
                <a:r>
                  <a:rPr lang="en-US" sz="2000" noProof="0" dirty="0"/>
                  <a:t>Machine learning arose as a subfield of Artificial Intelligence.</a:t>
                </a:r>
              </a:p>
              <a:p>
                <a:pPr>
                  <a:spcAft>
                    <a:spcPts val="1200"/>
                  </a:spcAft>
                </a:pPr>
                <a:r>
                  <a:rPr lang="en-US" sz="2000" noProof="0" dirty="0"/>
                  <a:t>Statistical learning arose as a subfield of Statistics.</a:t>
                </a:r>
              </a:p>
              <a:p>
                <a:pPr>
                  <a:spcAft>
                    <a:spcPts val="1200"/>
                  </a:spcAft>
                </a:pPr>
                <a:r>
                  <a:rPr lang="en-US" sz="2000" b="1" i="1" noProof="0" dirty="0">
                    <a:solidFill>
                      <a:srgbClr val="C00000"/>
                    </a:solidFill>
                  </a:rPr>
                  <a:t>There is much overlap </a:t>
                </a:r>
                <a14:m>
                  <m:oMath xmlns:m="http://schemas.openxmlformats.org/officeDocument/2006/math">
                    <m:r>
                      <a:rPr lang="en-US" sz="2000" i="1" noProof="0" smtClean="0">
                        <a:latin typeface="Cambria Math"/>
                      </a:rPr>
                      <m:t>−</m:t>
                    </m:r>
                  </m:oMath>
                </a14:m>
                <a:r>
                  <a:rPr lang="en-US" sz="2000" noProof="0" dirty="0"/>
                  <a:t> both fields focus on supervised and unsupervised problems:</a:t>
                </a:r>
              </a:p>
              <a:p>
                <a:pPr lvl="1">
                  <a:spcAft>
                    <a:spcPts val="1200"/>
                  </a:spcAft>
                </a:pPr>
                <a:r>
                  <a:rPr lang="en-US" sz="1800" noProof="0" dirty="0"/>
                  <a:t>Machine learning has a greater emphasis on large scale applications and prediction accuracy.</a:t>
                </a:r>
              </a:p>
              <a:p>
                <a:pPr lvl="1">
                  <a:spcAft>
                    <a:spcPts val="1200"/>
                  </a:spcAft>
                </a:pPr>
                <a:r>
                  <a:rPr lang="en-US" sz="1800" noProof="0" dirty="0"/>
                  <a:t>Statistical learning emphasizes models and their interpretability, and precision and uncertainty.</a:t>
                </a:r>
              </a:p>
              <a:p>
                <a:pPr>
                  <a:spcAft>
                    <a:spcPts val="1200"/>
                  </a:spcAft>
                </a:pPr>
                <a:r>
                  <a:rPr lang="en-US" sz="2000" noProof="0" dirty="0"/>
                  <a:t>But the distinction has become more and more blurred, and there is a great deal of “cross-fertilization".</a:t>
                </a:r>
              </a:p>
              <a:p>
                <a:pPr>
                  <a:spcAft>
                    <a:spcPts val="1200"/>
                  </a:spcAft>
                </a:pPr>
                <a:r>
                  <a:rPr lang="en-US" sz="2000" noProof="0" dirty="0"/>
                  <a:t>Machine learning has the upper hand in </a:t>
                </a:r>
                <a:r>
                  <a:rPr lang="en-US" sz="2000" b="1" i="1" noProof="0" dirty="0"/>
                  <a:t>Marketing</a:t>
                </a:r>
                <a:r>
                  <a:rPr lang="en-US" sz="2000" noProof="0" dirty="0"/>
                  <a:t>!</a:t>
                </a:r>
              </a:p>
            </p:txBody>
          </p:sp>
        </mc:Choice>
        <mc:Fallback xmlns="">
          <p:sp>
            <p:nvSpPr>
              <p:cNvPr id="5" name="Content Placeholder 2"/>
              <p:cNvSpPr txBox="1">
                <a:spLocks noRot="1" noChangeAspect="1" noMove="1" noResize="1" noEditPoints="1" noAdjustHandles="1" noChangeArrowheads="1" noChangeShapeType="1" noTextEdit="1"/>
              </p:cNvSpPr>
              <p:nvPr/>
            </p:nvSpPr>
            <p:spPr>
              <a:xfrm>
                <a:off x="671052" y="1052736"/>
                <a:ext cx="7772400" cy="5257800"/>
              </a:xfrm>
              <a:prstGeom prst="rect">
                <a:avLst/>
              </a:prstGeom>
              <a:blipFill>
                <a:blip r:embed="rId2"/>
                <a:stretch>
                  <a:fillRect l="-706" t="-2436" r="-1647"/>
                </a:stretch>
              </a:blipFill>
            </p:spPr>
            <p:txBody>
              <a:bodyPr/>
              <a:lstStyle/>
              <a:p>
                <a:r>
                  <a:rPr lang="en-US">
                    <a:noFill/>
                  </a:rPr>
                  <a:t> </a:t>
                </a:r>
              </a:p>
            </p:txBody>
          </p:sp>
        </mc:Fallback>
      </mc:AlternateContent>
    </p:spTree>
    <p:extLst>
      <p:ext uri="{BB962C8B-B14F-4D97-AF65-F5344CB8AC3E}">
        <p14:creationId xmlns:p14="http://schemas.microsoft.com/office/powerpoint/2010/main" val="134200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C48CA02-F2C0-9195-776C-FB98726E84B7}"/>
              </a:ext>
            </a:extLst>
          </p:cNvPr>
          <p:cNvSpPr txBox="1"/>
          <p:nvPr/>
        </p:nvSpPr>
        <p:spPr>
          <a:xfrm>
            <a:off x="1259632" y="476672"/>
            <a:ext cx="7164288" cy="5361789"/>
          </a:xfrm>
          <a:prstGeom prst="rect">
            <a:avLst/>
          </a:prstGeom>
          <a:noFill/>
        </p:spPr>
        <p:txBody>
          <a:bodyPr wrap="square" rtlCol="0">
            <a:spAutoFit/>
          </a:bodyPr>
          <a:lstStyle/>
          <a:p>
            <a:r>
              <a:rPr lang="en-US" sz="4400" dirty="0"/>
              <a:t>Find your own descriptions or relationships for the following terms:</a:t>
            </a:r>
          </a:p>
          <a:p>
            <a:pPr marL="1200150" lvl="2" indent="-285750">
              <a:lnSpc>
                <a:spcPct val="150000"/>
              </a:lnSpc>
              <a:buFont typeface="Arial" panose="020B0604020202020204" pitchFamily="34" charset="0"/>
              <a:buChar char="•"/>
            </a:pPr>
            <a:r>
              <a:rPr lang="en-US" sz="3600" dirty="0"/>
              <a:t>Statistical Learning</a:t>
            </a:r>
          </a:p>
          <a:p>
            <a:pPr marL="1200150" lvl="2" indent="-285750">
              <a:lnSpc>
                <a:spcPct val="150000"/>
              </a:lnSpc>
              <a:buFont typeface="Arial" panose="020B0604020202020204" pitchFamily="34" charset="0"/>
              <a:buChar char="•"/>
            </a:pPr>
            <a:r>
              <a:rPr lang="en-US" sz="3600" dirty="0"/>
              <a:t>Machine Learning</a:t>
            </a:r>
          </a:p>
          <a:p>
            <a:pPr marL="1200150" lvl="2" indent="-285750">
              <a:lnSpc>
                <a:spcPct val="150000"/>
              </a:lnSpc>
              <a:buFont typeface="Arial" panose="020B0604020202020204" pitchFamily="34" charset="0"/>
              <a:buChar char="•"/>
            </a:pPr>
            <a:r>
              <a:rPr lang="en-US" sz="3600" dirty="0"/>
              <a:t>Deep Learning</a:t>
            </a:r>
          </a:p>
          <a:p>
            <a:pPr marL="1200150" lvl="2" indent="-285750">
              <a:lnSpc>
                <a:spcPct val="150000"/>
              </a:lnSpc>
              <a:buFont typeface="Arial" panose="020B0604020202020204" pitchFamily="34" charset="0"/>
              <a:buChar char="•"/>
            </a:pPr>
            <a:r>
              <a:rPr lang="en-US" sz="3600" dirty="0"/>
              <a:t>Artificial Intelligence</a:t>
            </a:r>
          </a:p>
        </p:txBody>
      </p:sp>
    </p:spTree>
    <p:extLst>
      <p:ext uri="{BB962C8B-B14F-4D97-AF65-F5344CB8AC3E}">
        <p14:creationId xmlns:p14="http://schemas.microsoft.com/office/powerpoint/2010/main" val="1052245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84B65-657A-0EF8-4260-539854810F17}"/>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AA837AC-ECB3-AA43-A868-1B167CC4B151}"/>
              </a:ext>
            </a:extLst>
          </p:cNvPr>
          <p:cNvSpPr>
            <a:spLocks noGrp="1"/>
          </p:cNvSpPr>
          <p:nvPr>
            <p:ph type="sldNum" sz="quarter" idx="12"/>
          </p:nvPr>
        </p:nvSpPr>
        <p:spPr/>
        <p:txBody>
          <a:bodyPr/>
          <a:lstStyle/>
          <a:p>
            <a:fld id="{132FADFE-3B8F-471C-ABF0-DBC7717ECBBC}" type="slidenum">
              <a:rPr lang="es-ES" smtClean="0"/>
              <a:t>31</a:t>
            </a:fld>
            <a:endParaRPr lang="es-ES"/>
          </a:p>
        </p:txBody>
      </p:sp>
      <p:sp>
        <p:nvSpPr>
          <p:cNvPr id="4" name="CuadroTexto 3">
            <a:extLst>
              <a:ext uri="{FF2B5EF4-FFF2-40B4-BE49-F238E27FC236}">
                <a16:creationId xmlns:a16="http://schemas.microsoft.com/office/drawing/2014/main" id="{56CEAD67-2EB5-7C75-E0B6-18A68F2D109F}"/>
              </a:ext>
            </a:extLst>
          </p:cNvPr>
          <p:cNvSpPr txBox="1"/>
          <p:nvPr/>
        </p:nvSpPr>
        <p:spPr>
          <a:xfrm>
            <a:off x="2006850" y="404664"/>
            <a:ext cx="5976664" cy="2308324"/>
          </a:xfrm>
          <a:prstGeom prst="rect">
            <a:avLst/>
          </a:prstGeom>
          <a:solidFill>
            <a:srgbClr val="FCFEE8"/>
          </a:solidFill>
          <a:ln>
            <a:solidFill>
              <a:srgbClr val="C4228A"/>
            </a:solidFill>
          </a:ln>
        </p:spPr>
        <p:txBody>
          <a:bodyPr wrap="square" rtlCol="0">
            <a:spAutoFit/>
          </a:bodyPr>
          <a:lstStyle/>
          <a:p>
            <a:pPr algn="ctr"/>
            <a:r>
              <a:rPr lang="en-US" sz="4800" dirty="0">
                <a:solidFill>
                  <a:schemeClr val="accent6">
                    <a:lumMod val="50000"/>
                  </a:schemeClr>
                </a:solidFill>
              </a:rPr>
              <a:t>But before Chapter 2</a:t>
            </a:r>
          </a:p>
          <a:p>
            <a:pPr algn="ctr"/>
            <a:r>
              <a:rPr lang="en-US" sz="4800" dirty="0">
                <a:solidFill>
                  <a:schemeClr val="accent6">
                    <a:lumMod val="50000"/>
                  </a:schemeClr>
                </a:solidFill>
              </a:rPr>
              <a:t>Let’s think a little more far away…</a:t>
            </a:r>
          </a:p>
        </p:txBody>
      </p:sp>
      <p:pic>
        <p:nvPicPr>
          <p:cNvPr id="5" name="Imagen 4">
            <a:extLst>
              <a:ext uri="{FF2B5EF4-FFF2-40B4-BE49-F238E27FC236}">
                <a16:creationId xmlns:a16="http://schemas.microsoft.com/office/drawing/2014/main" id="{25717594-016A-8D1E-7D49-4C9ABBD90E7E}"/>
              </a:ext>
            </a:extLst>
          </p:cNvPr>
          <p:cNvPicPr>
            <a:picLocks noChangeAspect="1"/>
          </p:cNvPicPr>
          <p:nvPr/>
        </p:nvPicPr>
        <p:blipFill>
          <a:blip r:embed="rId2"/>
          <a:stretch>
            <a:fillRect/>
          </a:stretch>
        </p:blipFill>
        <p:spPr>
          <a:xfrm>
            <a:off x="4211960" y="3529263"/>
            <a:ext cx="1225402" cy="1231499"/>
          </a:xfrm>
          <a:prstGeom prst="rect">
            <a:avLst/>
          </a:prstGeom>
        </p:spPr>
      </p:pic>
    </p:spTree>
    <p:extLst>
      <p:ext uri="{BB962C8B-B14F-4D97-AF65-F5344CB8AC3E}">
        <p14:creationId xmlns:p14="http://schemas.microsoft.com/office/powerpoint/2010/main" val="19685375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1F6D1-BC25-A419-F625-AEF766F0403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41DD593-3FD1-B0D7-ED90-2CF074358885}"/>
              </a:ext>
            </a:extLst>
          </p:cNvPr>
          <p:cNvPicPr>
            <a:picLocks noChangeAspect="1"/>
          </p:cNvPicPr>
          <p:nvPr/>
        </p:nvPicPr>
        <p:blipFill>
          <a:blip r:embed="rId2"/>
          <a:stretch>
            <a:fillRect/>
          </a:stretch>
        </p:blipFill>
        <p:spPr>
          <a:xfrm>
            <a:off x="683568" y="620688"/>
            <a:ext cx="1224136" cy="1230863"/>
          </a:xfrm>
          <a:prstGeom prst="rect">
            <a:avLst/>
          </a:prstGeom>
        </p:spPr>
      </p:pic>
      <p:sp>
        <p:nvSpPr>
          <p:cNvPr id="4" name="CuadroTexto 3">
            <a:extLst>
              <a:ext uri="{FF2B5EF4-FFF2-40B4-BE49-F238E27FC236}">
                <a16:creationId xmlns:a16="http://schemas.microsoft.com/office/drawing/2014/main" id="{78C22F24-2E6B-1A28-E531-3633B1D89DD5}"/>
              </a:ext>
            </a:extLst>
          </p:cNvPr>
          <p:cNvSpPr txBox="1"/>
          <p:nvPr/>
        </p:nvSpPr>
        <p:spPr>
          <a:xfrm>
            <a:off x="2123728" y="188640"/>
            <a:ext cx="6552728" cy="2554545"/>
          </a:xfrm>
          <a:prstGeom prst="rect">
            <a:avLst/>
          </a:prstGeom>
          <a:noFill/>
        </p:spPr>
        <p:txBody>
          <a:bodyPr wrap="square" rtlCol="0">
            <a:spAutoFit/>
          </a:bodyPr>
          <a:lstStyle/>
          <a:p>
            <a:r>
              <a:rPr lang="en-US" sz="3200" dirty="0"/>
              <a:t>GPT models, are trained to predict the next word (token) given the </a:t>
            </a:r>
            <a:r>
              <a:rPr lang="en-US" sz="3200" i="1" dirty="0"/>
              <a:t>context </a:t>
            </a:r>
            <a:r>
              <a:rPr lang="en-US" sz="3200" dirty="0"/>
              <a:t>(prompt, previous words, retrieved information RAG –Retrieval Augmented Generation- , etc.)</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56A00767-24F6-8A54-8DA8-BBCD778688AE}"/>
                  </a:ext>
                </a:extLst>
              </p:cNvPr>
              <p:cNvSpPr txBox="1"/>
              <p:nvPr/>
            </p:nvSpPr>
            <p:spPr>
              <a:xfrm>
                <a:off x="539552" y="3212976"/>
                <a:ext cx="8424936" cy="2764346"/>
              </a:xfrm>
              <a:prstGeom prst="rect">
                <a:avLst/>
              </a:prstGeom>
              <a:solidFill>
                <a:srgbClr val="C5DCFF"/>
              </a:solidFill>
              <a:ln w="19050">
                <a:solidFill>
                  <a:srgbClr val="002060"/>
                </a:solidFill>
              </a:ln>
            </p:spPr>
            <p:txBody>
              <a:bodyPr wrap="square" lIns="0" tIns="0" rIns="0" bIns="0" rtlCol="0">
                <a:spAutoFit/>
              </a:bodyPr>
              <a:lstStyle/>
              <a:p>
                <a:pPr marL="571500" indent="-571500">
                  <a:buFont typeface="Arial" panose="020B0604020202020204" pitchFamily="34" charset="0"/>
                  <a:buChar char="•"/>
                </a:pPr>
                <a:r>
                  <a:rPr lang="en-US" sz="3200" dirty="0"/>
                  <a:t>Given a prompt, sequence of previous tokens </a:t>
                </a:r>
                <a14:m>
                  <m:oMath xmlns:m="http://schemas.openxmlformats.org/officeDocument/2006/math">
                    <m:sSub>
                      <m:sSubPr>
                        <m:ctrlPr>
                          <a:rPr lang="es-ES" sz="3200" i="0" dirty="0" smtClean="0">
                            <a:latin typeface="Cambria Math" panose="02040503050406030204" pitchFamily="18" charset="0"/>
                          </a:rPr>
                        </m:ctrlPr>
                      </m:sSubPr>
                      <m:e>
                        <m:r>
                          <m:rPr>
                            <m:nor/>
                          </m:rPr>
                          <a:rPr lang="es-ES" sz="3200" i="0" dirty="0" smtClean="0">
                            <a:latin typeface="Cambria Math" panose="02040503050406030204" pitchFamily="18" charset="0"/>
                          </a:rPr>
                          <m:t>x</m:t>
                        </m:r>
                      </m:e>
                      <m:sub>
                        <m:r>
                          <m:rPr>
                            <m:nor/>
                          </m:rPr>
                          <a:rPr lang="es-ES" sz="3200" i="0" dirty="0" smtClean="0">
                            <a:latin typeface="Cambria Math" panose="02040503050406030204" pitchFamily="18" charset="0"/>
                          </a:rPr>
                          <m:t>1</m:t>
                        </m:r>
                      </m:sub>
                    </m:sSub>
                    <m:r>
                      <m:rPr>
                        <m:nor/>
                      </m:rPr>
                      <a:rPr lang="es-ES" sz="3200" i="0" dirty="0" smtClean="0">
                        <a:latin typeface="Cambria Math" panose="02040503050406030204" pitchFamily="18" charset="0"/>
                      </a:rPr>
                      <m:t>, </m:t>
                    </m:r>
                    <m:sSub>
                      <m:sSubPr>
                        <m:ctrlPr>
                          <a:rPr lang="es-ES" sz="3200" i="0" dirty="0" smtClean="0">
                            <a:latin typeface="Cambria Math" panose="02040503050406030204" pitchFamily="18" charset="0"/>
                          </a:rPr>
                        </m:ctrlPr>
                      </m:sSubPr>
                      <m:e>
                        <m:r>
                          <m:rPr>
                            <m:nor/>
                          </m:rPr>
                          <a:rPr lang="es-ES" sz="3200" i="0" dirty="0" smtClean="0">
                            <a:latin typeface="Cambria Math" panose="02040503050406030204" pitchFamily="18" charset="0"/>
                          </a:rPr>
                          <m:t>x</m:t>
                        </m:r>
                      </m:e>
                      <m:sub>
                        <m:r>
                          <m:rPr>
                            <m:nor/>
                          </m:rPr>
                          <a:rPr lang="es-ES" sz="3200" i="0" dirty="0" smtClean="0">
                            <a:latin typeface="Cambria Math" panose="02040503050406030204" pitchFamily="18" charset="0"/>
                          </a:rPr>
                          <m:t>2</m:t>
                        </m:r>
                      </m:sub>
                    </m:sSub>
                    <m:r>
                      <m:rPr>
                        <m:nor/>
                      </m:rPr>
                      <a:rPr lang="es-ES" sz="3200" i="0" dirty="0" smtClean="0">
                        <a:latin typeface="Cambria Math" panose="02040503050406030204" pitchFamily="18" charset="0"/>
                      </a:rPr>
                      <m:t>, …, </m:t>
                    </m:r>
                    <m:sSub>
                      <m:sSubPr>
                        <m:ctrlPr>
                          <a:rPr lang="es-ES" sz="3200" i="0" dirty="0" smtClean="0">
                            <a:latin typeface="Cambria Math" panose="02040503050406030204" pitchFamily="18" charset="0"/>
                          </a:rPr>
                        </m:ctrlPr>
                      </m:sSubPr>
                      <m:e>
                        <m:r>
                          <m:rPr>
                            <m:nor/>
                          </m:rPr>
                          <a:rPr lang="es-ES" sz="3200" i="0" dirty="0" smtClean="0">
                            <a:latin typeface="Cambria Math" panose="02040503050406030204" pitchFamily="18" charset="0"/>
                          </a:rPr>
                          <m:t>x</m:t>
                        </m:r>
                      </m:e>
                      <m:sub>
                        <m:r>
                          <m:rPr>
                            <m:nor/>
                          </m:rPr>
                          <a:rPr lang="es-ES" sz="3200" i="0" dirty="0" smtClean="0">
                            <a:latin typeface="Cambria Math" panose="02040503050406030204" pitchFamily="18" charset="0"/>
                          </a:rPr>
                          <m:t>t−1</m:t>
                        </m:r>
                      </m:sub>
                    </m:sSub>
                    <m:r>
                      <m:rPr>
                        <m:nor/>
                      </m:rPr>
                      <a:rPr lang="es-ES" sz="3200" i="0" dirty="0"/>
                      <m:t>(context) and</m:t>
                    </m:r>
                    <m:r>
                      <m:rPr>
                        <m:nor/>
                      </m:rPr>
                      <a:rPr lang="es-ES" sz="3200" b="0" i="0" dirty="0" smtClean="0"/>
                      <m:t> </m:t>
                    </m:r>
                    <m:r>
                      <m:rPr>
                        <m:nor/>
                      </m:rPr>
                      <a:rPr lang="es-ES" sz="3200" i="0" dirty="0"/>
                      <m:t>retrieved info</m:t>
                    </m:r>
                  </m:oMath>
                </a14:m>
                <a:r>
                  <a:rPr lang="es-ES" sz="3200" dirty="0"/>
                  <a:t> </a:t>
                </a:r>
                <a14:m>
                  <m:oMath xmlns:m="http://schemas.openxmlformats.org/officeDocument/2006/math">
                    <m:r>
                      <a:rPr lang="es-ES" sz="3200" i="1" dirty="0" smtClean="0">
                        <a:latin typeface="Cambria Math" panose="02040503050406030204" pitchFamily="18" charset="0"/>
                      </a:rPr>
                      <m:t>𝑅</m:t>
                    </m:r>
                  </m:oMath>
                </a14:m>
                <a:endParaRPr lang="es-ES" sz="3200" dirty="0"/>
              </a:p>
              <a:p>
                <a:pPr marL="571500" indent="-571500">
                  <a:buFont typeface="Arial" panose="020B0604020202020204" pitchFamily="34" charset="0"/>
                  <a:buChar char="•"/>
                </a:pPr>
                <a:endParaRPr lang="en-US" sz="3200" dirty="0"/>
              </a:p>
              <a:p>
                <a:pPr marL="571500" indent="-571500">
                  <a:buFont typeface="Arial" panose="020B0604020202020204" pitchFamily="34" charset="0"/>
                  <a:buChar char="•"/>
                </a:pPr>
                <a:r>
                  <a:rPr lang="en-US" sz="3200" dirty="0"/>
                  <a:t>A GPT </a:t>
                </a:r>
                <a14:m>
                  <m:oMath xmlns:m="http://schemas.openxmlformats.org/officeDocument/2006/math">
                    <m:r>
                      <a:rPr lang="es-ES" sz="3200" b="0" i="1" smtClean="0">
                        <a:latin typeface="Cambria Math" panose="02040503050406030204" pitchFamily="18" charset="0"/>
                      </a:rPr>
                      <m:t>{</m:t>
                    </m:r>
                    <m:r>
                      <a:rPr lang="es-ES" sz="3200" b="0" i="1" smtClean="0">
                        <a:latin typeface="Cambria Math" panose="02040503050406030204" pitchFamily="18" charset="0"/>
                        <a:ea typeface="Cambria Math" panose="02040503050406030204" pitchFamily="18" charset="0"/>
                      </a:rPr>
                      <m:t>𝜃</m:t>
                    </m:r>
                    <m:r>
                      <a:rPr lang="es-ES" sz="3200" b="0" i="1" smtClean="0">
                        <a:latin typeface="Cambria Math" panose="02040503050406030204" pitchFamily="18" charset="0"/>
                      </a:rPr>
                      <m:t>}</m:t>
                    </m:r>
                  </m:oMath>
                </a14:m>
                <a:r>
                  <a:rPr lang="en-US" sz="3200" dirty="0"/>
                  <a:t>model predicts next token:</a:t>
                </a:r>
              </a:p>
              <a:p>
                <a:pPr/>
                <a14:m>
                  <m:oMathPara xmlns:m="http://schemas.openxmlformats.org/officeDocument/2006/math">
                    <m:oMath>
                      <m:r>
                        <a:rPr lang="es-ES" sz="3200" i="1" dirty="0" smtClean="0">
                          <a:latin typeface="Cambria Math" panose="02040503050406030204" pitchFamily="18" charset="0"/>
                        </a:rPr>
                        <m:t>𝑝</m:t>
                      </m:r>
                      <m:r>
                        <a:rPr lang="el-GR" sz="3200" i="1" baseline="-25000" dirty="0">
                          <a:latin typeface="Cambria Math" panose="02040503050406030204" pitchFamily="18" charset="0"/>
                        </a:rPr>
                        <m:t>𝜃</m:t>
                      </m:r>
                      <m:d>
                        <m:dPr>
                          <m:ctrlPr>
                            <a:rPr lang="es-ES" sz="3200" i="1" dirty="0">
                              <a:latin typeface="Cambria Math" panose="02040503050406030204" pitchFamily="18" charset="0"/>
                            </a:rPr>
                          </m:ctrlPr>
                        </m:dPr>
                        <m:e>
                          <m:sSub>
                            <m:sSubPr>
                              <m:ctrlPr>
                                <a:rPr lang="es-ES" sz="3200" i="1" dirty="0">
                                  <a:latin typeface="Cambria Math" panose="02040503050406030204" pitchFamily="18" charset="0"/>
                                </a:rPr>
                              </m:ctrlPr>
                            </m:sSubPr>
                            <m:e>
                              <m:r>
                                <a:rPr lang="es-ES" sz="3200" i="1" dirty="0">
                                  <a:latin typeface="Cambria Math" panose="02040503050406030204" pitchFamily="18" charset="0"/>
                                </a:rPr>
                                <m:t>𝑥</m:t>
                              </m:r>
                            </m:e>
                            <m:sub>
                              <m:r>
                                <a:rPr lang="es-ES" sz="3200" i="1" dirty="0">
                                  <a:latin typeface="Cambria Math" panose="02040503050406030204" pitchFamily="18" charset="0"/>
                                </a:rPr>
                                <m:t>𝑡</m:t>
                              </m:r>
                            </m:sub>
                          </m:sSub>
                        </m:e>
                        <m:e>
                          <m:sSub>
                            <m:sSubPr>
                              <m:ctrlPr>
                                <a:rPr lang="es-ES" sz="3200" i="1" dirty="0">
                                  <a:latin typeface="Cambria Math" panose="02040503050406030204" pitchFamily="18" charset="0"/>
                                </a:rPr>
                              </m:ctrlPr>
                            </m:sSubPr>
                            <m:e>
                              <m:r>
                                <a:rPr lang="es-ES" sz="3200" i="1" dirty="0">
                                  <a:latin typeface="Cambria Math" panose="02040503050406030204" pitchFamily="18" charset="0"/>
                                </a:rPr>
                                <m:t>𝑥</m:t>
                              </m:r>
                            </m:e>
                            <m:sub>
                              <m:r>
                                <a:rPr lang="es-ES" sz="3200" dirty="0">
                                  <a:latin typeface="Cambria Math" panose="02040503050406030204" pitchFamily="18" charset="0"/>
                                </a:rPr>
                                <m:t>1:</m:t>
                              </m:r>
                              <m:r>
                                <a:rPr lang="es-ES" sz="3200" i="1" dirty="0">
                                  <a:latin typeface="Cambria Math" panose="02040503050406030204" pitchFamily="18" charset="0"/>
                                </a:rPr>
                                <m:t>𝑡</m:t>
                              </m:r>
                              <m:r>
                                <a:rPr lang="es-ES" sz="3200" i="1" dirty="0">
                                  <a:latin typeface="Cambria Math" panose="02040503050406030204" pitchFamily="18" charset="0"/>
                                </a:rPr>
                                <m:t>−1</m:t>
                              </m:r>
                            </m:sub>
                          </m:sSub>
                          <m:r>
                            <a:rPr lang="es-ES" sz="3200" dirty="0">
                              <a:latin typeface="Cambria Math" panose="02040503050406030204" pitchFamily="18" charset="0"/>
                            </a:rPr>
                            <m:t>,</m:t>
                          </m:r>
                          <m:r>
                            <a:rPr lang="es-ES" sz="3200" i="1" dirty="0">
                              <a:latin typeface="Cambria Math" panose="02040503050406030204" pitchFamily="18" charset="0"/>
                            </a:rPr>
                            <m:t>𝑅</m:t>
                          </m:r>
                        </m:e>
                      </m:d>
                    </m:oMath>
                  </m:oMathPara>
                </a14:m>
                <a:endParaRPr lang="en-US" sz="1600" dirty="0"/>
              </a:p>
              <a:p>
                <a:endParaRPr lang="en-US" dirty="0"/>
              </a:p>
            </p:txBody>
          </p:sp>
        </mc:Choice>
        <mc:Fallback xmlns="">
          <p:sp>
            <p:nvSpPr>
              <p:cNvPr id="6" name="CuadroTexto 5">
                <a:extLst>
                  <a:ext uri="{FF2B5EF4-FFF2-40B4-BE49-F238E27FC236}">
                    <a16:creationId xmlns:a16="http://schemas.microsoft.com/office/drawing/2014/main" id="{56A00767-24F6-8A54-8DA8-BBCD778688AE}"/>
                  </a:ext>
                </a:extLst>
              </p:cNvPr>
              <p:cNvSpPr txBox="1">
                <a:spLocks noRot="1" noChangeAspect="1" noMove="1" noResize="1" noEditPoints="1" noAdjustHandles="1" noChangeArrowheads="1" noChangeShapeType="1" noTextEdit="1"/>
              </p:cNvSpPr>
              <p:nvPr/>
            </p:nvSpPr>
            <p:spPr>
              <a:xfrm>
                <a:off x="539552" y="3212976"/>
                <a:ext cx="8424936" cy="2764346"/>
              </a:xfrm>
              <a:prstGeom prst="rect">
                <a:avLst/>
              </a:prstGeom>
              <a:blipFill>
                <a:blip r:embed="rId3"/>
                <a:stretch>
                  <a:fillRect l="-2671" t="-4158"/>
                </a:stretch>
              </a:blipFill>
              <a:ln w="19050">
                <a:solidFill>
                  <a:srgbClr val="002060"/>
                </a:solidFill>
              </a:ln>
            </p:spPr>
            <p:txBody>
              <a:bodyPr/>
              <a:lstStyle/>
              <a:p>
                <a:r>
                  <a:rPr lang="en-US">
                    <a:noFill/>
                  </a:rPr>
                  <a:t> </a:t>
                </a:r>
              </a:p>
            </p:txBody>
          </p:sp>
        </mc:Fallback>
      </mc:AlternateContent>
    </p:spTree>
    <p:extLst>
      <p:ext uri="{BB962C8B-B14F-4D97-AF65-F5344CB8AC3E}">
        <p14:creationId xmlns:p14="http://schemas.microsoft.com/office/powerpoint/2010/main" val="326318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2A480-D42F-0037-410C-89518867610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3CE19577-0D58-1960-20CB-347AC2D1F347}"/>
              </a:ext>
            </a:extLst>
          </p:cNvPr>
          <p:cNvPicPr>
            <a:picLocks noChangeAspect="1"/>
          </p:cNvPicPr>
          <p:nvPr/>
        </p:nvPicPr>
        <p:blipFill>
          <a:blip r:embed="rId2"/>
          <a:stretch>
            <a:fillRect/>
          </a:stretch>
        </p:blipFill>
        <p:spPr>
          <a:xfrm>
            <a:off x="683568" y="620688"/>
            <a:ext cx="1224136" cy="1230863"/>
          </a:xfrm>
          <a:prstGeom prst="rect">
            <a:avLst/>
          </a:prstGeom>
        </p:spPr>
      </p:pic>
      <p:sp>
        <p:nvSpPr>
          <p:cNvPr id="4" name="CuadroTexto 3">
            <a:extLst>
              <a:ext uri="{FF2B5EF4-FFF2-40B4-BE49-F238E27FC236}">
                <a16:creationId xmlns:a16="http://schemas.microsoft.com/office/drawing/2014/main" id="{5DA4B47D-1468-5A2E-54E1-04716B96669A}"/>
              </a:ext>
            </a:extLst>
          </p:cNvPr>
          <p:cNvSpPr txBox="1"/>
          <p:nvPr/>
        </p:nvSpPr>
        <p:spPr>
          <a:xfrm>
            <a:off x="2195736" y="620688"/>
            <a:ext cx="6552728" cy="1077218"/>
          </a:xfrm>
          <a:prstGeom prst="rect">
            <a:avLst/>
          </a:prstGeom>
          <a:noFill/>
        </p:spPr>
        <p:txBody>
          <a:bodyPr wrap="square" rtlCol="0">
            <a:spAutoFit/>
          </a:bodyPr>
          <a:lstStyle/>
          <a:p>
            <a:r>
              <a:rPr lang="en-US" sz="3200" dirty="0"/>
              <a:t>GPT models, are trained to predict the next word (token) given the </a:t>
            </a:r>
            <a:r>
              <a:rPr lang="en-US" sz="3200" i="1" dirty="0"/>
              <a:t>context</a:t>
            </a:r>
          </a:p>
        </p:txBody>
      </p:sp>
      <p:sp>
        <p:nvSpPr>
          <p:cNvPr id="2" name="CuadroTexto 1">
            <a:extLst>
              <a:ext uri="{FF2B5EF4-FFF2-40B4-BE49-F238E27FC236}">
                <a16:creationId xmlns:a16="http://schemas.microsoft.com/office/drawing/2014/main" id="{084ADCF8-3EED-68E7-56B9-39DA503CE0FA}"/>
              </a:ext>
            </a:extLst>
          </p:cNvPr>
          <p:cNvSpPr txBox="1"/>
          <p:nvPr/>
        </p:nvSpPr>
        <p:spPr>
          <a:xfrm>
            <a:off x="1619672" y="2564904"/>
            <a:ext cx="6984776" cy="1631216"/>
          </a:xfrm>
          <a:prstGeom prst="rect">
            <a:avLst/>
          </a:prstGeom>
          <a:noFill/>
        </p:spPr>
        <p:txBody>
          <a:bodyPr wrap="square" rtlCol="0">
            <a:spAutoFit/>
          </a:bodyPr>
          <a:lstStyle/>
          <a:p>
            <a:pPr marL="457200" indent="-457200">
              <a:buFont typeface="Arial" panose="020B0604020202020204" pitchFamily="34" charset="0"/>
              <a:buChar char="•"/>
            </a:pPr>
            <a:r>
              <a:rPr lang="en-US" sz="3200" dirty="0"/>
              <a:t>Is it a classification task?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r>
              <a:rPr lang="en-US" sz="3600" b="1" dirty="0"/>
              <a:t>Is GPT a classification model?</a:t>
            </a:r>
          </a:p>
        </p:txBody>
      </p:sp>
    </p:spTree>
    <p:extLst>
      <p:ext uri="{BB962C8B-B14F-4D97-AF65-F5344CB8AC3E}">
        <p14:creationId xmlns:p14="http://schemas.microsoft.com/office/powerpoint/2010/main" val="1484109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A77D9B6-30FB-6711-0D20-C9BF2E01E6F7}"/>
              </a:ext>
            </a:extLst>
          </p:cNvPr>
          <p:cNvSpPr txBox="1"/>
          <p:nvPr/>
        </p:nvSpPr>
        <p:spPr>
          <a:xfrm>
            <a:off x="467544" y="188640"/>
            <a:ext cx="8280920" cy="2677656"/>
          </a:xfrm>
          <a:prstGeom prst="rect">
            <a:avLst/>
          </a:prstGeom>
          <a:noFill/>
        </p:spPr>
        <p:txBody>
          <a:bodyPr wrap="square">
            <a:spAutoFit/>
          </a:bodyPr>
          <a:lstStyle/>
          <a:p>
            <a:pPr marL="342900" indent="-342900">
              <a:buFont typeface="Arial" panose="020B0604020202020204" pitchFamily="34" charset="0"/>
              <a:buChar char="•"/>
            </a:pPr>
            <a:r>
              <a:rPr lang="en-US" sz="2800" dirty="0"/>
              <a:t>When we study transformers, we will use this nice tool:</a:t>
            </a:r>
          </a:p>
          <a:p>
            <a:r>
              <a:rPr lang="en-US" sz="2800" dirty="0">
                <a:hlinkClick r:id="rId2"/>
              </a:rPr>
              <a:t>https://poloclub.github.io/transformer-explainer/</a:t>
            </a:r>
            <a:r>
              <a:rPr lang="en-US" sz="2800" dirty="0"/>
              <a:t> </a:t>
            </a:r>
          </a:p>
          <a:p>
            <a:endParaRPr lang="en-US" sz="2800" dirty="0"/>
          </a:p>
          <a:p>
            <a:pPr marL="342900" indent="-342900">
              <a:buFont typeface="Arial" panose="020B0604020202020204" pitchFamily="34" charset="0"/>
              <a:buChar char="•"/>
            </a:pPr>
            <a:r>
              <a:rPr lang="en-US" sz="2800" dirty="0"/>
              <a:t>By now just </a:t>
            </a:r>
            <a:r>
              <a:rPr lang="en-US" sz="2800" b="1" dirty="0">
                <a:solidFill>
                  <a:srgbClr val="FF0000"/>
                </a:solidFill>
              </a:rPr>
              <a:t>look at the output </a:t>
            </a:r>
            <a:r>
              <a:rPr lang="en-US" sz="2800" b="1" dirty="0"/>
              <a:t>of this GPT-2 </a:t>
            </a:r>
            <a:r>
              <a:rPr lang="en-US" sz="2800" dirty="0"/>
              <a:t>implementation:</a:t>
            </a:r>
          </a:p>
        </p:txBody>
      </p:sp>
      <p:pic>
        <p:nvPicPr>
          <p:cNvPr id="6" name="Imagen 5">
            <a:extLst>
              <a:ext uri="{FF2B5EF4-FFF2-40B4-BE49-F238E27FC236}">
                <a16:creationId xmlns:a16="http://schemas.microsoft.com/office/drawing/2014/main" id="{F8CCC009-79B5-C63F-9507-A0C13E004F1A}"/>
              </a:ext>
            </a:extLst>
          </p:cNvPr>
          <p:cNvPicPr>
            <a:picLocks noChangeAspect="1"/>
          </p:cNvPicPr>
          <p:nvPr/>
        </p:nvPicPr>
        <p:blipFill>
          <a:blip r:embed="rId3"/>
          <a:stretch>
            <a:fillRect/>
          </a:stretch>
        </p:blipFill>
        <p:spPr>
          <a:xfrm>
            <a:off x="467544" y="3140968"/>
            <a:ext cx="8532440" cy="2783910"/>
          </a:xfrm>
          <a:prstGeom prst="rect">
            <a:avLst/>
          </a:prstGeom>
          <a:ln>
            <a:noFill/>
          </a:ln>
          <a:effectLst>
            <a:outerShdw blurRad="292100" dist="139700" dir="2700000" algn="tl" rotWithShape="0">
              <a:srgbClr val="333333">
                <a:alpha val="65000"/>
              </a:srgbClr>
            </a:outerShdw>
          </a:effectLst>
        </p:spPr>
      </p:pic>
      <p:sp>
        <p:nvSpPr>
          <p:cNvPr id="7" name="Elipse 6">
            <a:extLst>
              <a:ext uri="{FF2B5EF4-FFF2-40B4-BE49-F238E27FC236}">
                <a16:creationId xmlns:a16="http://schemas.microsoft.com/office/drawing/2014/main" id="{6D14AD5F-0594-AF5D-2E18-112695DE3A0A}"/>
              </a:ext>
            </a:extLst>
          </p:cNvPr>
          <p:cNvSpPr/>
          <p:nvPr/>
        </p:nvSpPr>
        <p:spPr>
          <a:xfrm>
            <a:off x="7164288" y="3284984"/>
            <a:ext cx="1979712" cy="2952328"/>
          </a:xfrm>
          <a:prstGeom prst="ellipse">
            <a:avLst/>
          </a:prstGeom>
          <a:solidFill>
            <a:srgbClr val="FFFF00">
              <a:alpha val="0"/>
            </a:srgbClr>
          </a:solid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0521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8A0D8-F552-B412-3E8B-FA9C66DF1A3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BE1F883-5E59-A663-EC7B-E316C64936E3}"/>
              </a:ext>
            </a:extLst>
          </p:cNvPr>
          <p:cNvPicPr>
            <a:picLocks noChangeAspect="1"/>
          </p:cNvPicPr>
          <p:nvPr/>
        </p:nvPicPr>
        <p:blipFill>
          <a:blip r:embed="rId2"/>
          <a:stretch>
            <a:fillRect/>
          </a:stretch>
        </p:blipFill>
        <p:spPr>
          <a:xfrm>
            <a:off x="611560" y="297643"/>
            <a:ext cx="1224136" cy="1230863"/>
          </a:xfrm>
          <a:prstGeom prst="rect">
            <a:avLst/>
          </a:prstGeom>
        </p:spPr>
      </p:pic>
      <p:sp>
        <p:nvSpPr>
          <p:cNvPr id="4" name="CuadroTexto 3">
            <a:extLst>
              <a:ext uri="{FF2B5EF4-FFF2-40B4-BE49-F238E27FC236}">
                <a16:creationId xmlns:a16="http://schemas.microsoft.com/office/drawing/2014/main" id="{4333743E-E8A1-271F-C581-56578D55AD90}"/>
              </a:ext>
            </a:extLst>
          </p:cNvPr>
          <p:cNvSpPr txBox="1"/>
          <p:nvPr/>
        </p:nvSpPr>
        <p:spPr>
          <a:xfrm>
            <a:off x="2195736" y="328299"/>
            <a:ext cx="6552728" cy="584775"/>
          </a:xfrm>
          <a:prstGeom prst="rect">
            <a:avLst/>
          </a:prstGeom>
          <a:noFill/>
        </p:spPr>
        <p:txBody>
          <a:bodyPr wrap="square" rtlCol="0">
            <a:spAutoFit/>
          </a:bodyPr>
          <a:lstStyle/>
          <a:p>
            <a:r>
              <a:rPr lang="en-US" sz="3200" dirty="0"/>
              <a:t>Therefore, GPT models, are trained to:</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0BC858ED-CD68-7CFD-72E7-B1010CEB2CAA}"/>
                  </a:ext>
                </a:extLst>
              </p:cNvPr>
              <p:cNvSpPr txBox="1"/>
              <p:nvPr/>
            </p:nvSpPr>
            <p:spPr>
              <a:xfrm>
                <a:off x="2204038" y="983026"/>
                <a:ext cx="6544426" cy="1754326"/>
              </a:xfrm>
              <a:prstGeom prst="rect">
                <a:avLst/>
              </a:prstGeom>
              <a:solidFill>
                <a:srgbClr val="C5DCFF"/>
              </a:solidFill>
              <a:ln w="19050">
                <a:solidFill>
                  <a:srgbClr val="002060"/>
                </a:solidFill>
              </a:ln>
            </p:spPr>
            <p:txBody>
              <a:bodyPr wrap="square" lIns="0" tIns="0" rIns="0" bIns="0" rtlCol="0">
                <a:spAutoFit/>
              </a:bodyPr>
              <a:lstStyle/>
              <a:p>
                <a:pPr marL="571500" indent="-571500">
                  <a:buFont typeface="Arial" panose="020B0604020202020204" pitchFamily="34" charset="0"/>
                  <a:buChar char="•"/>
                </a:pPr>
                <a:r>
                  <a:rPr lang="en-US" sz="3200" dirty="0"/>
                  <a:t>Model the probability of next token given the context:</a:t>
                </a:r>
                <a:endParaRPr lang="es-ES" sz="3200" dirty="0"/>
              </a:p>
              <a:p>
                <a:pPr/>
                <a14:m>
                  <m:oMathPara xmlns:m="http://schemas.openxmlformats.org/officeDocument/2006/math">
                    <m:oMath>
                      <m:r>
                        <a:rPr lang="es-ES" sz="3200" i="1" dirty="0" smtClean="0">
                          <a:latin typeface="Cambria Math" panose="02040503050406030204" pitchFamily="18" charset="0"/>
                        </a:rPr>
                        <m:t>𝑝</m:t>
                      </m:r>
                      <m:r>
                        <a:rPr lang="el-GR" sz="3200" i="1" baseline="-25000" dirty="0">
                          <a:latin typeface="Cambria Math" panose="02040503050406030204" pitchFamily="18" charset="0"/>
                        </a:rPr>
                        <m:t>𝜃</m:t>
                      </m:r>
                      <m:d>
                        <m:dPr>
                          <m:ctrlPr>
                            <a:rPr lang="es-ES" sz="3200" i="1" dirty="0">
                              <a:latin typeface="Cambria Math" panose="02040503050406030204" pitchFamily="18" charset="0"/>
                            </a:rPr>
                          </m:ctrlPr>
                        </m:dPr>
                        <m:e>
                          <m:sSub>
                            <m:sSubPr>
                              <m:ctrlPr>
                                <a:rPr lang="es-ES" sz="3200" i="1" dirty="0">
                                  <a:latin typeface="Cambria Math" panose="02040503050406030204" pitchFamily="18" charset="0"/>
                                </a:rPr>
                              </m:ctrlPr>
                            </m:sSubPr>
                            <m:e>
                              <m:r>
                                <a:rPr lang="es-ES" sz="3200" i="1" dirty="0">
                                  <a:latin typeface="Cambria Math" panose="02040503050406030204" pitchFamily="18" charset="0"/>
                                </a:rPr>
                                <m:t>𝑥</m:t>
                              </m:r>
                            </m:e>
                            <m:sub>
                              <m:r>
                                <a:rPr lang="es-ES" sz="3200" i="1" dirty="0">
                                  <a:latin typeface="Cambria Math" panose="02040503050406030204" pitchFamily="18" charset="0"/>
                                </a:rPr>
                                <m:t>𝑡</m:t>
                              </m:r>
                            </m:sub>
                          </m:sSub>
                        </m:e>
                        <m:e>
                          <m:sSub>
                            <m:sSubPr>
                              <m:ctrlPr>
                                <a:rPr lang="es-ES" sz="3200" i="1" dirty="0">
                                  <a:latin typeface="Cambria Math" panose="02040503050406030204" pitchFamily="18" charset="0"/>
                                </a:rPr>
                              </m:ctrlPr>
                            </m:sSubPr>
                            <m:e>
                              <m:r>
                                <a:rPr lang="es-ES" sz="3200" i="1" dirty="0">
                                  <a:latin typeface="Cambria Math" panose="02040503050406030204" pitchFamily="18" charset="0"/>
                                </a:rPr>
                                <m:t>𝑥</m:t>
                              </m:r>
                            </m:e>
                            <m:sub>
                              <m:r>
                                <a:rPr lang="es-ES" sz="3200" dirty="0">
                                  <a:latin typeface="Cambria Math" panose="02040503050406030204" pitchFamily="18" charset="0"/>
                                </a:rPr>
                                <m:t>1:</m:t>
                              </m:r>
                              <m:r>
                                <a:rPr lang="es-ES" sz="3200" i="1" dirty="0">
                                  <a:latin typeface="Cambria Math" panose="02040503050406030204" pitchFamily="18" charset="0"/>
                                </a:rPr>
                                <m:t>𝑡</m:t>
                              </m:r>
                              <m:r>
                                <a:rPr lang="es-ES" sz="3200" i="1" dirty="0">
                                  <a:latin typeface="Cambria Math" panose="02040503050406030204" pitchFamily="18" charset="0"/>
                                </a:rPr>
                                <m:t>−1</m:t>
                              </m:r>
                            </m:sub>
                          </m:sSub>
                          <m:r>
                            <a:rPr lang="es-ES" sz="3200" dirty="0">
                              <a:latin typeface="Cambria Math" panose="02040503050406030204" pitchFamily="18" charset="0"/>
                            </a:rPr>
                            <m:t>,</m:t>
                          </m:r>
                          <m:r>
                            <a:rPr lang="es-ES" sz="3200" i="1" dirty="0">
                              <a:latin typeface="Cambria Math" panose="02040503050406030204" pitchFamily="18" charset="0"/>
                            </a:rPr>
                            <m:t>𝑅</m:t>
                          </m:r>
                        </m:e>
                      </m:d>
                    </m:oMath>
                  </m:oMathPara>
                </a14:m>
                <a:endParaRPr lang="en-US" sz="1600" dirty="0"/>
              </a:p>
              <a:p>
                <a:endParaRPr lang="en-US" dirty="0"/>
              </a:p>
            </p:txBody>
          </p:sp>
        </mc:Choice>
        <mc:Fallback xmlns="">
          <p:sp>
            <p:nvSpPr>
              <p:cNvPr id="6" name="CuadroTexto 5">
                <a:extLst>
                  <a:ext uri="{FF2B5EF4-FFF2-40B4-BE49-F238E27FC236}">
                    <a16:creationId xmlns:a16="http://schemas.microsoft.com/office/drawing/2014/main" id="{0BC858ED-CD68-7CFD-72E7-B1010CEB2CAA}"/>
                  </a:ext>
                </a:extLst>
              </p:cNvPr>
              <p:cNvSpPr txBox="1">
                <a:spLocks noRot="1" noChangeAspect="1" noMove="1" noResize="1" noEditPoints="1" noAdjustHandles="1" noChangeArrowheads="1" noChangeShapeType="1" noTextEdit="1"/>
              </p:cNvSpPr>
              <p:nvPr/>
            </p:nvSpPr>
            <p:spPr>
              <a:xfrm>
                <a:off x="2204038" y="983026"/>
                <a:ext cx="6544426" cy="1754326"/>
              </a:xfrm>
              <a:prstGeom prst="rect">
                <a:avLst/>
              </a:prstGeom>
              <a:blipFill>
                <a:blip r:embed="rId3"/>
                <a:stretch>
                  <a:fillRect l="-3439" t="-6529" r="-2138"/>
                </a:stretch>
              </a:blipFill>
              <a:ln w="19050">
                <a:solidFill>
                  <a:srgbClr val="002060"/>
                </a:solidFill>
              </a:ln>
            </p:spPr>
            <p:txBody>
              <a:bodyPr/>
              <a:lstStyle/>
              <a:p>
                <a:r>
                  <a:rPr lang="en-US">
                    <a:noFill/>
                  </a:rPr>
                  <a:t> </a:t>
                </a:r>
              </a:p>
            </p:txBody>
          </p:sp>
        </mc:Fallback>
      </mc:AlternateContent>
      <p:sp>
        <p:nvSpPr>
          <p:cNvPr id="2" name="CuadroTexto 1">
            <a:extLst>
              <a:ext uri="{FF2B5EF4-FFF2-40B4-BE49-F238E27FC236}">
                <a16:creationId xmlns:a16="http://schemas.microsoft.com/office/drawing/2014/main" id="{A745A2F3-27F1-02BA-C5E4-DF1A3B8B1D87}"/>
              </a:ext>
            </a:extLst>
          </p:cNvPr>
          <p:cNvSpPr txBox="1"/>
          <p:nvPr/>
        </p:nvSpPr>
        <p:spPr>
          <a:xfrm>
            <a:off x="539552" y="3092902"/>
            <a:ext cx="8424936" cy="707886"/>
          </a:xfrm>
          <a:prstGeom prst="rect">
            <a:avLst/>
          </a:prstGeom>
          <a:solidFill>
            <a:srgbClr val="FEE8FF"/>
          </a:solidFill>
          <a:ln>
            <a:solidFill>
              <a:srgbClr val="C4228A"/>
            </a:solidFill>
          </a:ln>
        </p:spPr>
        <p:txBody>
          <a:bodyPr wrap="square" rtlCol="0">
            <a:spAutoFit/>
          </a:bodyPr>
          <a:lstStyle>
            <a:defPPr>
              <a:defRPr lang="es-ES"/>
            </a:defPPr>
            <a:lvl1pPr>
              <a:defRPr sz="4000" b="1">
                <a:solidFill>
                  <a:schemeClr val="tx1">
                    <a:lumMod val="75000"/>
                    <a:lumOff val="25000"/>
                  </a:schemeClr>
                </a:solidFill>
              </a:defRPr>
            </a:lvl1pPr>
            <a:lvl4pPr lvl="3">
              <a:defRPr sz="4000" b="1">
                <a:solidFill>
                  <a:srgbClr val="C00000"/>
                </a:solidFill>
              </a:defRPr>
            </a:lvl4pPr>
          </a:lstStyle>
          <a:p>
            <a:pPr marL="571500" indent="-571500">
              <a:buFont typeface="Arial" panose="020B0604020202020204" pitchFamily="34" charset="0"/>
              <a:buChar char="•"/>
            </a:pPr>
            <a:r>
              <a:rPr lang="en-US" dirty="0"/>
              <a:t>and SAMPLE from this probability !</a:t>
            </a:r>
          </a:p>
        </p:txBody>
      </p:sp>
      <p:sp>
        <p:nvSpPr>
          <p:cNvPr id="5" name="CuadroTexto 4">
            <a:extLst>
              <a:ext uri="{FF2B5EF4-FFF2-40B4-BE49-F238E27FC236}">
                <a16:creationId xmlns:a16="http://schemas.microsoft.com/office/drawing/2014/main" id="{AF62F3DE-099B-8CAC-8E84-9A9E86A3709A}"/>
              </a:ext>
            </a:extLst>
          </p:cNvPr>
          <p:cNvSpPr txBox="1"/>
          <p:nvPr/>
        </p:nvSpPr>
        <p:spPr>
          <a:xfrm>
            <a:off x="1465717" y="4469004"/>
            <a:ext cx="7075272" cy="1569660"/>
          </a:xfrm>
          <a:prstGeom prst="rect">
            <a:avLst/>
          </a:prstGeom>
          <a:solidFill>
            <a:srgbClr val="FCFEE8"/>
          </a:solidFill>
          <a:ln>
            <a:solidFill>
              <a:srgbClr val="FF0000"/>
            </a:solidFill>
          </a:ln>
        </p:spPr>
        <p:txBody>
          <a:bodyPr wrap="square" rtlCol="0">
            <a:spAutoFit/>
          </a:bodyPr>
          <a:lstStyle/>
          <a:p>
            <a:r>
              <a:rPr lang="en-US" sz="3200" b="1" dirty="0"/>
              <a:t>Be sure you that you know the generation of sample from a given statistical distribution</a:t>
            </a:r>
            <a:r>
              <a:rPr lang="en-US" sz="2800" dirty="0"/>
              <a:t>.</a:t>
            </a:r>
          </a:p>
        </p:txBody>
      </p:sp>
      <p:pic>
        <p:nvPicPr>
          <p:cNvPr id="7" name="Imagen 6">
            <a:extLst>
              <a:ext uri="{FF2B5EF4-FFF2-40B4-BE49-F238E27FC236}">
                <a16:creationId xmlns:a16="http://schemas.microsoft.com/office/drawing/2014/main" id="{4144BAB4-D3B0-6033-785D-69204A065565}"/>
              </a:ext>
            </a:extLst>
          </p:cNvPr>
          <p:cNvPicPr>
            <a:picLocks noChangeAspect="1"/>
          </p:cNvPicPr>
          <p:nvPr/>
        </p:nvPicPr>
        <p:blipFill>
          <a:blip r:embed="rId4"/>
          <a:stretch>
            <a:fillRect/>
          </a:stretch>
        </p:blipFill>
        <p:spPr>
          <a:xfrm>
            <a:off x="395536" y="4365104"/>
            <a:ext cx="941533" cy="941533"/>
          </a:xfrm>
          <a:prstGeom prst="rect">
            <a:avLst/>
          </a:prstGeom>
        </p:spPr>
      </p:pic>
    </p:spTree>
    <p:extLst>
      <p:ext uri="{BB962C8B-B14F-4D97-AF65-F5344CB8AC3E}">
        <p14:creationId xmlns:p14="http://schemas.microsoft.com/office/powerpoint/2010/main" val="359490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5DC4B-2ADC-88EF-AED3-1FF5F73C0F9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A0FA983A-4BD7-D516-7FD9-36B6B086A2F2}"/>
                  </a:ext>
                </a:extLst>
              </p:cNvPr>
              <p:cNvSpPr txBox="1"/>
              <p:nvPr/>
            </p:nvSpPr>
            <p:spPr>
              <a:xfrm>
                <a:off x="359532" y="404664"/>
                <a:ext cx="8424936" cy="5693866"/>
              </a:xfrm>
              <a:prstGeom prst="rect">
                <a:avLst/>
              </a:prstGeom>
              <a:solidFill>
                <a:srgbClr val="FEE8FF"/>
              </a:solidFill>
              <a:ln>
                <a:solidFill>
                  <a:srgbClr val="C4228A"/>
                </a:solidFill>
              </a:ln>
            </p:spPr>
            <p:txBody>
              <a:bodyPr wrap="square" rtlCol="0">
                <a:spAutoFit/>
              </a:bodyPr>
              <a:lstStyle>
                <a:defPPr>
                  <a:defRPr lang="es-ES"/>
                </a:defPPr>
                <a:lvl1pPr marL="571500" indent="-571500">
                  <a:buFont typeface="Arial" panose="020B0604020202020204" pitchFamily="34" charset="0"/>
                  <a:buChar char="•"/>
                  <a:defRPr sz="4000" b="1">
                    <a:solidFill>
                      <a:schemeClr val="tx1">
                        <a:lumMod val="75000"/>
                        <a:lumOff val="25000"/>
                      </a:schemeClr>
                    </a:solidFill>
                  </a:defRPr>
                </a:lvl1pPr>
                <a:lvl4pPr lvl="3">
                  <a:defRPr sz="4000" b="1">
                    <a:solidFill>
                      <a:srgbClr val="C00000"/>
                    </a:solidFill>
                  </a:defRPr>
                </a:lvl4pPr>
              </a:lstStyle>
              <a:p>
                <a:pPr marL="0" indent="0">
                  <a:buNone/>
                </a:pPr>
                <a:r>
                  <a:rPr lang="en-US" dirty="0"/>
                  <a:t>GPT are </a:t>
                </a:r>
                <a:r>
                  <a:rPr lang="en-US" dirty="0">
                    <a:solidFill>
                      <a:srgbClr val="C00000"/>
                    </a:solidFill>
                  </a:rPr>
                  <a:t>Generative Models</a:t>
                </a:r>
              </a:p>
              <a:p>
                <a:pPr marL="0" indent="0">
                  <a:buNone/>
                </a:pPr>
                <a:r>
                  <a:rPr lang="en-US" sz="3200" dirty="0"/>
                  <a:t>Generative Pre-trained Transformer</a:t>
                </a:r>
              </a:p>
              <a:p>
                <a:endParaRPr lang="en-US" dirty="0"/>
              </a:p>
              <a:p>
                <a:r>
                  <a:rPr lang="en-US" sz="3200" b="0" dirty="0"/>
                  <a:t>They model the probability of next token given the context:</a:t>
                </a:r>
                <a:endParaRPr lang="es-ES" sz="3200" b="0" dirty="0"/>
              </a:p>
              <a:p>
                <a:pPr marL="0" indent="0">
                  <a:buNone/>
                </a:pPr>
                <a14:m>
                  <m:oMathPara xmlns:m="http://schemas.openxmlformats.org/officeDocument/2006/math">
                    <m:oMath>
                      <m:r>
                        <a:rPr lang="es-ES" sz="3600" b="1" i="1" dirty="0">
                          <a:latin typeface="Cambria Math" panose="02040503050406030204" pitchFamily="18" charset="0"/>
                        </a:rPr>
                        <m:t>𝒑</m:t>
                      </m:r>
                      <m:r>
                        <a:rPr lang="el-GR" sz="3600" b="1" i="1" baseline="-25000" dirty="0" smtClean="0">
                          <a:latin typeface="Cambria Math" panose="02040503050406030204" pitchFamily="18" charset="0"/>
                        </a:rPr>
                        <m:t>𝜽</m:t>
                      </m:r>
                      <m:d>
                        <m:dPr>
                          <m:ctrlPr>
                            <a:rPr lang="es-ES" sz="3600" b="1" i="1" dirty="0">
                              <a:latin typeface="Cambria Math" panose="02040503050406030204" pitchFamily="18" charset="0"/>
                            </a:rPr>
                          </m:ctrlPr>
                        </m:dPr>
                        <m:e>
                          <m:sSub>
                            <m:sSubPr>
                              <m:ctrlPr>
                                <a:rPr lang="es-ES" sz="3600" b="1" i="1" dirty="0">
                                  <a:latin typeface="Cambria Math" panose="02040503050406030204" pitchFamily="18" charset="0"/>
                                </a:rPr>
                              </m:ctrlPr>
                            </m:sSubPr>
                            <m:e>
                              <m:r>
                                <a:rPr lang="es-ES" sz="3600" b="1" i="1" dirty="0">
                                  <a:latin typeface="Cambria Math" panose="02040503050406030204" pitchFamily="18" charset="0"/>
                                </a:rPr>
                                <m:t>𝒙</m:t>
                              </m:r>
                            </m:e>
                            <m:sub>
                              <m:r>
                                <a:rPr lang="es-ES" sz="3600" b="1" i="1" dirty="0">
                                  <a:latin typeface="Cambria Math" panose="02040503050406030204" pitchFamily="18" charset="0"/>
                                </a:rPr>
                                <m:t>𝒕</m:t>
                              </m:r>
                            </m:sub>
                          </m:sSub>
                        </m:e>
                        <m:e>
                          <m:sSub>
                            <m:sSubPr>
                              <m:ctrlPr>
                                <a:rPr lang="es-ES" sz="3600" b="1" i="1" dirty="0">
                                  <a:latin typeface="Cambria Math" panose="02040503050406030204" pitchFamily="18" charset="0"/>
                                </a:rPr>
                              </m:ctrlPr>
                            </m:sSubPr>
                            <m:e>
                              <m:r>
                                <a:rPr lang="es-ES" sz="3600" b="1" i="1" dirty="0">
                                  <a:latin typeface="Cambria Math" panose="02040503050406030204" pitchFamily="18" charset="0"/>
                                </a:rPr>
                                <m:t>𝒙</m:t>
                              </m:r>
                            </m:e>
                            <m:sub>
                              <m:r>
                                <a:rPr lang="es-ES" sz="3600" b="1" i="1" dirty="0">
                                  <a:latin typeface="Cambria Math" panose="02040503050406030204" pitchFamily="18" charset="0"/>
                                </a:rPr>
                                <m:t>𝟏</m:t>
                              </m:r>
                              <m:r>
                                <a:rPr lang="es-ES" sz="3600" b="1" dirty="0">
                                  <a:latin typeface="Cambria Math" panose="02040503050406030204" pitchFamily="18" charset="0"/>
                                </a:rPr>
                                <m:t>:</m:t>
                              </m:r>
                              <m:r>
                                <a:rPr lang="es-ES" sz="3600" b="1" i="1" dirty="0">
                                  <a:latin typeface="Cambria Math" panose="02040503050406030204" pitchFamily="18" charset="0"/>
                                </a:rPr>
                                <m:t>𝒕</m:t>
                              </m:r>
                              <m:r>
                                <a:rPr lang="es-ES" sz="3600" b="1" dirty="0">
                                  <a:latin typeface="Cambria Math" panose="02040503050406030204" pitchFamily="18" charset="0"/>
                                </a:rPr>
                                <m:t>−</m:t>
                              </m:r>
                              <m:r>
                                <a:rPr lang="es-ES" sz="3600" b="1" i="1" dirty="0">
                                  <a:latin typeface="Cambria Math" panose="02040503050406030204" pitchFamily="18" charset="0"/>
                                </a:rPr>
                                <m:t>𝟏</m:t>
                              </m:r>
                            </m:sub>
                          </m:sSub>
                          <m:r>
                            <a:rPr lang="es-ES" sz="3600" b="1" dirty="0">
                              <a:latin typeface="Cambria Math" panose="02040503050406030204" pitchFamily="18" charset="0"/>
                            </a:rPr>
                            <m:t>,</m:t>
                          </m:r>
                          <m:r>
                            <a:rPr lang="es-ES" sz="3600" b="1" i="1" dirty="0">
                              <a:latin typeface="Cambria Math" panose="02040503050406030204" pitchFamily="18" charset="0"/>
                            </a:rPr>
                            <m:t>𝑹</m:t>
                          </m:r>
                        </m:e>
                      </m:d>
                    </m:oMath>
                  </m:oMathPara>
                </a14:m>
                <a:endParaRPr lang="en-US" sz="3600" dirty="0"/>
              </a:p>
              <a:p>
                <a:endParaRPr lang="en-US" dirty="0"/>
              </a:p>
              <a:p>
                <a:r>
                  <a:rPr lang="en-US" sz="3200" b="0" dirty="0"/>
                  <a:t>and </a:t>
                </a:r>
                <a:r>
                  <a:rPr lang="en-US" sz="3200" b="0" dirty="0">
                    <a:solidFill>
                      <a:srgbClr val="C00000"/>
                    </a:solidFill>
                  </a:rPr>
                  <a:t>GENERATE text </a:t>
                </a:r>
                <a:r>
                  <a:rPr lang="en-US" sz="3200" b="0" dirty="0"/>
                  <a:t>by sampling from this probability</a:t>
                </a:r>
              </a:p>
              <a:p>
                <a:endParaRPr lang="en-US" dirty="0"/>
              </a:p>
            </p:txBody>
          </p:sp>
        </mc:Choice>
        <mc:Fallback xmlns="">
          <p:sp>
            <p:nvSpPr>
              <p:cNvPr id="6" name="CuadroTexto 5">
                <a:extLst>
                  <a:ext uri="{FF2B5EF4-FFF2-40B4-BE49-F238E27FC236}">
                    <a16:creationId xmlns:a16="http://schemas.microsoft.com/office/drawing/2014/main" id="{A0FA983A-4BD7-D516-7FD9-36B6B086A2F2}"/>
                  </a:ext>
                </a:extLst>
              </p:cNvPr>
              <p:cNvSpPr txBox="1">
                <a:spLocks noRot="1" noChangeAspect="1" noMove="1" noResize="1" noEditPoints="1" noAdjustHandles="1" noChangeArrowheads="1" noChangeShapeType="1" noTextEdit="1"/>
              </p:cNvSpPr>
              <p:nvPr/>
            </p:nvSpPr>
            <p:spPr>
              <a:xfrm>
                <a:off x="359532" y="404664"/>
                <a:ext cx="8424936" cy="5693866"/>
              </a:xfrm>
              <a:prstGeom prst="rect">
                <a:avLst/>
              </a:prstGeom>
              <a:blipFill>
                <a:blip r:embed="rId2"/>
                <a:stretch>
                  <a:fillRect l="-2529" t="-1816" r="-2095"/>
                </a:stretch>
              </a:blipFill>
              <a:ln>
                <a:solidFill>
                  <a:srgbClr val="C4228A"/>
                </a:solidFill>
              </a:ln>
            </p:spPr>
            <p:txBody>
              <a:bodyPr/>
              <a:lstStyle/>
              <a:p>
                <a:r>
                  <a:rPr lang="en-US">
                    <a:noFill/>
                  </a:rPr>
                  <a:t> </a:t>
                </a:r>
              </a:p>
            </p:txBody>
          </p:sp>
        </mc:Fallback>
      </mc:AlternateContent>
      <p:pic>
        <p:nvPicPr>
          <p:cNvPr id="3" name="Imagen 2">
            <a:extLst>
              <a:ext uri="{FF2B5EF4-FFF2-40B4-BE49-F238E27FC236}">
                <a16:creationId xmlns:a16="http://schemas.microsoft.com/office/drawing/2014/main" id="{FF270D54-9A28-1760-20F2-902746B4A883}"/>
              </a:ext>
            </a:extLst>
          </p:cNvPr>
          <p:cNvPicPr>
            <a:picLocks noChangeAspect="1"/>
          </p:cNvPicPr>
          <p:nvPr/>
        </p:nvPicPr>
        <p:blipFill>
          <a:blip r:embed="rId3"/>
          <a:stretch>
            <a:fillRect/>
          </a:stretch>
        </p:blipFill>
        <p:spPr>
          <a:xfrm>
            <a:off x="6948264" y="620688"/>
            <a:ext cx="1224136" cy="1230863"/>
          </a:xfrm>
          <a:prstGeom prst="rect">
            <a:avLst/>
          </a:prstGeom>
        </p:spPr>
      </p:pic>
    </p:spTree>
    <p:extLst>
      <p:ext uri="{BB962C8B-B14F-4D97-AF65-F5344CB8AC3E}">
        <p14:creationId xmlns:p14="http://schemas.microsoft.com/office/powerpoint/2010/main" val="7714338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244C2-1470-623A-EE99-D3F882E12A2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970B04A1-8C5A-78ED-1DC5-A816C0545657}"/>
                  </a:ext>
                </a:extLst>
              </p:cNvPr>
              <p:cNvSpPr txBox="1"/>
              <p:nvPr/>
            </p:nvSpPr>
            <p:spPr>
              <a:xfrm>
                <a:off x="359532" y="404664"/>
                <a:ext cx="8424936" cy="4985980"/>
              </a:xfrm>
              <a:prstGeom prst="rect">
                <a:avLst/>
              </a:prstGeom>
              <a:solidFill>
                <a:srgbClr val="FEE8FF"/>
              </a:solidFill>
              <a:ln>
                <a:solidFill>
                  <a:srgbClr val="C4228A"/>
                </a:solidFill>
              </a:ln>
            </p:spPr>
            <p:txBody>
              <a:bodyPr wrap="square" rtlCol="0">
                <a:spAutoFit/>
              </a:bodyPr>
              <a:lstStyle>
                <a:defPPr>
                  <a:defRPr lang="es-ES"/>
                </a:defPPr>
                <a:lvl1pPr marL="571500" indent="-571500">
                  <a:buFont typeface="Arial" panose="020B0604020202020204" pitchFamily="34" charset="0"/>
                  <a:buChar char="•"/>
                  <a:defRPr sz="4000" b="1">
                    <a:solidFill>
                      <a:schemeClr val="tx1">
                        <a:lumMod val="75000"/>
                        <a:lumOff val="25000"/>
                      </a:schemeClr>
                    </a:solidFill>
                  </a:defRPr>
                </a:lvl1pPr>
                <a:lvl4pPr lvl="3">
                  <a:defRPr sz="4000" b="1">
                    <a:solidFill>
                      <a:srgbClr val="C00000"/>
                    </a:solidFill>
                  </a:defRPr>
                </a:lvl4pPr>
              </a:lstStyle>
              <a:p>
                <a:pPr marL="0" indent="0">
                  <a:buNone/>
                </a:pPr>
                <a:r>
                  <a:rPr lang="en-US" dirty="0"/>
                  <a:t>Main takeaway:</a:t>
                </a:r>
              </a:p>
              <a:p>
                <a:pPr marL="0" indent="0">
                  <a:buNone/>
                </a:pPr>
                <a:endParaRPr lang="en-US" dirty="0"/>
              </a:p>
              <a:p>
                <a:r>
                  <a:rPr lang="en-US" sz="3200" dirty="0">
                    <a:solidFill>
                      <a:schemeClr val="tx1"/>
                    </a:solidFill>
                  </a:rPr>
                  <a:t>Generative Models </a:t>
                </a:r>
                <a:r>
                  <a:rPr lang="en-US" sz="3200" b="0" dirty="0">
                    <a:solidFill>
                      <a:schemeClr val="tx1"/>
                    </a:solidFill>
                  </a:rPr>
                  <a:t>(are ML, DL, AI,…) models that learn the probability of the data </a:t>
                </a:r>
                <a14:m>
                  <m:oMath xmlns:m="http://schemas.openxmlformats.org/officeDocument/2006/math">
                    <m:r>
                      <a:rPr lang="es-ES" sz="3200" i="1" dirty="0">
                        <a:latin typeface="Cambria Math" panose="02040503050406030204" pitchFamily="18" charset="0"/>
                      </a:rPr>
                      <m:t>𝒑</m:t>
                    </m:r>
                    <m:r>
                      <a:rPr lang="el-GR" sz="3200" i="1" baseline="-25000" dirty="0">
                        <a:latin typeface="Cambria Math" panose="02040503050406030204" pitchFamily="18" charset="0"/>
                      </a:rPr>
                      <m:t>𝜽</m:t>
                    </m:r>
                    <m:r>
                      <a:rPr lang="en-US" sz="3200" b="0" i="1" dirty="0" smtClean="0">
                        <a:solidFill>
                          <a:schemeClr val="tx1"/>
                        </a:solidFill>
                        <a:latin typeface="Cambria Math" panose="02040503050406030204" pitchFamily="18" charset="0"/>
                      </a:rPr>
                      <m:t>(</m:t>
                    </m:r>
                    <m:r>
                      <a:rPr lang="en-US" sz="3200" b="1" i="1" dirty="0" smtClean="0">
                        <a:solidFill>
                          <a:schemeClr val="tx1"/>
                        </a:solidFill>
                        <a:latin typeface="Cambria Math" panose="02040503050406030204" pitchFamily="18" charset="0"/>
                      </a:rPr>
                      <m:t>𝒙</m:t>
                    </m:r>
                    <m:r>
                      <a:rPr lang="en-US" sz="3200" b="0" i="1" dirty="0" smtClean="0">
                        <a:solidFill>
                          <a:schemeClr val="tx1"/>
                        </a:solidFill>
                        <a:latin typeface="Cambria Math" panose="02040503050406030204" pitchFamily="18" charset="0"/>
                      </a:rPr>
                      <m:t>)</m:t>
                    </m:r>
                  </m:oMath>
                </a14:m>
                <a:endParaRPr lang="en-US" sz="3200" b="0" dirty="0">
                  <a:solidFill>
                    <a:schemeClr val="tx1"/>
                  </a:solidFill>
                </a:endParaRPr>
              </a:p>
              <a:p>
                <a:endParaRPr lang="en-US" sz="1400" dirty="0"/>
              </a:p>
              <a:p>
                <a:pPr marL="914400" lvl="3" indent="-114300"/>
                <a:r>
                  <a:rPr lang="en-US" sz="3200" b="0" dirty="0">
                    <a:solidFill>
                      <a:schemeClr val="tx1"/>
                    </a:solidFill>
                  </a:rPr>
                  <a:t>Being </a:t>
                </a:r>
                <a14:m>
                  <m:oMath xmlns:m="http://schemas.openxmlformats.org/officeDocument/2006/math">
                    <m:r>
                      <a:rPr lang="en-US" sz="3200" i="1" dirty="0">
                        <a:solidFill>
                          <a:schemeClr val="tx1"/>
                        </a:solidFill>
                        <a:latin typeface="Cambria Math" panose="02040503050406030204" pitchFamily="18" charset="0"/>
                      </a:rPr>
                      <m:t>𝒙</m:t>
                    </m:r>
                    <m:r>
                      <a:rPr lang="en-US" sz="3200" i="1" dirty="0">
                        <a:solidFill>
                          <a:schemeClr val="tx1"/>
                        </a:solidFill>
                        <a:latin typeface="Cambria Math" panose="02040503050406030204" pitchFamily="18" charset="0"/>
                      </a:rPr>
                      <m:t> </m:t>
                    </m:r>
                  </m:oMath>
                </a14:m>
                <a:r>
                  <a:rPr lang="en-US" sz="3200" b="0" dirty="0">
                    <a:solidFill>
                      <a:schemeClr val="tx1"/>
                    </a:solidFill>
                  </a:rPr>
                  <a:t>: text, images, video, music, speech, sounds, ..</a:t>
                </a:r>
              </a:p>
              <a:p>
                <a:pPr marL="914400" lvl="3" indent="-114300"/>
                <a:endParaRPr lang="en-US" sz="3200" b="0" dirty="0">
                  <a:solidFill>
                    <a:schemeClr val="tx1"/>
                  </a:solidFill>
                </a:endParaRPr>
              </a:p>
              <a:p>
                <a:pPr marL="457200" indent="-457200"/>
                <a:r>
                  <a:rPr lang="en-US" sz="3200" b="0" dirty="0">
                    <a:solidFill>
                      <a:schemeClr val="tx1"/>
                    </a:solidFill>
                  </a:rPr>
                  <a:t>In a way that we can SAMPLE from </a:t>
                </a:r>
                <a14:m>
                  <m:oMath xmlns:m="http://schemas.openxmlformats.org/officeDocument/2006/math">
                    <m:r>
                      <a:rPr lang="es-ES" sz="3200" i="1" dirty="0">
                        <a:latin typeface="Cambria Math" panose="02040503050406030204" pitchFamily="18" charset="0"/>
                      </a:rPr>
                      <m:t>𝒑</m:t>
                    </m:r>
                    <m:r>
                      <a:rPr lang="el-GR" sz="3200" i="1" baseline="-25000" dirty="0">
                        <a:latin typeface="Cambria Math" panose="02040503050406030204" pitchFamily="18" charset="0"/>
                      </a:rPr>
                      <m:t>𝜽</m:t>
                    </m:r>
                    <m:r>
                      <a:rPr lang="en-US" sz="3200" b="0" i="1" dirty="0">
                        <a:solidFill>
                          <a:schemeClr val="tx1"/>
                        </a:solidFill>
                        <a:latin typeface="Cambria Math" panose="02040503050406030204" pitchFamily="18" charset="0"/>
                      </a:rPr>
                      <m:t>(</m:t>
                    </m:r>
                    <m:r>
                      <a:rPr lang="en-US" sz="3200" i="1" dirty="0">
                        <a:solidFill>
                          <a:schemeClr val="tx1"/>
                        </a:solidFill>
                        <a:latin typeface="Cambria Math" panose="02040503050406030204" pitchFamily="18" charset="0"/>
                      </a:rPr>
                      <m:t>𝒙</m:t>
                    </m:r>
                    <m:r>
                      <a:rPr lang="en-US" sz="3200" b="0" i="1" dirty="0">
                        <a:solidFill>
                          <a:schemeClr val="tx1"/>
                        </a:solidFill>
                        <a:latin typeface="Cambria Math" panose="02040503050406030204" pitchFamily="18" charset="0"/>
                      </a:rPr>
                      <m:t>)</m:t>
                    </m:r>
                  </m:oMath>
                </a14:m>
                <a:endParaRPr lang="en-US" sz="3200" b="0" dirty="0">
                  <a:solidFill>
                    <a:schemeClr val="tx1"/>
                  </a:solidFill>
                </a:endParaRPr>
              </a:p>
              <a:p>
                <a:pPr marL="0" indent="0">
                  <a:buNone/>
                </a:pPr>
                <a:endParaRPr lang="en-US" sz="3200" b="0" dirty="0">
                  <a:solidFill>
                    <a:schemeClr val="tx1"/>
                  </a:solidFill>
                </a:endParaRPr>
              </a:p>
            </p:txBody>
          </p:sp>
        </mc:Choice>
        <mc:Fallback xmlns="">
          <p:sp>
            <p:nvSpPr>
              <p:cNvPr id="6" name="CuadroTexto 5">
                <a:extLst>
                  <a:ext uri="{FF2B5EF4-FFF2-40B4-BE49-F238E27FC236}">
                    <a16:creationId xmlns:a16="http://schemas.microsoft.com/office/drawing/2014/main" id="{970B04A1-8C5A-78ED-1DC5-A816C0545657}"/>
                  </a:ext>
                </a:extLst>
              </p:cNvPr>
              <p:cNvSpPr txBox="1">
                <a:spLocks noRot="1" noChangeAspect="1" noMove="1" noResize="1" noEditPoints="1" noAdjustHandles="1" noChangeArrowheads="1" noChangeShapeType="1" noTextEdit="1"/>
              </p:cNvSpPr>
              <p:nvPr/>
            </p:nvSpPr>
            <p:spPr>
              <a:xfrm>
                <a:off x="359532" y="404664"/>
                <a:ext cx="8424936" cy="4985980"/>
              </a:xfrm>
              <a:prstGeom prst="rect">
                <a:avLst/>
              </a:prstGeom>
              <a:blipFill>
                <a:blip r:embed="rId2"/>
                <a:stretch>
                  <a:fillRect l="-2529" t="-2073"/>
                </a:stretch>
              </a:blipFill>
              <a:ln>
                <a:solidFill>
                  <a:srgbClr val="C4228A"/>
                </a:solidFill>
              </a:ln>
            </p:spPr>
            <p:txBody>
              <a:bodyPr/>
              <a:lstStyle/>
              <a:p>
                <a:r>
                  <a:rPr lang="en-US">
                    <a:noFill/>
                  </a:rPr>
                  <a:t> </a:t>
                </a:r>
              </a:p>
            </p:txBody>
          </p:sp>
        </mc:Fallback>
      </mc:AlternateContent>
    </p:spTree>
    <p:extLst>
      <p:ext uri="{BB962C8B-B14F-4D97-AF65-F5344CB8AC3E}">
        <p14:creationId xmlns:p14="http://schemas.microsoft.com/office/powerpoint/2010/main" val="1545805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CD96D-9512-7864-F576-02A6B3E44B5E}"/>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5215157-DCAD-9A4F-B1D4-C7A456B5608B}"/>
              </a:ext>
            </a:extLst>
          </p:cNvPr>
          <p:cNvPicPr>
            <a:picLocks noChangeAspect="1"/>
          </p:cNvPicPr>
          <p:nvPr/>
        </p:nvPicPr>
        <p:blipFill>
          <a:blip r:embed="rId2"/>
          <a:stretch>
            <a:fillRect/>
          </a:stretch>
        </p:blipFill>
        <p:spPr>
          <a:xfrm>
            <a:off x="323528" y="132008"/>
            <a:ext cx="1224136" cy="1230863"/>
          </a:xfrm>
          <a:prstGeom prst="rect">
            <a:avLst/>
          </a:prstGeom>
        </p:spPr>
      </p:pic>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FFC4DA9C-4FFE-658F-6BA2-DD5BC4155F69}"/>
                  </a:ext>
                </a:extLst>
              </p:cNvPr>
              <p:cNvSpPr txBox="1"/>
              <p:nvPr/>
            </p:nvSpPr>
            <p:spPr>
              <a:xfrm>
                <a:off x="1691680" y="132008"/>
                <a:ext cx="6264696" cy="1569660"/>
              </a:xfrm>
              <a:prstGeom prst="rect">
                <a:avLst/>
              </a:prstGeom>
              <a:solidFill>
                <a:srgbClr val="FCFEE8"/>
              </a:solidFill>
              <a:ln>
                <a:solidFill>
                  <a:schemeClr val="accent6">
                    <a:lumMod val="50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noProof="0" dirty="0">
                    <a:solidFill>
                      <a:prstClr val="black"/>
                    </a:solidFill>
                    <a:latin typeface="Calibri Light"/>
                  </a:rPr>
                  <a:t>As we will study along the course, we usually model the conditional probability of</a:t>
                </a:r>
                <a:r>
                  <a:rPr kumimoji="0" lang="en-US" sz="3200" b="0" i="0" u="none" strike="noStrike" kern="1200" cap="none" spc="0" normalizeH="0" baseline="0" noProof="0" dirty="0">
                    <a:ln>
                      <a:noFill/>
                    </a:ln>
                    <a:solidFill>
                      <a:prstClr val="black"/>
                    </a:solidFill>
                    <a:effectLst/>
                    <a:uLnTx/>
                    <a:uFillTx/>
                    <a:latin typeface="Calibri Light"/>
                    <a:ea typeface="+mn-ea"/>
                    <a:cs typeface="+mn-cs"/>
                  </a:rPr>
                  <a:t> data </a:t>
                </a:r>
                <a14:m>
                  <m:oMath xmlns:m="http://schemas.openxmlformats.org/officeDocument/2006/math">
                    <m:r>
                      <a:rPr kumimoji="0" lang="es-ES"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m:t>𝒑</m:t>
                    </m:r>
                    <m:r>
                      <a:rPr kumimoji="0" lang="el-GR" sz="3200" b="0" i="1" u="none" strike="noStrike" kern="1200" cap="none" spc="0" normalizeH="0" baseline="-25000" noProof="0" dirty="0">
                        <a:ln>
                          <a:noFill/>
                        </a:ln>
                        <a:solidFill>
                          <a:prstClr val="black"/>
                        </a:solidFill>
                        <a:effectLst/>
                        <a:uLnTx/>
                        <a:uFillTx/>
                        <a:latin typeface="Cambria Math" panose="02040503050406030204" pitchFamily="18" charset="0"/>
                        <a:ea typeface="+mn-ea"/>
                        <a:cs typeface="+mn-cs"/>
                      </a:rPr>
                      <m:t>𝜽</m:t>
                    </m:r>
                    <m:r>
                      <a:rPr kumimoji="0" lang="en-U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3200" b="1"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𝒙</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m:rPr>
                        <m:sty m:val="p"/>
                      </m:rP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prompt</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oMath>
                </a14:m>
                <a:endParaRPr kumimoji="0" lang="en-US" sz="3200" b="0" i="0" u="none" strike="noStrike" kern="1200" cap="none" spc="0" normalizeH="0" baseline="0" noProof="0" dirty="0">
                  <a:ln>
                    <a:noFill/>
                  </a:ln>
                  <a:solidFill>
                    <a:prstClr val="black"/>
                  </a:solidFill>
                  <a:effectLst/>
                  <a:uLnTx/>
                  <a:uFillTx/>
                  <a:latin typeface="Calibri Light"/>
                  <a:ea typeface="+mn-ea"/>
                  <a:cs typeface="+mn-cs"/>
                </a:endParaRPr>
              </a:p>
            </p:txBody>
          </p:sp>
        </mc:Choice>
        <mc:Fallback xmlns="">
          <p:sp>
            <p:nvSpPr>
              <p:cNvPr id="4" name="CuadroTexto 3">
                <a:extLst>
                  <a:ext uri="{FF2B5EF4-FFF2-40B4-BE49-F238E27FC236}">
                    <a16:creationId xmlns:a16="http://schemas.microsoft.com/office/drawing/2014/main" id="{FFC4DA9C-4FFE-658F-6BA2-DD5BC4155F69}"/>
                  </a:ext>
                </a:extLst>
              </p:cNvPr>
              <p:cNvSpPr txBox="1">
                <a:spLocks noRot="1" noChangeAspect="1" noMove="1" noResize="1" noEditPoints="1" noAdjustHandles="1" noChangeArrowheads="1" noChangeShapeType="1" noTextEdit="1"/>
              </p:cNvSpPr>
              <p:nvPr/>
            </p:nvSpPr>
            <p:spPr>
              <a:xfrm>
                <a:off x="1691680" y="132008"/>
                <a:ext cx="6264696" cy="1569660"/>
              </a:xfrm>
              <a:prstGeom prst="rect">
                <a:avLst/>
              </a:prstGeom>
              <a:blipFill>
                <a:blip r:embed="rId3"/>
                <a:stretch>
                  <a:fillRect l="-2430" t="-4633" r="-3596" b="-11969"/>
                </a:stretch>
              </a:blipFill>
              <a:ln>
                <a:solidFill>
                  <a:schemeClr val="accent6">
                    <a:lumMod val="50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52C27C91-87AA-29CD-3166-25A3FCB2C0FF}"/>
                  </a:ext>
                </a:extLst>
              </p:cNvPr>
              <p:cNvSpPr txBox="1"/>
              <p:nvPr/>
            </p:nvSpPr>
            <p:spPr>
              <a:xfrm>
                <a:off x="1716234" y="2564904"/>
                <a:ext cx="6264696" cy="2697085"/>
              </a:xfrm>
              <a:prstGeom prst="rect">
                <a:avLst/>
              </a:prstGeom>
              <a:noFill/>
              <a:ln>
                <a:solidFill>
                  <a:schemeClr val="tx1"/>
                </a:solidFill>
              </a:ln>
            </p:spPr>
            <p:txBody>
              <a:bodyPr wrap="square">
                <a:spAutoFit/>
              </a:bodyPr>
              <a:lstStyle/>
              <a:p>
                <a14:m>
                  <m:oMath xmlns:m="http://schemas.openxmlformats.org/officeDocument/2006/math">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𝒑</m:t>
                    </m:r>
                    <m:r>
                      <a:rPr kumimoji="0" lang="el-GR" sz="3200" b="0" i="1" u="none" strike="noStrike" kern="1200" cap="none" spc="0" normalizeH="0" baseline="-25000" noProof="0" dirty="0">
                        <a:ln>
                          <a:noFill/>
                        </a:ln>
                        <a:solidFill>
                          <a:prstClr val="black"/>
                        </a:solidFill>
                        <a:effectLst/>
                        <a:uLnTx/>
                        <a:uFillTx/>
                        <a:latin typeface="Cambria Math" panose="02040503050406030204" pitchFamily="18" charset="0"/>
                        <a:ea typeface="+mn-ea"/>
                        <a:cs typeface="+mn-cs"/>
                      </a:rPr>
                      <m:t>𝜽</m:t>
                    </m:r>
                    <m:r>
                      <a:rPr kumimoji="0" lang="en-U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a:rPr kumimoji="0" lang="en-US" sz="3200" b="1"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𝒙</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r>
                      <m:rPr>
                        <m:sty m:val="p"/>
                      </m:rP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prompt</m:t>
                    </m:r>
                    <m:r>
                      <a:rPr kumimoji="0" lang="es-ES" sz="32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m:t>
                    </m:r>
                  </m:oMath>
                </a14:m>
                <a:r>
                  <a:rPr lang="en-US" dirty="0"/>
                  <a:t>:</a:t>
                </a:r>
              </a:p>
              <a:p>
                <a:endParaRPr lang="en-US" dirty="0"/>
              </a:p>
              <a:p>
                <a:pPr marL="285750" indent="-285750">
                  <a:buFont typeface="Arial" panose="020B0604020202020204" pitchFamily="34" charset="0"/>
                  <a:buChar char="•"/>
                </a:pPr>
                <a:r>
                  <a:rPr lang="en-US" sz="2800" dirty="0"/>
                  <a:t>“Generate the image of a cat”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“Generate the sound of the sea”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a:t>
                </a:r>
              </a:p>
            </p:txBody>
          </p:sp>
        </mc:Choice>
        <mc:Fallback xmlns="">
          <p:sp>
            <p:nvSpPr>
              <p:cNvPr id="11" name="CuadroTexto 10">
                <a:extLst>
                  <a:ext uri="{FF2B5EF4-FFF2-40B4-BE49-F238E27FC236}">
                    <a16:creationId xmlns:a16="http://schemas.microsoft.com/office/drawing/2014/main" id="{52C27C91-87AA-29CD-3166-25A3FCB2C0FF}"/>
                  </a:ext>
                </a:extLst>
              </p:cNvPr>
              <p:cNvSpPr txBox="1">
                <a:spLocks noRot="1" noChangeAspect="1" noMove="1" noResize="1" noEditPoints="1" noAdjustHandles="1" noChangeArrowheads="1" noChangeShapeType="1" noTextEdit="1"/>
              </p:cNvSpPr>
              <p:nvPr/>
            </p:nvSpPr>
            <p:spPr>
              <a:xfrm>
                <a:off x="1716234" y="2564904"/>
                <a:ext cx="6264696" cy="2697085"/>
              </a:xfrm>
              <a:prstGeom prst="rect">
                <a:avLst/>
              </a:prstGeom>
              <a:blipFill>
                <a:blip r:embed="rId4"/>
                <a:stretch>
                  <a:fillRect l="-1652" b="-2477"/>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2251713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CAA9D-A295-7B9A-476A-CF643ACF1E4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3F941C75-5879-1F0E-78EF-B9664C917C3B}"/>
                  </a:ext>
                </a:extLst>
              </p:cNvPr>
              <p:cNvSpPr txBox="1"/>
              <p:nvPr/>
            </p:nvSpPr>
            <p:spPr>
              <a:xfrm>
                <a:off x="359532" y="404664"/>
                <a:ext cx="8424936" cy="5047536"/>
              </a:xfrm>
              <a:prstGeom prst="rect">
                <a:avLst/>
              </a:prstGeom>
              <a:solidFill>
                <a:srgbClr val="FEE8FF"/>
              </a:solidFill>
              <a:ln>
                <a:solidFill>
                  <a:srgbClr val="C4228A"/>
                </a:solidFill>
              </a:ln>
            </p:spPr>
            <p:txBody>
              <a:bodyPr wrap="square" rtlCol="0">
                <a:spAutoFit/>
              </a:bodyPr>
              <a:lstStyle>
                <a:defPPr>
                  <a:defRPr lang="es-ES"/>
                </a:defPPr>
                <a:lvl1pPr marL="571500" indent="-571500">
                  <a:buFont typeface="Arial" panose="020B0604020202020204" pitchFamily="34" charset="0"/>
                  <a:buChar char="•"/>
                  <a:defRPr sz="4000" b="1">
                    <a:solidFill>
                      <a:schemeClr val="tx1">
                        <a:lumMod val="75000"/>
                        <a:lumOff val="25000"/>
                      </a:schemeClr>
                    </a:solidFill>
                  </a:defRPr>
                </a:lvl1pPr>
                <a:lvl4pPr lvl="3">
                  <a:defRPr sz="4000" b="1">
                    <a:solidFill>
                      <a:srgbClr val="C00000"/>
                    </a:solidFill>
                  </a:defRPr>
                </a:lvl4pPr>
              </a:lstStyle>
              <a:p>
                <a:pPr marL="0" indent="0">
                  <a:buNone/>
                </a:pPr>
                <a:r>
                  <a:rPr lang="en-US" dirty="0"/>
                  <a:t>Main takeaway:</a:t>
                </a:r>
              </a:p>
              <a:p>
                <a:pPr marL="0" indent="0">
                  <a:buNone/>
                </a:pPr>
                <a:endParaRPr lang="en-US" dirty="0"/>
              </a:p>
              <a:p>
                <a:r>
                  <a:rPr lang="en-US" sz="3200" dirty="0">
                    <a:solidFill>
                      <a:schemeClr val="tx1"/>
                    </a:solidFill>
                  </a:rPr>
                  <a:t>Generative Models </a:t>
                </a:r>
                <a:r>
                  <a:rPr lang="en-US" sz="3200" b="0" dirty="0">
                    <a:solidFill>
                      <a:schemeClr val="tx1"/>
                    </a:solidFill>
                  </a:rPr>
                  <a:t>(</a:t>
                </a:r>
                <a:r>
                  <a:rPr lang="en-US" sz="3600" dirty="0">
                    <a:solidFill>
                      <a:srgbClr val="FF0000"/>
                    </a:solidFill>
                  </a:rPr>
                  <a:t>are ML, DL, AI,…) </a:t>
                </a:r>
                <a:r>
                  <a:rPr lang="en-US" sz="3200" b="0" dirty="0">
                    <a:solidFill>
                      <a:schemeClr val="tx1"/>
                    </a:solidFill>
                  </a:rPr>
                  <a:t>models that learn the probability of the data </a:t>
                </a:r>
                <a14:m>
                  <m:oMath xmlns:m="http://schemas.openxmlformats.org/officeDocument/2006/math">
                    <m:r>
                      <a:rPr lang="es-ES" sz="3200" i="1" dirty="0">
                        <a:latin typeface="Cambria Math" panose="02040503050406030204" pitchFamily="18" charset="0"/>
                      </a:rPr>
                      <m:t>𝒑</m:t>
                    </m:r>
                    <m:r>
                      <a:rPr lang="el-GR" sz="3200" i="1" baseline="-25000" dirty="0">
                        <a:latin typeface="Cambria Math" panose="02040503050406030204" pitchFamily="18" charset="0"/>
                      </a:rPr>
                      <m:t>𝜽</m:t>
                    </m:r>
                    <m:r>
                      <a:rPr lang="en-US" sz="3200" b="0" i="1" dirty="0" smtClean="0">
                        <a:solidFill>
                          <a:schemeClr val="tx1"/>
                        </a:solidFill>
                        <a:latin typeface="Cambria Math" panose="02040503050406030204" pitchFamily="18" charset="0"/>
                      </a:rPr>
                      <m:t>(</m:t>
                    </m:r>
                    <m:r>
                      <a:rPr lang="en-US" sz="3200" b="1" i="1" dirty="0" smtClean="0">
                        <a:solidFill>
                          <a:schemeClr val="tx1"/>
                        </a:solidFill>
                        <a:latin typeface="Cambria Math" panose="02040503050406030204" pitchFamily="18" charset="0"/>
                      </a:rPr>
                      <m:t>𝒙</m:t>
                    </m:r>
                    <m:r>
                      <a:rPr lang="en-US" sz="3200" b="0" i="1" dirty="0" smtClean="0">
                        <a:solidFill>
                          <a:schemeClr val="tx1"/>
                        </a:solidFill>
                        <a:latin typeface="Cambria Math" panose="02040503050406030204" pitchFamily="18" charset="0"/>
                      </a:rPr>
                      <m:t>)</m:t>
                    </m:r>
                  </m:oMath>
                </a14:m>
                <a:endParaRPr lang="en-US" sz="3200" b="0" dirty="0">
                  <a:solidFill>
                    <a:schemeClr val="tx1"/>
                  </a:solidFill>
                </a:endParaRPr>
              </a:p>
              <a:p>
                <a:endParaRPr lang="en-US" sz="1400" dirty="0"/>
              </a:p>
              <a:p>
                <a:pPr marL="914400" lvl="3" indent="-114300"/>
                <a:r>
                  <a:rPr lang="en-US" sz="3200" b="0" dirty="0">
                    <a:solidFill>
                      <a:schemeClr val="tx1"/>
                    </a:solidFill>
                  </a:rPr>
                  <a:t>Being </a:t>
                </a:r>
                <a14:m>
                  <m:oMath xmlns:m="http://schemas.openxmlformats.org/officeDocument/2006/math">
                    <m:r>
                      <a:rPr lang="en-US" sz="3200" i="1" dirty="0">
                        <a:solidFill>
                          <a:schemeClr val="tx1"/>
                        </a:solidFill>
                        <a:latin typeface="Cambria Math" panose="02040503050406030204" pitchFamily="18" charset="0"/>
                      </a:rPr>
                      <m:t>𝒙</m:t>
                    </m:r>
                    <m:r>
                      <a:rPr lang="en-US" sz="3200" i="1" dirty="0">
                        <a:solidFill>
                          <a:schemeClr val="tx1"/>
                        </a:solidFill>
                        <a:latin typeface="Cambria Math" panose="02040503050406030204" pitchFamily="18" charset="0"/>
                      </a:rPr>
                      <m:t> </m:t>
                    </m:r>
                  </m:oMath>
                </a14:m>
                <a:r>
                  <a:rPr lang="en-US" sz="3200" b="0" dirty="0">
                    <a:solidFill>
                      <a:schemeClr val="tx1"/>
                    </a:solidFill>
                  </a:rPr>
                  <a:t>: text, images, video, music, speech, sounds, ..</a:t>
                </a:r>
              </a:p>
              <a:p>
                <a:pPr marL="914400" lvl="3" indent="-114300"/>
                <a:endParaRPr lang="en-US" sz="3200" b="0" dirty="0">
                  <a:solidFill>
                    <a:schemeClr val="tx1"/>
                  </a:solidFill>
                </a:endParaRPr>
              </a:p>
              <a:p>
                <a:pPr marL="457200" indent="-457200"/>
                <a:r>
                  <a:rPr lang="en-US" sz="3200" b="0" dirty="0">
                    <a:solidFill>
                      <a:schemeClr val="tx1"/>
                    </a:solidFill>
                  </a:rPr>
                  <a:t>In a way that we can SAMPLE from </a:t>
                </a:r>
                <a14:m>
                  <m:oMath xmlns:m="http://schemas.openxmlformats.org/officeDocument/2006/math">
                    <m:r>
                      <a:rPr lang="es-ES" sz="3200" i="1" dirty="0">
                        <a:latin typeface="Cambria Math" panose="02040503050406030204" pitchFamily="18" charset="0"/>
                      </a:rPr>
                      <m:t>𝒑</m:t>
                    </m:r>
                    <m:r>
                      <a:rPr lang="el-GR" sz="3200" i="1" baseline="-25000" dirty="0">
                        <a:latin typeface="Cambria Math" panose="02040503050406030204" pitchFamily="18" charset="0"/>
                      </a:rPr>
                      <m:t>𝜽</m:t>
                    </m:r>
                    <m:r>
                      <a:rPr lang="en-US" sz="3200" b="0" i="1" dirty="0">
                        <a:solidFill>
                          <a:schemeClr val="tx1"/>
                        </a:solidFill>
                        <a:latin typeface="Cambria Math" panose="02040503050406030204" pitchFamily="18" charset="0"/>
                      </a:rPr>
                      <m:t>(</m:t>
                    </m:r>
                    <m:r>
                      <a:rPr lang="en-US" sz="3200" i="1" dirty="0">
                        <a:solidFill>
                          <a:schemeClr val="tx1"/>
                        </a:solidFill>
                        <a:latin typeface="Cambria Math" panose="02040503050406030204" pitchFamily="18" charset="0"/>
                      </a:rPr>
                      <m:t>𝒙</m:t>
                    </m:r>
                    <m:r>
                      <a:rPr lang="en-US" sz="3200" b="0" i="1" dirty="0">
                        <a:solidFill>
                          <a:schemeClr val="tx1"/>
                        </a:solidFill>
                        <a:latin typeface="Cambria Math" panose="02040503050406030204" pitchFamily="18" charset="0"/>
                      </a:rPr>
                      <m:t>)</m:t>
                    </m:r>
                  </m:oMath>
                </a14:m>
                <a:endParaRPr lang="en-US" sz="3200" b="0" dirty="0">
                  <a:solidFill>
                    <a:schemeClr val="tx1"/>
                  </a:solidFill>
                </a:endParaRPr>
              </a:p>
              <a:p>
                <a:pPr marL="0" indent="0">
                  <a:buNone/>
                </a:pPr>
                <a:endParaRPr lang="en-US" sz="3200" b="0" dirty="0">
                  <a:solidFill>
                    <a:schemeClr val="tx1"/>
                  </a:solidFill>
                </a:endParaRPr>
              </a:p>
            </p:txBody>
          </p:sp>
        </mc:Choice>
        <mc:Fallback xmlns="">
          <p:sp>
            <p:nvSpPr>
              <p:cNvPr id="6" name="CuadroTexto 5">
                <a:extLst>
                  <a:ext uri="{FF2B5EF4-FFF2-40B4-BE49-F238E27FC236}">
                    <a16:creationId xmlns:a16="http://schemas.microsoft.com/office/drawing/2014/main" id="{3F941C75-5879-1F0E-78EF-B9664C917C3B}"/>
                  </a:ext>
                </a:extLst>
              </p:cNvPr>
              <p:cNvSpPr txBox="1">
                <a:spLocks noRot="1" noChangeAspect="1" noMove="1" noResize="1" noEditPoints="1" noAdjustHandles="1" noChangeArrowheads="1" noChangeShapeType="1" noTextEdit="1"/>
              </p:cNvSpPr>
              <p:nvPr/>
            </p:nvSpPr>
            <p:spPr>
              <a:xfrm>
                <a:off x="359532" y="404664"/>
                <a:ext cx="8424936" cy="5047536"/>
              </a:xfrm>
              <a:prstGeom prst="rect">
                <a:avLst/>
              </a:prstGeom>
              <a:blipFill>
                <a:blip r:embed="rId2"/>
                <a:stretch>
                  <a:fillRect l="-2529" t="-2048" r="-1951"/>
                </a:stretch>
              </a:blipFill>
              <a:ln>
                <a:solidFill>
                  <a:srgbClr val="C4228A"/>
                </a:solidFill>
              </a:ln>
            </p:spPr>
            <p:txBody>
              <a:bodyPr/>
              <a:lstStyle/>
              <a:p>
                <a:r>
                  <a:rPr lang="en-US">
                    <a:noFill/>
                  </a:rPr>
                  <a:t> </a:t>
                </a:r>
              </a:p>
            </p:txBody>
          </p:sp>
        </mc:Fallback>
      </mc:AlternateContent>
      <p:sp>
        <p:nvSpPr>
          <p:cNvPr id="4" name="Elipse 3">
            <a:extLst>
              <a:ext uri="{FF2B5EF4-FFF2-40B4-BE49-F238E27FC236}">
                <a16:creationId xmlns:a16="http://schemas.microsoft.com/office/drawing/2014/main" id="{A44CA1DE-FB90-39F5-B4AB-82E74FA67AE1}"/>
              </a:ext>
            </a:extLst>
          </p:cNvPr>
          <p:cNvSpPr/>
          <p:nvPr/>
        </p:nvSpPr>
        <p:spPr>
          <a:xfrm>
            <a:off x="3995936" y="1196752"/>
            <a:ext cx="3456384" cy="1512168"/>
          </a:xfrm>
          <a:prstGeom prst="ellipse">
            <a:avLst/>
          </a:prstGeom>
          <a:solidFill>
            <a:srgbClr val="FFFF00">
              <a:alpha val="25000"/>
            </a:srgbClr>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068440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EC998-4BD4-0EA2-8183-656204B4C72B}"/>
            </a:ext>
          </a:extLst>
        </p:cNvPr>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01BE04F-C5D1-1F46-A2D5-09A4D9DD251C}"/>
              </a:ext>
            </a:extLst>
          </p:cNvPr>
          <p:cNvSpPr>
            <a:spLocks noGrp="1"/>
          </p:cNvSpPr>
          <p:nvPr>
            <p:ph type="sldNum" sz="quarter" idx="12"/>
          </p:nvPr>
        </p:nvSpPr>
        <p:spPr/>
        <p:txBody>
          <a:bodyPr/>
          <a:lstStyle/>
          <a:p>
            <a:fld id="{132FADFE-3B8F-471C-ABF0-DBC7717ECBBC}" type="slidenum">
              <a:rPr lang="es-ES" smtClean="0"/>
              <a:t>40</a:t>
            </a:fld>
            <a:endParaRPr lang="es-ES"/>
          </a:p>
        </p:txBody>
      </p:sp>
      <p:sp>
        <p:nvSpPr>
          <p:cNvPr id="4" name="CuadroTexto 3">
            <a:extLst>
              <a:ext uri="{FF2B5EF4-FFF2-40B4-BE49-F238E27FC236}">
                <a16:creationId xmlns:a16="http://schemas.microsoft.com/office/drawing/2014/main" id="{B2EFDCA2-A472-4D9B-7F6D-D3BEFA0D6C3A}"/>
              </a:ext>
            </a:extLst>
          </p:cNvPr>
          <p:cNvSpPr txBox="1"/>
          <p:nvPr/>
        </p:nvSpPr>
        <p:spPr>
          <a:xfrm>
            <a:off x="1835696" y="1412776"/>
            <a:ext cx="5976664" cy="2308324"/>
          </a:xfrm>
          <a:prstGeom prst="rect">
            <a:avLst/>
          </a:prstGeom>
          <a:solidFill>
            <a:srgbClr val="FCFEE8"/>
          </a:solidFill>
          <a:ln>
            <a:solidFill>
              <a:srgbClr val="C4228A"/>
            </a:solidFill>
          </a:ln>
        </p:spPr>
        <p:txBody>
          <a:bodyPr wrap="square" rtlCol="0">
            <a:spAutoFit/>
          </a:bodyPr>
          <a:lstStyle/>
          <a:p>
            <a:pPr algn="ctr"/>
            <a:r>
              <a:rPr lang="en-US" sz="4800" dirty="0">
                <a:solidFill>
                  <a:schemeClr val="accent6">
                    <a:lumMod val="50000"/>
                  </a:schemeClr>
                </a:solidFill>
              </a:rPr>
              <a:t>We will see this in</a:t>
            </a:r>
          </a:p>
          <a:p>
            <a:pPr algn="ctr"/>
            <a:r>
              <a:rPr lang="en-US" sz="4800" dirty="0">
                <a:solidFill>
                  <a:schemeClr val="accent6">
                    <a:lumMod val="50000"/>
                  </a:schemeClr>
                </a:solidFill>
              </a:rPr>
              <a:t>Chapter 4</a:t>
            </a:r>
          </a:p>
          <a:p>
            <a:pPr algn="ctr"/>
            <a:r>
              <a:rPr lang="en-US" sz="4800" dirty="0">
                <a:solidFill>
                  <a:schemeClr val="accent6">
                    <a:lumMod val="50000"/>
                  </a:schemeClr>
                </a:solidFill>
              </a:rPr>
              <a:t>Classification</a:t>
            </a:r>
          </a:p>
        </p:txBody>
      </p:sp>
    </p:spTree>
    <p:extLst>
      <p:ext uri="{BB962C8B-B14F-4D97-AF65-F5344CB8AC3E}">
        <p14:creationId xmlns:p14="http://schemas.microsoft.com/office/powerpoint/2010/main" val="1988087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1844824"/>
            <a:ext cx="6353175" cy="1009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p:txBody>
          <a:bodyPr>
            <a:normAutofit/>
          </a:bodyPr>
          <a:lstStyle/>
          <a:p>
            <a:r>
              <a:rPr lang="en-US" dirty="0"/>
              <a:t>Linear Discriminant Analysis for p&gt;1</a:t>
            </a:r>
          </a:p>
        </p:txBody>
      </p:sp>
      <mc:AlternateContent xmlns:mc="http://schemas.openxmlformats.org/markup-compatibility/2006" xmlns:a14="http://schemas.microsoft.com/office/drawing/2010/main">
        <mc:Choice Requires="a14">
          <p:sp>
            <p:nvSpPr>
              <p:cNvPr id="4" name="3 Rectángulo"/>
              <p:cNvSpPr/>
              <p:nvPr/>
            </p:nvSpPr>
            <p:spPr>
              <a:xfrm>
                <a:off x="179512" y="980728"/>
                <a:ext cx="8568952" cy="1061444"/>
              </a:xfrm>
              <a:prstGeom prst="rect">
                <a:avLst/>
              </a:prstGeom>
            </p:spPr>
            <p:txBody>
              <a:bodyPr wrap="square">
                <a:spAutoFit/>
              </a:bodyPr>
              <a:lstStyle/>
              <a:p>
                <a:r>
                  <a:rPr lang="en-US" sz="2000" dirty="0"/>
                  <a:t>In </a:t>
                </a:r>
                <a:r>
                  <a:rPr lang="en-US" sz="2000" b="1" dirty="0" err="1">
                    <a:solidFill>
                      <a:schemeClr val="tx2">
                        <a:lumMod val="50000"/>
                      </a:schemeClr>
                    </a:solidFill>
                  </a:rPr>
                  <a:t>LDA</a:t>
                </a:r>
                <a:r>
                  <a:rPr lang="en-US" sz="2000" dirty="0"/>
                  <a:t> for p&gt; 1 we will assume that </a:t>
                </a:r>
                <a14:m>
                  <m:oMath xmlns:m="http://schemas.openxmlformats.org/officeDocument/2006/math">
                    <m:r>
                      <a:rPr lang="es-ES_tradnl" sz="2000" b="0" i="1" smtClean="0">
                        <a:latin typeface="Cambria Math"/>
                      </a:rPr>
                      <m:t>𝑋</m:t>
                    </m:r>
                    <m:r>
                      <a:rPr lang="es-ES_tradnl" sz="2000" b="0" i="1" smtClean="0">
                        <a:latin typeface="Cambria Math"/>
                      </a:rPr>
                      <m:t>=</m:t>
                    </m:r>
                    <m:d>
                      <m:dPr>
                        <m:ctrlPr>
                          <a:rPr lang="es-ES_tradnl" sz="2000" b="0" i="1" smtClean="0">
                            <a:latin typeface="Cambria Math" panose="02040503050406030204" pitchFamily="18" charset="0"/>
                          </a:rPr>
                        </m:ctrlPr>
                      </m:dPr>
                      <m:e>
                        <m:sSub>
                          <m:sSubPr>
                            <m:ctrlPr>
                              <a:rPr lang="es-ES_tradnl" sz="2000" b="0" i="1" smtClean="0">
                                <a:latin typeface="Cambria Math"/>
                              </a:rPr>
                            </m:ctrlPr>
                          </m:sSubPr>
                          <m:e>
                            <m:r>
                              <a:rPr lang="es-ES_tradnl" sz="2000" b="0" i="1" smtClean="0">
                                <a:latin typeface="Cambria Math"/>
                              </a:rPr>
                              <m:t>𝑋</m:t>
                            </m:r>
                          </m:e>
                          <m:sub>
                            <m:r>
                              <a:rPr lang="es-ES_tradnl" sz="2000" b="0" i="1" smtClean="0">
                                <a:latin typeface="Cambria Math"/>
                              </a:rPr>
                              <m:t>1</m:t>
                            </m:r>
                          </m:sub>
                        </m:sSub>
                        <m:r>
                          <a:rPr lang="es-ES_tradnl" sz="2000" b="0" i="1" smtClean="0">
                            <a:latin typeface="Cambria Math"/>
                          </a:rPr>
                          <m:t>,</m:t>
                        </m:r>
                        <m:sSub>
                          <m:sSubPr>
                            <m:ctrlPr>
                              <a:rPr lang="es-ES_tradnl" sz="2000" b="0" i="1" smtClean="0">
                                <a:latin typeface="Cambria Math"/>
                              </a:rPr>
                            </m:ctrlPr>
                          </m:sSubPr>
                          <m:e>
                            <m:r>
                              <a:rPr lang="es-ES_tradnl" sz="2000" b="0" i="1" smtClean="0">
                                <a:latin typeface="Cambria Math"/>
                              </a:rPr>
                              <m:t>𝑋</m:t>
                            </m:r>
                          </m:e>
                          <m:sub>
                            <m:r>
                              <a:rPr lang="es-ES_tradnl" sz="2000" b="0" i="1" smtClean="0">
                                <a:latin typeface="Cambria Math"/>
                              </a:rPr>
                              <m:t>2</m:t>
                            </m:r>
                          </m:sub>
                        </m:sSub>
                        <m:r>
                          <a:rPr lang="es-ES_tradnl" sz="2000" b="0" i="1" smtClean="0">
                            <a:latin typeface="Cambria Math"/>
                          </a:rPr>
                          <m:t>,…..</m:t>
                        </m:r>
                        <m:sSub>
                          <m:sSubPr>
                            <m:ctrlPr>
                              <a:rPr lang="es-ES_tradnl" sz="2000" b="0" i="1" smtClean="0">
                                <a:latin typeface="Cambria Math"/>
                              </a:rPr>
                            </m:ctrlPr>
                          </m:sSubPr>
                          <m:e>
                            <m:r>
                              <a:rPr lang="es-ES_tradnl" sz="2000" b="0" i="1" smtClean="0">
                                <a:latin typeface="Cambria Math"/>
                              </a:rPr>
                              <m:t>𝑋</m:t>
                            </m:r>
                          </m:e>
                          <m:sub>
                            <m:r>
                              <a:rPr lang="es-ES_tradnl" sz="2000" b="0" i="1" smtClean="0">
                                <a:latin typeface="Cambria Math"/>
                              </a:rPr>
                              <m:t>𝑝</m:t>
                            </m:r>
                          </m:sub>
                        </m:sSub>
                      </m:e>
                    </m:d>
                  </m:oMath>
                </a14:m>
                <a:r>
                  <a:rPr lang="en-US" sz="2000" dirty="0"/>
                  <a:t> is drawn from a </a:t>
                </a:r>
                <a:r>
                  <a:rPr lang="en-US" sz="2000" b="1" dirty="0">
                    <a:solidFill>
                      <a:schemeClr val="tx2">
                        <a:lumMod val="50000"/>
                      </a:schemeClr>
                    </a:solidFill>
                  </a:rPr>
                  <a:t>multivariate Gaussian distribution </a:t>
                </a:r>
                <a:r>
                  <a:rPr lang="en-US" sz="2000" dirty="0"/>
                  <a:t>with a class-specific mean vector and a common covariance matrix</a:t>
                </a:r>
              </a:p>
            </p:txBody>
          </p:sp>
        </mc:Choice>
        <mc:Fallback xmlns="">
          <p:sp>
            <p:nvSpPr>
              <p:cNvPr id="4" name="3 Rectángulo"/>
              <p:cNvSpPr>
                <a:spLocks noRot="1" noChangeAspect="1" noMove="1" noResize="1" noEditPoints="1" noAdjustHandles="1" noChangeArrowheads="1" noChangeShapeType="1" noTextEdit="1"/>
              </p:cNvSpPr>
              <p:nvPr/>
            </p:nvSpPr>
            <p:spPr>
              <a:xfrm>
                <a:off x="179512" y="980728"/>
                <a:ext cx="8568952" cy="1061444"/>
              </a:xfrm>
              <a:prstGeom prst="rect">
                <a:avLst/>
              </a:prstGeom>
              <a:blipFill rotWithShape="0">
                <a:blip r:embed="rId3"/>
                <a:stretch>
                  <a:fillRect l="-711" t="-1149" r="-996" b="-9195"/>
                </a:stretch>
              </a:blipFill>
            </p:spPr>
            <p:txBody>
              <a:bodyPr/>
              <a:lstStyle/>
              <a:p>
                <a:r>
                  <a:rPr lang="en-US">
                    <a:noFill/>
                  </a:rPr>
                  <a:t> </a:t>
                </a:r>
              </a:p>
            </p:txBody>
          </p:sp>
        </mc:Fallback>
      </mc:AlternateContent>
      <p:sp>
        <p:nvSpPr>
          <p:cNvPr id="7" name="6 Rectángulo"/>
          <p:cNvSpPr/>
          <p:nvPr/>
        </p:nvSpPr>
        <p:spPr>
          <a:xfrm>
            <a:off x="1187624" y="4581128"/>
            <a:ext cx="7452828" cy="645561"/>
          </a:xfrm>
          <a:prstGeom prst="rect">
            <a:avLst/>
          </a:prstGeom>
        </p:spPr>
        <p:txBody>
          <a:bodyPr wrap="square">
            <a:spAutoFit/>
          </a:bodyPr>
          <a:lstStyle/>
          <a:p>
            <a:endParaRPr lang="en-US" sz="1600" dirty="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3567322"/>
            <a:ext cx="6454426" cy="32856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2 Rectángulo"/>
              <p:cNvSpPr/>
              <p:nvPr/>
            </p:nvSpPr>
            <p:spPr>
              <a:xfrm>
                <a:off x="323528" y="2996952"/>
                <a:ext cx="8592737" cy="400110"/>
              </a:xfrm>
              <a:prstGeom prst="rect">
                <a:avLst/>
              </a:prstGeom>
            </p:spPr>
            <p:txBody>
              <a:bodyPr wrap="none">
                <a:spAutoFit/>
              </a:bodyPr>
              <a:lstStyle/>
              <a:p>
                <a14:m>
                  <m:oMath xmlns:m="http://schemas.openxmlformats.org/officeDocument/2006/math">
                    <m:r>
                      <a:rPr lang="en-US" sz="2000" i="1" smtClean="0">
                        <a:latin typeface="Cambria Math"/>
                        <a:ea typeface="Cambria Math"/>
                      </a:rPr>
                      <m:t>𝜇</m:t>
                    </m:r>
                  </m:oMath>
                </a14:m>
                <a:r>
                  <a:rPr lang="en-US" sz="2000" dirty="0"/>
                  <a:t> is the mean vector and </a:t>
                </a:r>
                <a14:m>
                  <m:oMath xmlns:m="http://schemas.openxmlformats.org/officeDocument/2006/math">
                    <m:r>
                      <m:rPr>
                        <m:sty m:val="p"/>
                      </m:rPr>
                      <a:rPr lang="el-GR" sz="2000" i="1" smtClean="0">
                        <a:latin typeface="Cambria Math"/>
                      </a:rPr>
                      <m:t>Σ</m:t>
                    </m:r>
                  </m:oMath>
                </a14:m>
                <a:r>
                  <a:rPr lang="en-US" sz="2000" dirty="0"/>
                  <a:t> is the </a:t>
                </a:r>
                <a14:m>
                  <m:oMath xmlns:m="http://schemas.openxmlformats.org/officeDocument/2006/math">
                    <m:r>
                      <a:rPr lang="es-ES_tradnl" sz="2000" b="0" i="1" smtClean="0">
                        <a:latin typeface="Cambria Math"/>
                      </a:rPr>
                      <m:t>𝑝</m:t>
                    </m:r>
                    <m:r>
                      <a:rPr lang="es-ES_tradnl" sz="2000" b="0" i="1" smtClean="0">
                        <a:latin typeface="Cambria Math"/>
                      </a:rPr>
                      <m:t> </m:t>
                    </m:r>
                    <m:r>
                      <m:rPr>
                        <m:nor/>
                      </m:rPr>
                      <a:rPr lang="es-ES_tradnl" sz="2000" b="0" i="0" smtClean="0">
                        <a:latin typeface="Cambria Math"/>
                      </a:rPr>
                      <m:t>x</m:t>
                    </m:r>
                    <m:r>
                      <a:rPr lang="es-ES_tradnl" sz="2000" b="0" i="1" smtClean="0">
                        <a:latin typeface="Cambria Math"/>
                      </a:rPr>
                      <m:t> </m:t>
                    </m:r>
                    <m:r>
                      <a:rPr lang="es-ES_tradnl" sz="2000" b="0" i="1" smtClean="0">
                        <a:latin typeface="Cambria Math"/>
                      </a:rPr>
                      <m:t>𝑝</m:t>
                    </m:r>
                    <m:r>
                      <a:rPr lang="es-ES_tradnl" sz="2000" b="0" i="1" smtClean="0">
                        <a:latin typeface="Cambria Math"/>
                      </a:rPr>
                      <m:t> </m:t>
                    </m:r>
                  </m:oMath>
                </a14:m>
                <a:r>
                  <a:rPr lang="en-US" sz="2000" dirty="0"/>
                  <a:t>covariance matrix of </a:t>
                </a:r>
                <a14:m>
                  <m:oMath xmlns:m="http://schemas.openxmlformats.org/officeDocument/2006/math">
                    <m:r>
                      <a:rPr lang="es-ES_tradnl" sz="2000">
                        <a:latin typeface="Cambria Math"/>
                      </a:rPr>
                      <m:t>𝑋</m:t>
                    </m:r>
                    <m:r>
                      <a:rPr lang="es-ES_tradnl" sz="2000">
                        <a:latin typeface="Cambria Math"/>
                      </a:rPr>
                      <m:t>  </m:t>
                    </m:r>
                    <m:r>
                      <m:rPr>
                        <m:nor/>
                      </m:rPr>
                      <a:rPr lang="es-ES_tradnl" sz="2000" i="0"/>
                      <m:t>that is</m:t>
                    </m:r>
                    <m:r>
                      <a:rPr lang="es-ES_tradnl" sz="2000">
                        <a:latin typeface="Cambria Math"/>
                      </a:rPr>
                      <m:t>, </m:t>
                    </m:r>
                    <m:r>
                      <m:rPr>
                        <m:sty m:val="p"/>
                      </m:rPr>
                      <a:rPr lang="el-GR" sz="2000">
                        <a:latin typeface="Cambria Math"/>
                      </a:rPr>
                      <m:t>Σ</m:t>
                    </m:r>
                    <m:r>
                      <a:rPr lang="es-ES_tradnl" sz="2000">
                        <a:latin typeface="Cambria Math"/>
                      </a:rPr>
                      <m:t>=</m:t>
                    </m:r>
                    <m:r>
                      <m:rPr>
                        <m:nor/>
                      </m:rPr>
                      <a:rPr lang="es-ES_tradnl" sz="2000" i="0"/>
                      <m:t>Cov</m:t>
                    </m:r>
                    <m:r>
                      <a:rPr lang="es-ES_tradnl" sz="2000">
                        <a:latin typeface="Cambria Math"/>
                      </a:rPr>
                      <m:t>(</m:t>
                    </m:r>
                    <m:r>
                      <a:rPr lang="es-ES_tradnl" sz="2000">
                        <a:latin typeface="Cambria Math"/>
                      </a:rPr>
                      <m:t>𝑋</m:t>
                    </m:r>
                    <m:r>
                      <a:rPr lang="es-ES_tradnl" sz="2000">
                        <a:latin typeface="Cambria Math"/>
                      </a:rPr>
                      <m:t>)</m:t>
                    </m:r>
                  </m:oMath>
                </a14:m>
                <a:endParaRPr lang="en-US" sz="2000" dirty="0"/>
              </a:p>
            </p:txBody>
          </p:sp>
        </mc:Choice>
        <mc:Fallback xmlns="">
          <p:sp>
            <p:nvSpPr>
              <p:cNvPr id="3" name="2 Rectángulo"/>
              <p:cNvSpPr>
                <a:spLocks noRot="1" noChangeAspect="1" noMove="1" noResize="1" noEditPoints="1" noAdjustHandles="1" noChangeArrowheads="1" noChangeShapeType="1" noTextEdit="1"/>
              </p:cNvSpPr>
              <p:nvPr/>
            </p:nvSpPr>
            <p:spPr>
              <a:xfrm>
                <a:off x="323528" y="2996952"/>
                <a:ext cx="8592737" cy="400110"/>
              </a:xfrm>
              <a:prstGeom prst="rect">
                <a:avLst/>
              </a:prstGeom>
              <a:blipFill rotWithShape="0">
                <a:blip r:embed="rId5"/>
                <a:stretch>
                  <a:fillRect t="-9231" b="-27692"/>
                </a:stretch>
              </a:blipFill>
            </p:spPr>
            <p:txBody>
              <a:bodyPr/>
              <a:lstStyle/>
              <a:p>
                <a:r>
                  <a:rPr lang="en-US">
                    <a:noFill/>
                  </a:rPr>
                  <a:t> </a:t>
                </a:r>
              </a:p>
            </p:txBody>
          </p:sp>
        </mc:Fallback>
      </mc:AlternateContent>
    </p:spTree>
    <p:extLst>
      <p:ext uri="{BB962C8B-B14F-4D97-AF65-F5344CB8AC3E}">
        <p14:creationId xmlns:p14="http://schemas.microsoft.com/office/powerpoint/2010/main" val="27815105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Gráfico, Gráfico de superficie&#10;&#10;Descripción generada automáticamente">
            <a:extLst>
              <a:ext uri="{FF2B5EF4-FFF2-40B4-BE49-F238E27FC236}">
                <a16:creationId xmlns:a16="http://schemas.microsoft.com/office/drawing/2014/main" id="{26BE767B-0948-48D5-9894-F9ABC6BFC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052736"/>
            <a:ext cx="7128792" cy="4880113"/>
          </a:xfrm>
          <a:prstGeom prst="rect">
            <a:avLst/>
          </a:prstGeom>
        </p:spPr>
      </p:pic>
    </p:spTree>
    <p:extLst>
      <p:ext uri="{BB962C8B-B14F-4D97-AF65-F5344CB8AC3E}">
        <p14:creationId xmlns:p14="http://schemas.microsoft.com/office/powerpoint/2010/main" val="11859072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93448" y="963972"/>
            <a:ext cx="8936252" cy="701843"/>
          </a:xfrm>
        </p:spPr>
        <p:txBody>
          <a:bodyPr/>
          <a:lstStyle/>
          <a:p>
            <a:r>
              <a:rPr lang="en-US" dirty="0"/>
              <a:t>Generative vs. Discriminative Models</a:t>
            </a:r>
          </a:p>
        </p:txBody>
      </p:sp>
      <p:sp>
        <p:nvSpPr>
          <p:cNvPr id="4" name="Content Placeholder 3"/>
          <p:cNvSpPr>
            <a:spLocks noGrp="1"/>
          </p:cNvSpPr>
          <p:nvPr>
            <p:ph idx="1"/>
          </p:nvPr>
        </p:nvSpPr>
        <p:spPr>
          <a:xfrm>
            <a:off x="93448" y="2571607"/>
            <a:ext cx="4677932" cy="2702991"/>
          </a:xfrm>
        </p:spPr>
        <p:txBody>
          <a:bodyPr>
            <a:noAutofit/>
          </a:bodyPr>
          <a:lstStyle/>
          <a:p>
            <a:pPr>
              <a:spcBef>
                <a:spcPts val="600"/>
              </a:spcBef>
            </a:pPr>
            <a:r>
              <a:rPr lang="en-US" sz="1600" dirty="0"/>
              <a:t>Learn a model of the joint probability p(X, y)</a:t>
            </a:r>
          </a:p>
          <a:p>
            <a:pPr>
              <a:spcBef>
                <a:spcPts val="600"/>
              </a:spcBef>
            </a:pPr>
            <a:r>
              <a:rPr lang="en-US" sz="1600" dirty="0"/>
              <a:t>Use Bayes’ Rule to calculate p(</a:t>
            </a:r>
            <a:r>
              <a:rPr lang="en-US" sz="1600" dirty="0" err="1"/>
              <a:t>y|X</a:t>
            </a:r>
            <a:r>
              <a:rPr lang="en-US" sz="1600" dirty="0"/>
              <a:t>) </a:t>
            </a:r>
          </a:p>
          <a:p>
            <a:pPr>
              <a:spcBef>
                <a:spcPts val="600"/>
              </a:spcBef>
            </a:pPr>
            <a:r>
              <a:rPr lang="en-US" sz="1600" dirty="0"/>
              <a:t>Build a model of each class; given example, return the model most likely to have generated that example</a:t>
            </a:r>
          </a:p>
          <a:p>
            <a:pPr>
              <a:spcBef>
                <a:spcPts val="600"/>
              </a:spcBef>
            </a:pPr>
            <a:r>
              <a:rPr lang="en-US" sz="1600" dirty="0"/>
              <a:t>Examples: Naïve Bayes, Gaussian Discriminant Analysis, HMM, Probabilistic CFG</a:t>
            </a:r>
          </a:p>
        </p:txBody>
      </p:sp>
      <p:sp>
        <p:nvSpPr>
          <p:cNvPr id="5" name="Text Placeholder 4"/>
          <p:cNvSpPr>
            <a:spLocks noGrp="1"/>
          </p:cNvSpPr>
          <p:nvPr>
            <p:ph type="body" idx="4294967295"/>
          </p:nvPr>
        </p:nvSpPr>
        <p:spPr>
          <a:xfrm>
            <a:off x="254000" y="1933958"/>
            <a:ext cx="4040188" cy="481012"/>
          </a:xfrm>
        </p:spPr>
        <p:txBody>
          <a:bodyPr/>
          <a:lstStyle/>
          <a:p>
            <a:pPr marL="0" indent="0">
              <a:buNone/>
            </a:pPr>
            <a:r>
              <a:rPr lang="en-US" dirty="0"/>
              <a:t>Generative</a:t>
            </a:r>
          </a:p>
        </p:txBody>
      </p:sp>
      <p:sp>
        <p:nvSpPr>
          <p:cNvPr id="6" name="Text Placeholder 5"/>
          <p:cNvSpPr>
            <a:spLocks noGrp="1"/>
          </p:cNvSpPr>
          <p:nvPr>
            <p:ph type="body" sz="quarter" idx="4294967295"/>
          </p:nvPr>
        </p:nvSpPr>
        <p:spPr>
          <a:xfrm>
            <a:off x="4853510" y="1914424"/>
            <a:ext cx="4041775" cy="481012"/>
          </a:xfrm>
        </p:spPr>
        <p:txBody>
          <a:bodyPr/>
          <a:lstStyle/>
          <a:p>
            <a:pPr marL="0" indent="0">
              <a:buNone/>
            </a:pPr>
            <a:r>
              <a:rPr lang="en-US" dirty="0"/>
              <a:t>Discriminative</a:t>
            </a:r>
          </a:p>
        </p:txBody>
      </p:sp>
      <p:sp>
        <p:nvSpPr>
          <p:cNvPr id="7" name="Content Placeholder 6"/>
          <p:cNvSpPr>
            <a:spLocks noGrp="1"/>
          </p:cNvSpPr>
          <p:nvPr>
            <p:ph sz="quarter" idx="4294967295"/>
          </p:nvPr>
        </p:nvSpPr>
        <p:spPr>
          <a:xfrm>
            <a:off x="4853172" y="2595347"/>
            <a:ext cx="4290829" cy="2963862"/>
          </a:xfrm>
        </p:spPr>
        <p:txBody>
          <a:bodyPr>
            <a:noAutofit/>
          </a:bodyPr>
          <a:lstStyle/>
          <a:p>
            <a:pPr>
              <a:spcBef>
                <a:spcPts val="600"/>
              </a:spcBef>
            </a:pPr>
            <a:r>
              <a:rPr lang="en-US" sz="1600" dirty="0"/>
              <a:t>Model posterior probability p(</a:t>
            </a:r>
            <a:r>
              <a:rPr lang="en-US" sz="1600" dirty="0" err="1"/>
              <a:t>y|X</a:t>
            </a:r>
            <a:r>
              <a:rPr lang="en-US" sz="1600" dirty="0"/>
              <a:t>) directly</a:t>
            </a:r>
          </a:p>
          <a:p>
            <a:pPr>
              <a:spcBef>
                <a:spcPts val="600"/>
              </a:spcBef>
            </a:pPr>
            <a:r>
              <a:rPr lang="en-US" sz="1600" dirty="0"/>
              <a:t>Class is a function of document vector</a:t>
            </a:r>
          </a:p>
          <a:p>
            <a:pPr>
              <a:spcBef>
                <a:spcPts val="600"/>
              </a:spcBef>
            </a:pPr>
            <a:r>
              <a:rPr lang="en-US" sz="1600" dirty="0"/>
              <a:t>Find the exact function that minimizes classification errors on the training data </a:t>
            </a:r>
          </a:p>
          <a:p>
            <a:pPr>
              <a:spcBef>
                <a:spcPts val="600"/>
              </a:spcBef>
            </a:pPr>
            <a:r>
              <a:rPr lang="en-US" sz="1600" dirty="0"/>
              <a:t>Examples: Logistic regression, Neural Networks (NNs), Support Vector Machines (SVMs), Decision Trees</a:t>
            </a:r>
          </a:p>
        </p:txBody>
      </p:sp>
    </p:spTree>
    <p:extLst>
      <p:ext uri="{BB962C8B-B14F-4D97-AF65-F5344CB8AC3E}">
        <p14:creationId xmlns:p14="http://schemas.microsoft.com/office/powerpoint/2010/main" val="480457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528264" y="256249"/>
            <a:ext cx="4455216" cy="707886"/>
          </a:xfrm>
          <a:prstGeom prst="rect">
            <a:avLst/>
          </a:prstGeom>
          <a:noFill/>
        </p:spPr>
        <p:txBody>
          <a:bodyPr wrap="square" rtlCol="0">
            <a:spAutoFit/>
          </a:bodyPr>
          <a:lstStyle/>
          <a:p>
            <a:r>
              <a:rPr lang="en-US" sz="4000" b="1" noProof="0" dirty="0"/>
              <a:t>Textbook for ML part</a:t>
            </a:r>
            <a:endParaRPr lang="en-US" sz="4000" b="1" noProof="0" dirty="0">
              <a:solidFill>
                <a:schemeClr val="tx1"/>
              </a:solidFill>
            </a:endParaRPr>
          </a:p>
        </p:txBody>
      </p:sp>
      <p:sp>
        <p:nvSpPr>
          <p:cNvPr id="4" name="3 Rectángulo"/>
          <p:cNvSpPr/>
          <p:nvPr/>
        </p:nvSpPr>
        <p:spPr>
          <a:xfrm>
            <a:off x="1314293" y="6356404"/>
            <a:ext cx="6318448" cy="369332"/>
          </a:xfrm>
          <a:prstGeom prst="rect">
            <a:avLst/>
          </a:prstGeom>
          <a:ln>
            <a:solidFill>
              <a:schemeClr val="accent1"/>
            </a:solidFill>
            <a:prstDash val="sysDash"/>
          </a:ln>
        </p:spPr>
        <p:txBody>
          <a:bodyPr wrap="square">
            <a:spAutoFit/>
          </a:bodyPr>
          <a:lstStyle/>
          <a:p>
            <a:r>
              <a:rPr lang="en-US" sz="1800" noProof="0" dirty="0"/>
              <a:t>Can be downloaded from:  </a:t>
            </a:r>
            <a:r>
              <a:rPr lang="en-US" sz="1800" noProof="0" dirty="0">
                <a:hlinkClick r:id="rId2"/>
              </a:rPr>
              <a:t>https://www.statlearning.com/</a:t>
            </a:r>
            <a:r>
              <a:rPr lang="en-US" sz="1800" noProof="0" dirty="0"/>
              <a:t>  </a:t>
            </a:r>
          </a:p>
        </p:txBody>
      </p:sp>
      <p:pic>
        <p:nvPicPr>
          <p:cNvPr id="2" name="Imagen 1"/>
          <p:cNvPicPr>
            <a:picLocks noChangeAspect="1"/>
          </p:cNvPicPr>
          <p:nvPr/>
        </p:nvPicPr>
        <p:blipFill>
          <a:blip r:embed="rId3"/>
          <a:stretch>
            <a:fillRect/>
          </a:stretch>
        </p:blipFill>
        <p:spPr>
          <a:xfrm>
            <a:off x="5500454" y="0"/>
            <a:ext cx="2408399" cy="3962019"/>
          </a:xfrm>
          <a:prstGeom prst="rect">
            <a:avLst/>
          </a:prstGeom>
        </p:spPr>
      </p:pic>
      <p:pic>
        <p:nvPicPr>
          <p:cNvPr id="6" name="Imagen 5"/>
          <p:cNvPicPr>
            <a:picLocks noChangeAspect="1"/>
          </p:cNvPicPr>
          <p:nvPr/>
        </p:nvPicPr>
        <p:blipFill>
          <a:blip r:embed="rId4"/>
          <a:stretch>
            <a:fillRect/>
          </a:stretch>
        </p:blipFill>
        <p:spPr>
          <a:xfrm>
            <a:off x="747720" y="1332679"/>
            <a:ext cx="3586536" cy="2169633"/>
          </a:xfrm>
          <a:prstGeom prst="rect">
            <a:avLst/>
          </a:prstGeom>
          <a:ln>
            <a:noFill/>
          </a:ln>
          <a:effectLst>
            <a:outerShdw blurRad="292100" dist="139700" dir="2700000" algn="tl" rotWithShape="0">
              <a:srgbClr val="333333">
                <a:alpha val="65000"/>
              </a:srgbClr>
            </a:outerShdw>
          </a:effectLst>
        </p:spPr>
      </p:pic>
      <p:pic>
        <p:nvPicPr>
          <p:cNvPr id="8" name="Imagen 7"/>
          <p:cNvPicPr>
            <a:picLocks noChangeAspect="1"/>
          </p:cNvPicPr>
          <p:nvPr/>
        </p:nvPicPr>
        <p:blipFill>
          <a:blip r:embed="rId5"/>
          <a:stretch>
            <a:fillRect/>
          </a:stretch>
        </p:blipFill>
        <p:spPr>
          <a:xfrm>
            <a:off x="1821370" y="3680338"/>
            <a:ext cx="3679083" cy="248659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827263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50CACB4-63BC-DFE2-C036-79E21738DD97}"/>
              </a:ext>
            </a:extLst>
          </p:cNvPr>
          <p:cNvSpPr>
            <a:spLocks noGrp="1" noChangeArrowheads="1"/>
          </p:cNvSpPr>
          <p:nvPr>
            <p:ph type="title"/>
          </p:nvPr>
        </p:nvSpPr>
        <p:spPr>
          <a:xfrm>
            <a:off x="609600" y="228600"/>
            <a:ext cx="7772400" cy="762000"/>
          </a:xfrm>
        </p:spPr>
        <p:txBody>
          <a:bodyPr>
            <a:noAutofit/>
          </a:bodyPr>
          <a:lstStyle/>
          <a:p>
            <a:r>
              <a:rPr lang="en-US" sz="2400" noProof="0" dirty="0"/>
              <a:t>We don’t have time for everything, we will not study some interesting areas such as Survival Analysis</a:t>
            </a:r>
          </a:p>
        </p:txBody>
      </p:sp>
      <p:sp>
        <p:nvSpPr>
          <p:cNvPr id="2051" name="Rectangle 3">
            <a:extLst>
              <a:ext uri="{FF2B5EF4-FFF2-40B4-BE49-F238E27FC236}">
                <a16:creationId xmlns:a16="http://schemas.microsoft.com/office/drawing/2014/main" id="{4856E76A-9BAF-6A92-7965-B85E3E3B876B}"/>
              </a:ext>
            </a:extLst>
          </p:cNvPr>
          <p:cNvSpPr>
            <a:spLocks noGrp="1" noChangeArrowheads="1"/>
          </p:cNvSpPr>
          <p:nvPr>
            <p:ph type="body" idx="1"/>
          </p:nvPr>
        </p:nvSpPr>
        <p:spPr>
          <a:xfrm>
            <a:off x="685800" y="1143000"/>
            <a:ext cx="7772400" cy="5486400"/>
          </a:xfrm>
        </p:spPr>
        <p:txBody>
          <a:bodyPr/>
          <a:lstStyle/>
          <a:p>
            <a:r>
              <a:rPr lang="en-US" sz="2800" noProof="0" dirty="0"/>
              <a:t>In many medical studies, the primary endpoint is </a:t>
            </a:r>
            <a:r>
              <a:rPr lang="en-US" sz="2800" b="1" noProof="0" dirty="0">
                <a:solidFill>
                  <a:srgbClr val="D02EAD"/>
                </a:solidFill>
              </a:rPr>
              <a:t>time until an event occurs </a:t>
            </a:r>
            <a:r>
              <a:rPr lang="en-US" sz="2800" noProof="0" dirty="0"/>
              <a:t>(e.g. death, remission)</a:t>
            </a:r>
          </a:p>
          <a:p>
            <a:r>
              <a:rPr lang="en-US" sz="2800" noProof="0" dirty="0"/>
              <a:t>Data are typically subject to </a:t>
            </a:r>
            <a:r>
              <a:rPr lang="en-US" sz="2800" b="1" noProof="0" dirty="0">
                <a:solidFill>
                  <a:srgbClr val="00B0F0"/>
                </a:solidFill>
              </a:rPr>
              <a:t>censoring</a:t>
            </a:r>
            <a:r>
              <a:rPr lang="en-US" sz="2800" noProof="0" dirty="0"/>
              <a:t> when a study ends before the event occurs</a:t>
            </a:r>
          </a:p>
          <a:p>
            <a:r>
              <a:rPr lang="en-US" sz="2800" b="1" noProof="0" dirty="0">
                <a:solidFill>
                  <a:schemeClr val="accent6">
                    <a:lumMod val="75000"/>
                  </a:schemeClr>
                </a:solidFill>
              </a:rPr>
              <a:t>Survival Function </a:t>
            </a:r>
            <a:r>
              <a:rPr lang="en-US" sz="2800" noProof="0" dirty="0"/>
              <a:t>- A function describing the proportion of individuals surviving to or beyond a given time. Notation:</a:t>
            </a:r>
          </a:p>
          <a:p>
            <a:pPr lvl="1"/>
            <a:r>
              <a:rPr lang="en-US" sz="2400" i="1" noProof="0" dirty="0"/>
              <a:t>T</a:t>
            </a:r>
            <a:r>
              <a:rPr lang="en-US" sz="2400" noProof="0" dirty="0"/>
              <a:t> </a:t>
            </a:r>
            <a:r>
              <a:rPr lang="en-US" sz="2400" noProof="0" dirty="0">
                <a:sym typeface="Symbol" panose="05050102010706020507" pitchFamily="18" charset="2"/>
              </a:rPr>
              <a:t> </a:t>
            </a:r>
            <a:r>
              <a:rPr lang="en-US" sz="2400" noProof="0" dirty="0"/>
              <a:t>survival time of a randomly selected individual </a:t>
            </a:r>
          </a:p>
          <a:p>
            <a:pPr lvl="1"/>
            <a:r>
              <a:rPr lang="en-US" sz="2400" noProof="0" dirty="0"/>
              <a:t> </a:t>
            </a:r>
            <a:r>
              <a:rPr lang="en-US" sz="2400" i="1" noProof="0" dirty="0"/>
              <a:t>t</a:t>
            </a:r>
            <a:r>
              <a:rPr lang="en-US" sz="2400" noProof="0" dirty="0"/>
              <a:t> </a:t>
            </a:r>
            <a:r>
              <a:rPr lang="en-US" sz="2400" noProof="0" dirty="0">
                <a:sym typeface="Symbol" panose="05050102010706020507" pitchFamily="18" charset="2"/>
              </a:rPr>
              <a:t></a:t>
            </a:r>
            <a:r>
              <a:rPr lang="en-US" sz="2400" noProof="0" dirty="0"/>
              <a:t> a specific point in time.</a:t>
            </a:r>
          </a:p>
          <a:p>
            <a:pPr lvl="1"/>
            <a:r>
              <a:rPr lang="en-US" sz="2400" i="1" noProof="0" dirty="0"/>
              <a:t>S</a:t>
            </a:r>
            <a:r>
              <a:rPr lang="en-US" sz="2400" noProof="0" dirty="0"/>
              <a:t>(</a:t>
            </a:r>
            <a:r>
              <a:rPr lang="en-US" sz="2400" i="1" noProof="0" dirty="0"/>
              <a:t>t</a:t>
            </a:r>
            <a:r>
              <a:rPr lang="en-US" sz="2400" noProof="0" dirty="0"/>
              <a:t>) = P(</a:t>
            </a:r>
            <a:r>
              <a:rPr lang="en-US" sz="2400" i="1" noProof="0" dirty="0"/>
              <a:t>T</a:t>
            </a:r>
            <a:r>
              <a:rPr lang="en-US" sz="2400" noProof="0" dirty="0"/>
              <a:t> &gt; </a:t>
            </a:r>
            <a:r>
              <a:rPr lang="en-US" sz="2400" i="1" noProof="0" dirty="0"/>
              <a:t>t</a:t>
            </a:r>
            <a:r>
              <a:rPr lang="en-US" sz="2400" noProof="0" dirty="0"/>
              <a:t>) </a:t>
            </a:r>
            <a:r>
              <a:rPr lang="en-US" sz="2400" noProof="0" dirty="0">
                <a:sym typeface="Symbol" panose="05050102010706020507" pitchFamily="18" charset="2"/>
              </a:rPr>
              <a:t> Survival Function</a:t>
            </a:r>
          </a:p>
          <a:p>
            <a:pPr lvl="1">
              <a:buFontTx/>
              <a:buChar char="-"/>
            </a:pPr>
            <a:r>
              <a:rPr lang="en-US" sz="2400" i="1" noProof="0" dirty="0">
                <a:latin typeface="Symbol" panose="05050102010706020507" pitchFamily="18" charset="2"/>
                <a:sym typeface="Symbol" panose="05050102010706020507" pitchFamily="18" charset="2"/>
              </a:rPr>
              <a:t>l</a:t>
            </a:r>
            <a:r>
              <a:rPr lang="en-US" sz="2400" noProof="0" dirty="0">
                <a:sym typeface="Symbol" panose="05050102010706020507" pitchFamily="18" charset="2"/>
              </a:rPr>
              <a:t>(</a:t>
            </a:r>
            <a:r>
              <a:rPr lang="en-US" sz="2400" i="1" noProof="0" dirty="0">
                <a:sym typeface="Symbol" panose="05050102010706020507" pitchFamily="18" charset="2"/>
              </a:rPr>
              <a:t>t</a:t>
            </a:r>
            <a:r>
              <a:rPr lang="en-US" sz="2400" noProof="0" dirty="0">
                <a:sym typeface="Symbol" panose="05050102010706020507" pitchFamily="18" charset="2"/>
              </a:rPr>
              <a:t>)  instantaneous failure rate at time </a:t>
            </a:r>
            <a:r>
              <a:rPr lang="en-US" sz="2400" i="1" noProof="0" dirty="0">
                <a:sym typeface="Symbol" panose="05050102010706020507" pitchFamily="18" charset="2"/>
              </a:rPr>
              <a:t>t</a:t>
            </a:r>
            <a:r>
              <a:rPr lang="en-US" sz="2400" noProof="0" dirty="0">
                <a:sym typeface="Symbol" panose="05050102010706020507" pitchFamily="18" charset="2"/>
              </a:rPr>
              <a:t> aka hazard function</a:t>
            </a:r>
            <a:endParaRPr lang="en-US" sz="2400"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D25F44D-D233-041F-7ADE-DE9D05E456F3}"/>
              </a:ext>
            </a:extLst>
          </p:cNvPr>
          <p:cNvPicPr>
            <a:picLocks noChangeAspect="1"/>
          </p:cNvPicPr>
          <p:nvPr/>
        </p:nvPicPr>
        <p:blipFill>
          <a:blip r:embed="rId2"/>
          <a:stretch>
            <a:fillRect/>
          </a:stretch>
        </p:blipFill>
        <p:spPr>
          <a:xfrm>
            <a:off x="1069167" y="0"/>
            <a:ext cx="7632848" cy="5873775"/>
          </a:xfrm>
          <a:prstGeom prst="rect">
            <a:avLst/>
          </a:prstGeom>
        </p:spPr>
      </p:pic>
      <p:sp>
        <p:nvSpPr>
          <p:cNvPr id="6" name="CuadroTexto 5">
            <a:extLst>
              <a:ext uri="{FF2B5EF4-FFF2-40B4-BE49-F238E27FC236}">
                <a16:creationId xmlns:a16="http://schemas.microsoft.com/office/drawing/2014/main" id="{D124B95B-85AC-3CC2-4374-90A9CEB19951}"/>
              </a:ext>
            </a:extLst>
          </p:cNvPr>
          <p:cNvSpPr txBox="1"/>
          <p:nvPr/>
        </p:nvSpPr>
        <p:spPr>
          <a:xfrm>
            <a:off x="683568" y="5990407"/>
            <a:ext cx="7992888" cy="646331"/>
          </a:xfrm>
          <a:prstGeom prst="rect">
            <a:avLst/>
          </a:prstGeom>
          <a:noFill/>
        </p:spPr>
        <p:txBody>
          <a:bodyPr wrap="square">
            <a:spAutoFit/>
          </a:bodyPr>
          <a:lstStyle/>
          <a:p>
            <a:r>
              <a:rPr lang="en-US" noProof="0" dirty="0">
                <a:hlinkClick r:id="rId3"/>
              </a:rPr>
              <a:t>https://infocenter.informationbuilders.com/wf80/index.jsp?topic=%2Fpubdocs%2FRStat16%2Fsource%2Ftopic45.htm</a:t>
            </a:r>
            <a:r>
              <a:rPr lang="en-US" noProof="0" dirty="0"/>
              <a:t> </a:t>
            </a:r>
          </a:p>
        </p:txBody>
      </p:sp>
      <p:sp>
        <p:nvSpPr>
          <p:cNvPr id="8" name="CuadroTexto 7">
            <a:extLst>
              <a:ext uri="{FF2B5EF4-FFF2-40B4-BE49-F238E27FC236}">
                <a16:creationId xmlns:a16="http://schemas.microsoft.com/office/drawing/2014/main" id="{673FEB25-91FB-2F3D-F2EA-64E523FACA29}"/>
              </a:ext>
            </a:extLst>
          </p:cNvPr>
          <p:cNvSpPr txBox="1"/>
          <p:nvPr/>
        </p:nvSpPr>
        <p:spPr>
          <a:xfrm>
            <a:off x="6012160" y="3645024"/>
            <a:ext cx="2322512" cy="646331"/>
          </a:xfrm>
          <a:prstGeom prst="rect">
            <a:avLst/>
          </a:prstGeom>
          <a:noFill/>
        </p:spPr>
        <p:txBody>
          <a:bodyPr wrap="square">
            <a:spAutoFit/>
          </a:bodyPr>
          <a:lstStyle/>
          <a:p>
            <a:r>
              <a:rPr lang="en-US" noProof="0" dirty="0"/>
              <a:t>Patient alive at the end of a clinical trial</a:t>
            </a:r>
          </a:p>
        </p:txBody>
      </p:sp>
      <p:sp>
        <p:nvSpPr>
          <p:cNvPr id="10" name="CuadroTexto 9">
            <a:extLst>
              <a:ext uri="{FF2B5EF4-FFF2-40B4-BE49-F238E27FC236}">
                <a16:creationId xmlns:a16="http://schemas.microsoft.com/office/drawing/2014/main" id="{177D1497-AED1-ECFE-1B2A-F0766E3324CE}"/>
              </a:ext>
            </a:extLst>
          </p:cNvPr>
          <p:cNvSpPr txBox="1"/>
          <p:nvPr/>
        </p:nvSpPr>
        <p:spPr>
          <a:xfrm>
            <a:off x="4283968" y="2494637"/>
            <a:ext cx="2430016" cy="646331"/>
          </a:xfrm>
          <a:prstGeom prst="rect">
            <a:avLst/>
          </a:prstGeom>
          <a:noFill/>
        </p:spPr>
        <p:txBody>
          <a:bodyPr wrap="square">
            <a:spAutoFit/>
          </a:bodyPr>
          <a:lstStyle/>
          <a:p>
            <a:r>
              <a:rPr lang="en-US" noProof="0" dirty="0"/>
              <a:t>Patient drop out of the study</a:t>
            </a:r>
          </a:p>
        </p:txBody>
      </p:sp>
      <p:sp>
        <p:nvSpPr>
          <p:cNvPr id="11" name="Rectangle 2">
            <a:extLst>
              <a:ext uri="{FF2B5EF4-FFF2-40B4-BE49-F238E27FC236}">
                <a16:creationId xmlns:a16="http://schemas.microsoft.com/office/drawing/2014/main" id="{1FCDBD27-D537-06C4-50D8-384F0440A67B}"/>
              </a:ext>
            </a:extLst>
          </p:cNvPr>
          <p:cNvSpPr txBox="1">
            <a:spLocks noChangeArrowheads="1"/>
          </p:cNvSpPr>
          <p:nvPr/>
        </p:nvSpPr>
        <p:spPr>
          <a:xfrm>
            <a:off x="397768" y="6658"/>
            <a:ext cx="7772400" cy="762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noProof="0" dirty="0"/>
              <a:t>Survival Analysis</a:t>
            </a:r>
          </a:p>
        </p:txBody>
      </p:sp>
    </p:spTree>
    <p:extLst>
      <p:ext uri="{BB962C8B-B14F-4D97-AF65-F5344CB8AC3E}">
        <p14:creationId xmlns:p14="http://schemas.microsoft.com/office/powerpoint/2010/main" val="4004409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BE1FD4EA-DE93-4450-F846-5E9883E95EDE}"/>
              </a:ext>
            </a:extLst>
          </p:cNvPr>
          <p:cNvSpPr>
            <a:spLocks noGrp="1"/>
          </p:cNvSpPr>
          <p:nvPr>
            <p:ph type="sldNum" sz="quarter" idx="12"/>
          </p:nvPr>
        </p:nvSpPr>
        <p:spPr/>
        <p:txBody>
          <a:bodyPr/>
          <a:lstStyle/>
          <a:p>
            <a:fld id="{132FADFE-3B8F-471C-ABF0-DBC7717ECBBC}" type="slidenum">
              <a:rPr lang="en-US" noProof="0" smtClean="0"/>
              <a:t>47</a:t>
            </a:fld>
            <a:endParaRPr lang="en-US" noProof="0" dirty="0"/>
          </a:p>
        </p:txBody>
      </p:sp>
      <p:sp>
        <p:nvSpPr>
          <p:cNvPr id="3" name="Rectangle 2">
            <a:extLst>
              <a:ext uri="{FF2B5EF4-FFF2-40B4-BE49-F238E27FC236}">
                <a16:creationId xmlns:a16="http://schemas.microsoft.com/office/drawing/2014/main" id="{637C0E03-04D9-D162-1660-370A0F3100F0}"/>
              </a:ext>
            </a:extLst>
          </p:cNvPr>
          <p:cNvSpPr txBox="1">
            <a:spLocks noChangeArrowheads="1"/>
          </p:cNvSpPr>
          <p:nvPr/>
        </p:nvSpPr>
        <p:spPr>
          <a:xfrm>
            <a:off x="755576" y="1628800"/>
            <a:ext cx="7772400" cy="762000"/>
          </a:xfrm>
          <a:prstGeom prst="rect">
            <a:avLst/>
          </a:prstGeom>
          <a:solidFill>
            <a:srgbClr val="3630B2"/>
          </a:solidFill>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noProof="0" dirty="0">
                <a:solidFill>
                  <a:schemeClr val="bg1"/>
                </a:solidFill>
              </a:rPr>
              <a:t>We don’t have time for everything, we will not study some interesting areas such as Survival Analysis</a:t>
            </a:r>
          </a:p>
          <a:p>
            <a:endParaRPr lang="en-US" sz="2400" noProof="0" dirty="0"/>
          </a:p>
          <a:p>
            <a:endParaRPr lang="en-US" sz="2400" noProof="0" dirty="0"/>
          </a:p>
          <a:p>
            <a:r>
              <a:rPr lang="en-US" sz="2400" noProof="0" dirty="0"/>
              <a:t>… but if you have previous ML skills + time + interest… </a:t>
            </a:r>
          </a:p>
          <a:p>
            <a:endParaRPr lang="en-US" sz="2400" noProof="0" dirty="0"/>
          </a:p>
          <a:p>
            <a:r>
              <a:rPr lang="en-US" sz="2800" noProof="0" dirty="0"/>
              <a:t>go for it!</a:t>
            </a:r>
          </a:p>
        </p:txBody>
      </p:sp>
    </p:spTree>
    <p:extLst>
      <p:ext uri="{BB962C8B-B14F-4D97-AF65-F5344CB8AC3E}">
        <p14:creationId xmlns:p14="http://schemas.microsoft.com/office/powerpoint/2010/main" val="21570365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idx="4294967295"/>
          </p:nvPr>
        </p:nvSpPr>
        <p:spPr>
          <a:xfrm>
            <a:off x="0" y="0"/>
            <a:ext cx="9144000" cy="908050"/>
          </a:xfrm>
        </p:spPr>
        <p:txBody>
          <a:bodyPr>
            <a:normAutofit fontScale="90000"/>
          </a:bodyPr>
          <a:lstStyle/>
          <a:p>
            <a:r>
              <a:rPr lang="en-US" sz="3100" b="1" noProof="0" dirty="0"/>
              <a:t>Predictive and Descriptive Learning</a:t>
            </a:r>
            <a:br>
              <a:rPr lang="en-US" sz="2700" noProof="0" dirty="0"/>
            </a:br>
            <a:r>
              <a:rPr lang="en-US" sz="2700" noProof="0" dirty="0">
                <a:solidFill>
                  <a:srgbClr val="C4228A"/>
                </a:solidFill>
              </a:rPr>
              <a:t>Main ML models you should learn </a:t>
            </a:r>
          </a:p>
        </p:txBody>
      </p:sp>
      <p:sp>
        <p:nvSpPr>
          <p:cNvPr id="4" name="3 Rectángulo"/>
          <p:cNvSpPr/>
          <p:nvPr/>
        </p:nvSpPr>
        <p:spPr>
          <a:xfrm>
            <a:off x="683568" y="1124744"/>
            <a:ext cx="7920880" cy="4985980"/>
          </a:xfrm>
          <a:prstGeom prst="rect">
            <a:avLst/>
          </a:prstGeom>
          <a:ln w="19050">
            <a:solidFill>
              <a:schemeClr val="accent1"/>
            </a:solidFill>
            <a:prstDash val="sysDash"/>
          </a:ln>
        </p:spPr>
        <p:txBody>
          <a:bodyPr wrap="square">
            <a:spAutoFit/>
          </a:bodyPr>
          <a:lstStyle/>
          <a:p>
            <a:pPr lvl="1"/>
            <a:r>
              <a:rPr lang="en-US" sz="2400" noProof="0" dirty="0"/>
              <a:t>The </a:t>
            </a:r>
            <a:r>
              <a:rPr lang="en-US" sz="2400" b="1" noProof="0" dirty="0">
                <a:solidFill>
                  <a:srgbClr val="0070C0"/>
                </a:solidFill>
              </a:rPr>
              <a:t>predictive or supervised techniques </a:t>
            </a:r>
            <a:r>
              <a:rPr lang="en-US" sz="2400" noProof="0" dirty="0"/>
              <a:t>include:</a:t>
            </a:r>
          </a:p>
          <a:p>
            <a:pPr marL="1200150" lvl="2" indent="-285750">
              <a:buFont typeface="Courier New" panose="02070309020205020404" pitchFamily="49" charset="0"/>
              <a:buChar char="o"/>
            </a:pPr>
            <a:r>
              <a:rPr lang="en-US" sz="2400" noProof="0" dirty="0"/>
              <a:t>Linear regression, logistic regression,  generalized linear models,…</a:t>
            </a:r>
          </a:p>
          <a:p>
            <a:pPr marL="1200150" lvl="2" indent="-285750">
              <a:buFont typeface="Courier New" panose="02070309020205020404" pitchFamily="49" charset="0"/>
              <a:buChar char="o"/>
            </a:pPr>
            <a:r>
              <a:rPr lang="en-US" sz="2400" noProof="0" dirty="0"/>
              <a:t>K-nearest neighbor classifier,</a:t>
            </a:r>
          </a:p>
          <a:p>
            <a:pPr marL="1200150" lvl="2" indent="-285750">
              <a:buFont typeface="Courier New" panose="02070309020205020404" pitchFamily="49" charset="0"/>
              <a:buChar char="o"/>
            </a:pPr>
            <a:r>
              <a:rPr lang="en-US" sz="2400" noProof="0" dirty="0"/>
              <a:t>classification and regression trees,</a:t>
            </a:r>
          </a:p>
          <a:p>
            <a:pPr marL="1200150" lvl="2" indent="-285750">
              <a:buFont typeface="Courier New" panose="02070309020205020404" pitchFamily="49" charset="0"/>
              <a:buChar char="o"/>
            </a:pPr>
            <a:r>
              <a:rPr lang="en-US" sz="2400" noProof="0" dirty="0"/>
              <a:t>ensemble methods (Bagging, Random Forests and Boosting),</a:t>
            </a:r>
          </a:p>
          <a:p>
            <a:pPr marL="1200150" lvl="2" indent="-285750">
              <a:spcAft>
                <a:spcPts val="1200"/>
              </a:spcAft>
              <a:buFont typeface="Courier New" panose="02070309020205020404" pitchFamily="49" charset="0"/>
              <a:buChar char="o"/>
            </a:pPr>
            <a:r>
              <a:rPr lang="en-US" sz="2400" noProof="0" dirty="0"/>
              <a:t>and kernel methods and Support Vector Machines. </a:t>
            </a:r>
          </a:p>
          <a:p>
            <a:pPr lvl="1">
              <a:spcAft>
                <a:spcPts val="1200"/>
              </a:spcAft>
            </a:pPr>
            <a:r>
              <a:rPr lang="en-US" sz="2400" noProof="0" dirty="0"/>
              <a:t>The </a:t>
            </a:r>
            <a:r>
              <a:rPr lang="en-US" sz="2400" b="1" noProof="0" dirty="0">
                <a:solidFill>
                  <a:srgbClr val="0070C0"/>
                </a:solidFill>
              </a:rPr>
              <a:t>descriptive or unsupervised techniques </a:t>
            </a:r>
            <a:r>
              <a:rPr lang="en-US" sz="2400" noProof="0" dirty="0"/>
              <a:t>include: </a:t>
            </a:r>
          </a:p>
          <a:p>
            <a:pPr marL="800100" lvl="1" indent="-342900">
              <a:spcAft>
                <a:spcPts val="1200"/>
              </a:spcAft>
              <a:buFont typeface="Arial" panose="020B0604020202020204" pitchFamily="34" charset="0"/>
              <a:buChar char="•"/>
            </a:pPr>
            <a:r>
              <a:rPr lang="en-US" sz="2400" noProof="0" dirty="0"/>
              <a:t>Principal components analysis (PCA) </a:t>
            </a:r>
          </a:p>
          <a:p>
            <a:pPr marL="800100" lvl="1" indent="-342900">
              <a:spcAft>
                <a:spcPts val="1200"/>
              </a:spcAft>
              <a:buFont typeface="Arial" panose="020B0604020202020204" pitchFamily="34" charset="0"/>
              <a:buChar char="•"/>
            </a:pPr>
            <a:r>
              <a:rPr lang="en-US" sz="2400" noProof="0" dirty="0"/>
              <a:t>and Clustering methods (k-means and hierarchical clustering)</a:t>
            </a:r>
          </a:p>
        </p:txBody>
      </p:sp>
    </p:spTree>
    <p:extLst>
      <p:ext uri="{BB962C8B-B14F-4D97-AF65-F5344CB8AC3E}">
        <p14:creationId xmlns:p14="http://schemas.microsoft.com/office/powerpoint/2010/main" val="20431484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noProof="0" dirty="0"/>
              <a:t>On-line course</a:t>
            </a:r>
          </a:p>
        </p:txBody>
      </p:sp>
      <p:sp>
        <p:nvSpPr>
          <p:cNvPr id="6" name="5 Rectángulo"/>
          <p:cNvSpPr/>
          <p:nvPr/>
        </p:nvSpPr>
        <p:spPr>
          <a:xfrm>
            <a:off x="381176" y="2348880"/>
            <a:ext cx="7200800" cy="1600438"/>
          </a:xfrm>
          <a:prstGeom prst="rect">
            <a:avLst/>
          </a:prstGeom>
        </p:spPr>
        <p:txBody>
          <a:bodyPr wrap="square">
            <a:spAutoFit/>
          </a:bodyPr>
          <a:lstStyle/>
          <a:p>
            <a:r>
              <a:rPr lang="en-US" noProof="0" dirty="0">
                <a:hlinkClick r:id="rId2"/>
              </a:rPr>
              <a:t>https://www.statlearning.com/online-course </a:t>
            </a:r>
          </a:p>
          <a:p>
            <a:endParaRPr lang="en-US" noProof="0" dirty="0">
              <a:hlinkClick r:id="rId2"/>
            </a:endParaRPr>
          </a:p>
          <a:p>
            <a:r>
              <a:rPr lang="en-US" noProof="0" dirty="0">
                <a:hlinkClick r:id="rId2"/>
              </a:rPr>
              <a:t>http://www.r-bloggers.com/in-depth-introduction-to-machine-learning-in-15-hours-of-expert-videos/</a:t>
            </a:r>
            <a:endParaRPr lang="en-US" noProof="0" dirty="0"/>
          </a:p>
          <a:p>
            <a:endParaRPr lang="en-US" noProof="0" dirty="0"/>
          </a:p>
          <a:p>
            <a:r>
              <a:rPr lang="en-US" noProof="0" dirty="0">
                <a:hlinkClick r:id="rId3"/>
              </a:rPr>
              <a:t>http://www.dataschool.io/15-hours-of-expert-machine-learning-videos/</a:t>
            </a:r>
            <a:endParaRPr lang="en-US" noProof="0" dirty="0"/>
          </a:p>
          <a:p>
            <a:endParaRPr lang="en-US" noProof="0" dirty="0"/>
          </a:p>
        </p:txBody>
      </p:sp>
      <p:sp>
        <p:nvSpPr>
          <p:cNvPr id="7" name="6 Rectángulo"/>
          <p:cNvSpPr/>
          <p:nvPr/>
        </p:nvSpPr>
        <p:spPr>
          <a:xfrm>
            <a:off x="359532" y="1124839"/>
            <a:ext cx="7416824" cy="523220"/>
          </a:xfrm>
          <a:prstGeom prst="rect">
            <a:avLst/>
          </a:prstGeom>
        </p:spPr>
        <p:txBody>
          <a:bodyPr wrap="square">
            <a:spAutoFit/>
          </a:bodyPr>
          <a:lstStyle/>
          <a:p>
            <a:pPr marL="285750" indent="-285750">
              <a:buFont typeface="Arial" panose="020B0604020202020204" pitchFamily="34" charset="0"/>
              <a:buChar char="•"/>
            </a:pPr>
            <a:r>
              <a:rPr lang="en-US" noProof="0" dirty="0"/>
              <a:t>Some slides and figures in our Moodle material are from the on-line course:</a:t>
            </a:r>
          </a:p>
          <a:p>
            <a:r>
              <a:rPr lang="en-US" b="1" noProof="0" dirty="0"/>
              <a:t>In-depth introduction to machine learning in 15 hours of expert videos</a:t>
            </a:r>
          </a:p>
        </p:txBody>
      </p:sp>
      <p:sp>
        <p:nvSpPr>
          <p:cNvPr id="5" name="4 Rectángulo"/>
          <p:cNvSpPr/>
          <p:nvPr/>
        </p:nvSpPr>
        <p:spPr>
          <a:xfrm>
            <a:off x="467544" y="1988840"/>
            <a:ext cx="6984776" cy="307777"/>
          </a:xfrm>
          <a:prstGeom prst="rect">
            <a:avLst/>
          </a:prstGeom>
        </p:spPr>
        <p:txBody>
          <a:bodyPr wrap="square">
            <a:spAutoFit/>
          </a:bodyPr>
          <a:lstStyle/>
          <a:p>
            <a:pPr marL="285750" indent="-285750">
              <a:buFont typeface="Arial" panose="020B0604020202020204" pitchFamily="34" charset="0"/>
              <a:buChar char="•"/>
            </a:pPr>
            <a:r>
              <a:rPr lang="en-US" noProof="0" dirty="0"/>
              <a:t>But you can access the original material and follow author’s videos at:</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152" y="3754752"/>
            <a:ext cx="7428901" cy="2945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9542013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noProof="0" dirty="0"/>
              <a:t>Bibliography</a:t>
            </a: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2924944"/>
            <a:ext cx="1649908" cy="24810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4 Rectángulo"/>
          <p:cNvSpPr/>
          <p:nvPr/>
        </p:nvSpPr>
        <p:spPr>
          <a:xfrm>
            <a:off x="539552" y="1166842"/>
            <a:ext cx="5904656" cy="4585871"/>
          </a:xfrm>
          <a:prstGeom prst="rect">
            <a:avLst/>
          </a:prstGeom>
        </p:spPr>
        <p:txBody>
          <a:bodyPr wrap="square">
            <a:spAutoFit/>
          </a:bodyPr>
          <a:lstStyle/>
          <a:p>
            <a:pPr marL="285750" lvl="0" indent="-285750">
              <a:spcAft>
                <a:spcPts val="1200"/>
              </a:spcAft>
              <a:buFont typeface="Arial" panose="020B0604020202020204" pitchFamily="34" charset="0"/>
              <a:buChar char="•"/>
            </a:pPr>
            <a:r>
              <a:rPr lang="en-US" noProof="0" dirty="0"/>
              <a:t>Murphy, Kevin P. </a:t>
            </a:r>
            <a:r>
              <a:rPr lang="en-US" i="1" noProof="0" dirty="0"/>
              <a:t>Machine learning: a probabilistic perspective</a:t>
            </a:r>
            <a:r>
              <a:rPr lang="en-US" noProof="0" dirty="0"/>
              <a:t>. MIT press, 2012.</a:t>
            </a:r>
          </a:p>
          <a:p>
            <a:pPr marL="285750" lvl="0" indent="-285750">
              <a:spcAft>
                <a:spcPts val="1200"/>
              </a:spcAft>
              <a:buFont typeface="Arial" panose="020B0604020202020204" pitchFamily="34" charset="0"/>
              <a:buChar char="•"/>
            </a:pPr>
            <a:r>
              <a:rPr lang="en-US" noProof="0" dirty="0"/>
              <a:t>Hastie, Trevor, </a:t>
            </a:r>
            <a:r>
              <a:rPr lang="en-US" noProof="0" dirty="0" err="1"/>
              <a:t>Tibshirani</a:t>
            </a:r>
            <a:r>
              <a:rPr lang="en-US" noProof="0" dirty="0"/>
              <a:t>, Robert and Friedman, Jerome. </a:t>
            </a:r>
            <a:r>
              <a:rPr lang="en-US" i="1" noProof="0" dirty="0"/>
              <a:t>The Elements of Statistical Learning Data Mining, Inference, and Prediction</a:t>
            </a:r>
            <a:r>
              <a:rPr lang="en-US" noProof="0" dirty="0"/>
              <a:t>, Second Edition. Springer Series in Statistics, 2009.</a:t>
            </a:r>
          </a:p>
          <a:p>
            <a:pPr marL="285750" lvl="0" indent="-285750">
              <a:spcAft>
                <a:spcPts val="1200"/>
              </a:spcAft>
              <a:buFont typeface="Arial" panose="020B0604020202020204" pitchFamily="34" charset="0"/>
              <a:buChar char="•"/>
            </a:pPr>
            <a:r>
              <a:rPr lang="en-US" noProof="0" dirty="0"/>
              <a:t>Konstantinos </a:t>
            </a:r>
            <a:r>
              <a:rPr lang="en-US" noProof="0" dirty="0" err="1"/>
              <a:t>Koutroumbas</a:t>
            </a:r>
            <a:r>
              <a:rPr lang="en-US" noProof="0" dirty="0"/>
              <a:t>, Sergios Theodoridis. </a:t>
            </a:r>
            <a:r>
              <a:rPr lang="en-US" i="1" noProof="0" dirty="0"/>
              <a:t>Pattern Recognition</a:t>
            </a:r>
            <a:r>
              <a:rPr lang="en-US" noProof="0" dirty="0"/>
              <a:t>, 4th Edition. Academic Press, 2008.</a:t>
            </a:r>
          </a:p>
          <a:p>
            <a:pPr marL="285750" lvl="0" indent="-285750">
              <a:spcAft>
                <a:spcPts val="1200"/>
              </a:spcAft>
              <a:buFont typeface="Arial" panose="020B0604020202020204" pitchFamily="34" charset="0"/>
              <a:buChar char="•"/>
            </a:pPr>
            <a:r>
              <a:rPr lang="en-US" noProof="0" dirty="0"/>
              <a:t>Rajaraman, Anand, and Jeffrey D. Ullman. </a:t>
            </a:r>
            <a:r>
              <a:rPr lang="en-US" i="1" noProof="0" dirty="0"/>
              <a:t>Mining of massive datasets</a:t>
            </a:r>
            <a:r>
              <a:rPr lang="en-US" noProof="0" dirty="0"/>
              <a:t>. Vol. 77. Cambridge: Cambridge University Press, 2012.</a:t>
            </a:r>
          </a:p>
          <a:p>
            <a:pPr marL="285750" lvl="0" indent="-285750">
              <a:spcAft>
                <a:spcPts val="1200"/>
              </a:spcAft>
              <a:buFont typeface="Arial" panose="020B0604020202020204" pitchFamily="34" charset="0"/>
              <a:buChar char="•"/>
            </a:pPr>
            <a:r>
              <a:rPr lang="en-US" noProof="0" dirty="0"/>
              <a:t>Bekkerman, Ron, Mikhail Bilenko, and John Langford, eds. </a:t>
            </a:r>
            <a:r>
              <a:rPr lang="en-US" i="1" noProof="0" dirty="0"/>
              <a:t>Scaling up machine learning: Parallel and distributed approaches</a:t>
            </a:r>
            <a:r>
              <a:rPr lang="en-US" noProof="0" dirty="0"/>
              <a:t>. Cambridge University Press, 2011.</a:t>
            </a:r>
          </a:p>
        </p:txBody>
      </p:sp>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20272" y="1052736"/>
            <a:ext cx="1512168" cy="17128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936411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619672" y="1412776"/>
            <a:ext cx="6009886" cy="2916648"/>
          </a:xfrm>
          <a:prstGeom prst="rect">
            <a:avLst/>
          </a:prstGeom>
        </p:spPr>
      </p:pic>
    </p:spTree>
    <p:extLst>
      <p:ext uri="{BB962C8B-B14F-4D97-AF65-F5344CB8AC3E}">
        <p14:creationId xmlns:p14="http://schemas.microsoft.com/office/powerpoint/2010/main" val="5094619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algn="ctr"/>
            <a:r>
              <a:rPr lang="en-US" sz="4000" b="1" noProof="0" dirty="0"/>
              <a:t>Deep Learning</a:t>
            </a:r>
            <a:endParaRPr lang="en-US" sz="3600" noProof="0" dirty="0"/>
          </a:p>
        </p:txBody>
      </p:sp>
      <p:sp>
        <p:nvSpPr>
          <p:cNvPr id="4" name="Rectángulo 3"/>
          <p:cNvSpPr/>
          <p:nvPr/>
        </p:nvSpPr>
        <p:spPr>
          <a:xfrm>
            <a:off x="1115616" y="6021288"/>
            <a:ext cx="6246440" cy="707886"/>
          </a:xfrm>
          <a:prstGeom prst="rect">
            <a:avLst/>
          </a:prstGeom>
        </p:spPr>
        <p:txBody>
          <a:bodyPr wrap="square">
            <a:spAutoFit/>
          </a:bodyPr>
          <a:lstStyle/>
          <a:p>
            <a:r>
              <a:rPr lang="en-US" sz="2000" noProof="0" dirty="0"/>
              <a:t>Deep Learning courses</a:t>
            </a:r>
          </a:p>
          <a:p>
            <a:r>
              <a:rPr lang="en-US" sz="2000" b="1" noProof="0" dirty="0"/>
              <a:t>Prof. Hung-</a:t>
            </a:r>
            <a:r>
              <a:rPr lang="en-US" sz="2000" b="1" noProof="0" dirty="0" err="1"/>
              <a:t>yi</a:t>
            </a:r>
            <a:r>
              <a:rPr lang="en-US" sz="2000" b="1" noProof="0" dirty="0"/>
              <a:t> Lee </a:t>
            </a:r>
            <a:r>
              <a:rPr lang="en-US" sz="2000" noProof="0" dirty="0"/>
              <a:t>National Taiwan University (NTU) Taipei</a:t>
            </a:r>
          </a:p>
        </p:txBody>
      </p:sp>
      <p:pic>
        <p:nvPicPr>
          <p:cNvPr id="12" name="Imagen 11"/>
          <p:cNvPicPr>
            <a:picLocks noChangeAspect="1"/>
          </p:cNvPicPr>
          <p:nvPr/>
        </p:nvPicPr>
        <p:blipFill>
          <a:blip r:embed="rId2"/>
          <a:stretch>
            <a:fillRect/>
          </a:stretch>
        </p:blipFill>
        <p:spPr>
          <a:xfrm>
            <a:off x="4355976" y="1196752"/>
            <a:ext cx="3664725" cy="4886300"/>
          </a:xfrm>
          <a:prstGeom prst="rect">
            <a:avLst/>
          </a:prstGeom>
        </p:spPr>
      </p:pic>
      <p:sp>
        <p:nvSpPr>
          <p:cNvPr id="13" name="Rectángulo 12"/>
          <p:cNvSpPr/>
          <p:nvPr/>
        </p:nvSpPr>
        <p:spPr>
          <a:xfrm>
            <a:off x="395536" y="2420888"/>
            <a:ext cx="3672408" cy="1384995"/>
          </a:xfrm>
          <a:prstGeom prst="rect">
            <a:avLst/>
          </a:prstGeom>
        </p:spPr>
        <p:txBody>
          <a:bodyPr wrap="square">
            <a:spAutoFit/>
          </a:bodyPr>
          <a:lstStyle/>
          <a:p>
            <a:r>
              <a:rPr lang="en-US" sz="2800" noProof="0" dirty="0"/>
              <a:t>Learn the whole</a:t>
            </a:r>
          </a:p>
          <a:p>
            <a:r>
              <a:rPr lang="en-US" sz="2800" noProof="0" dirty="0"/>
              <a:t>Machine Learning context</a:t>
            </a:r>
          </a:p>
        </p:txBody>
      </p:sp>
      <p:sp>
        <p:nvSpPr>
          <p:cNvPr id="14" name="Rectángulo 13"/>
          <p:cNvSpPr/>
          <p:nvPr/>
        </p:nvSpPr>
        <p:spPr>
          <a:xfrm>
            <a:off x="1547664" y="4941168"/>
            <a:ext cx="2850524" cy="646331"/>
          </a:xfrm>
          <a:prstGeom prst="rect">
            <a:avLst/>
          </a:prstGeom>
        </p:spPr>
        <p:txBody>
          <a:bodyPr wrap="none">
            <a:spAutoFit/>
          </a:bodyPr>
          <a:lstStyle/>
          <a:p>
            <a:r>
              <a:rPr lang="en-US" noProof="0" dirty="0"/>
              <a:t>On line:</a:t>
            </a:r>
          </a:p>
          <a:p>
            <a:r>
              <a:rPr lang="en-US" noProof="0" dirty="0"/>
              <a:t>www.deeplearningbook.org</a:t>
            </a:r>
          </a:p>
        </p:txBody>
      </p:sp>
    </p:spTree>
    <p:extLst>
      <p:ext uri="{BB962C8B-B14F-4D97-AF65-F5344CB8AC3E}">
        <p14:creationId xmlns:p14="http://schemas.microsoft.com/office/powerpoint/2010/main" val="175410257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2123728" y="404664"/>
            <a:ext cx="4752975" cy="1905000"/>
          </a:xfrm>
          <a:prstGeom prst="rect">
            <a:avLst/>
          </a:prstGeom>
        </p:spPr>
      </p:pic>
      <p:pic>
        <p:nvPicPr>
          <p:cNvPr id="5" name="Imagen 4"/>
          <p:cNvPicPr>
            <a:picLocks noChangeAspect="1"/>
          </p:cNvPicPr>
          <p:nvPr/>
        </p:nvPicPr>
        <p:blipFill>
          <a:blip r:embed="rId3"/>
          <a:stretch>
            <a:fillRect/>
          </a:stretch>
        </p:blipFill>
        <p:spPr>
          <a:xfrm>
            <a:off x="1403648" y="2636912"/>
            <a:ext cx="6686550" cy="3657600"/>
          </a:xfrm>
          <a:prstGeom prst="rect">
            <a:avLst/>
          </a:prstGeom>
        </p:spPr>
      </p:pic>
    </p:spTree>
    <p:extLst>
      <p:ext uri="{BB962C8B-B14F-4D97-AF65-F5344CB8AC3E}">
        <p14:creationId xmlns:p14="http://schemas.microsoft.com/office/powerpoint/2010/main" val="4886176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043608" y="764704"/>
            <a:ext cx="7226346" cy="4464496"/>
          </a:xfrm>
          <a:prstGeom prst="rect">
            <a:avLst/>
          </a:prstGeom>
        </p:spPr>
      </p:pic>
    </p:spTree>
    <p:extLst>
      <p:ext uri="{BB962C8B-B14F-4D97-AF65-F5344CB8AC3E}">
        <p14:creationId xmlns:p14="http://schemas.microsoft.com/office/powerpoint/2010/main" val="26169580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8C8555E-07AC-40D1-ED54-895511098BC1}"/>
              </a:ext>
            </a:extLst>
          </p:cNvPr>
          <p:cNvSpPr txBox="1"/>
          <p:nvPr/>
        </p:nvSpPr>
        <p:spPr>
          <a:xfrm>
            <a:off x="3419872" y="6309320"/>
            <a:ext cx="4572000" cy="369332"/>
          </a:xfrm>
          <a:prstGeom prst="rect">
            <a:avLst/>
          </a:prstGeom>
          <a:noFill/>
        </p:spPr>
        <p:txBody>
          <a:bodyPr wrap="square">
            <a:spAutoFit/>
          </a:bodyPr>
          <a:lstStyle/>
          <a:p>
            <a:r>
              <a:rPr lang="en-US" noProof="0" dirty="0">
                <a:hlinkClick r:id="rId2"/>
              </a:rPr>
              <a:t>https://www.bishopbook.com/</a:t>
            </a:r>
            <a:r>
              <a:rPr lang="en-US" noProof="0" dirty="0"/>
              <a:t> </a:t>
            </a:r>
          </a:p>
        </p:txBody>
      </p:sp>
      <p:pic>
        <p:nvPicPr>
          <p:cNvPr id="7" name="Imagen 6">
            <a:extLst>
              <a:ext uri="{FF2B5EF4-FFF2-40B4-BE49-F238E27FC236}">
                <a16:creationId xmlns:a16="http://schemas.microsoft.com/office/drawing/2014/main" id="{517F752F-7A5F-D3CD-2DDC-D101B7C1305E}"/>
              </a:ext>
            </a:extLst>
          </p:cNvPr>
          <p:cNvPicPr>
            <a:picLocks noChangeAspect="1"/>
          </p:cNvPicPr>
          <p:nvPr/>
        </p:nvPicPr>
        <p:blipFill>
          <a:blip r:embed="rId3"/>
          <a:stretch>
            <a:fillRect/>
          </a:stretch>
        </p:blipFill>
        <p:spPr>
          <a:xfrm>
            <a:off x="179512" y="476672"/>
            <a:ext cx="8579434" cy="5400600"/>
          </a:xfrm>
          <a:prstGeom prst="rect">
            <a:avLst/>
          </a:prstGeom>
        </p:spPr>
      </p:pic>
    </p:spTree>
    <p:extLst>
      <p:ext uri="{BB962C8B-B14F-4D97-AF65-F5344CB8AC3E}">
        <p14:creationId xmlns:p14="http://schemas.microsoft.com/office/powerpoint/2010/main" val="2455999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98E453A-9937-E31F-28DD-53F8F52D3D6E}"/>
              </a:ext>
            </a:extLst>
          </p:cNvPr>
          <p:cNvPicPr>
            <a:picLocks noChangeAspect="1"/>
          </p:cNvPicPr>
          <p:nvPr/>
        </p:nvPicPr>
        <p:blipFill>
          <a:blip r:embed="rId2"/>
          <a:stretch>
            <a:fillRect/>
          </a:stretch>
        </p:blipFill>
        <p:spPr>
          <a:xfrm>
            <a:off x="2195736" y="260648"/>
            <a:ext cx="5616624" cy="650232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265310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FC5C025-3070-D995-623B-B70E5818E4BB}"/>
              </a:ext>
            </a:extLst>
          </p:cNvPr>
          <p:cNvPicPr>
            <a:picLocks noChangeAspect="1"/>
          </p:cNvPicPr>
          <p:nvPr/>
        </p:nvPicPr>
        <p:blipFill>
          <a:blip r:embed="rId2"/>
          <a:stretch>
            <a:fillRect/>
          </a:stretch>
        </p:blipFill>
        <p:spPr>
          <a:xfrm>
            <a:off x="176183" y="620688"/>
            <a:ext cx="8791633" cy="540104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400303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54B1D4E-87C8-A740-2591-C886C76DEE0B}"/>
              </a:ext>
            </a:extLst>
          </p:cNvPr>
          <p:cNvSpPr txBox="1"/>
          <p:nvPr/>
        </p:nvSpPr>
        <p:spPr>
          <a:xfrm>
            <a:off x="1115616" y="1988840"/>
            <a:ext cx="6912768" cy="2400657"/>
          </a:xfrm>
          <a:prstGeom prst="rect">
            <a:avLst/>
          </a:prstGeom>
          <a:noFill/>
        </p:spPr>
        <p:txBody>
          <a:bodyPr wrap="square" rtlCol="0">
            <a:spAutoFit/>
          </a:bodyPr>
          <a:lstStyle/>
          <a:p>
            <a:r>
              <a:rPr lang="en-US" sz="4800" noProof="0" dirty="0">
                <a:solidFill>
                  <a:schemeClr val="bg1">
                    <a:lumMod val="50000"/>
                  </a:schemeClr>
                </a:solidFill>
              </a:rPr>
              <a:t>Now let’s you propose a first assignment!</a:t>
            </a:r>
          </a:p>
          <a:p>
            <a:endParaRPr lang="en-US" noProof="0" dirty="0"/>
          </a:p>
          <a:p>
            <a:endParaRPr lang="en-US" noProof="0" dirty="0"/>
          </a:p>
          <a:p>
            <a:endParaRPr lang="en-US" noProof="0" dirty="0"/>
          </a:p>
        </p:txBody>
      </p:sp>
    </p:spTree>
    <p:extLst>
      <p:ext uri="{BB962C8B-B14F-4D97-AF65-F5344CB8AC3E}">
        <p14:creationId xmlns:p14="http://schemas.microsoft.com/office/powerpoint/2010/main" val="13422990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C7F408C-AFD9-7BEA-5833-351672F3FCBC}"/>
              </a:ext>
            </a:extLst>
          </p:cNvPr>
          <p:cNvSpPr txBox="1"/>
          <p:nvPr/>
        </p:nvSpPr>
        <p:spPr>
          <a:xfrm>
            <a:off x="611560" y="404664"/>
            <a:ext cx="8267075" cy="1569660"/>
          </a:xfrm>
          <a:prstGeom prst="rect">
            <a:avLst/>
          </a:prstGeom>
          <a:noFill/>
        </p:spPr>
        <p:txBody>
          <a:bodyPr wrap="square" rtlCol="0">
            <a:spAutoFit/>
          </a:bodyPr>
          <a:lstStyle/>
          <a:p>
            <a:r>
              <a:rPr lang="en-US" sz="3200" noProof="0" dirty="0"/>
              <a:t>The impressive advances in AI (Deep Learning flexibility/creativity) have (and is) driving </a:t>
            </a:r>
            <a:r>
              <a:rPr lang="en-US" sz="3200" b="1" noProof="0" dirty="0"/>
              <a:t>new ways of “learning”, and thus “new terms”.</a:t>
            </a:r>
          </a:p>
        </p:txBody>
      </p:sp>
    </p:spTree>
    <p:extLst>
      <p:ext uri="{BB962C8B-B14F-4D97-AF65-F5344CB8AC3E}">
        <p14:creationId xmlns:p14="http://schemas.microsoft.com/office/powerpoint/2010/main" val="5108468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28CA5EF-7A8C-9606-5EB7-168B761A6B16}"/>
              </a:ext>
            </a:extLst>
          </p:cNvPr>
          <p:cNvPicPr>
            <a:picLocks noChangeAspect="1"/>
          </p:cNvPicPr>
          <p:nvPr/>
        </p:nvPicPr>
        <p:blipFill>
          <a:blip r:embed="rId2"/>
          <a:stretch>
            <a:fillRect/>
          </a:stretch>
        </p:blipFill>
        <p:spPr>
          <a:xfrm>
            <a:off x="111967" y="788816"/>
            <a:ext cx="8701831" cy="5280368"/>
          </a:xfrm>
          <a:prstGeom prst="rect">
            <a:avLst/>
          </a:prstGeom>
        </p:spPr>
      </p:pic>
      <p:sp>
        <p:nvSpPr>
          <p:cNvPr id="7" name="CuadroTexto 6">
            <a:extLst>
              <a:ext uri="{FF2B5EF4-FFF2-40B4-BE49-F238E27FC236}">
                <a16:creationId xmlns:a16="http://schemas.microsoft.com/office/drawing/2014/main" id="{05902118-411E-6091-9C50-EB742B3E78F8}"/>
              </a:ext>
            </a:extLst>
          </p:cNvPr>
          <p:cNvSpPr txBox="1"/>
          <p:nvPr/>
        </p:nvSpPr>
        <p:spPr>
          <a:xfrm>
            <a:off x="2836507" y="6265654"/>
            <a:ext cx="4646644" cy="338554"/>
          </a:xfrm>
          <a:prstGeom prst="rect">
            <a:avLst/>
          </a:prstGeom>
          <a:noFill/>
        </p:spPr>
        <p:txBody>
          <a:bodyPr wrap="square">
            <a:spAutoFit/>
          </a:bodyPr>
          <a:lstStyle/>
          <a:p>
            <a:r>
              <a:rPr lang="en-US" sz="1600" noProof="0" dirty="0"/>
              <a:t>Source: </a:t>
            </a:r>
            <a:r>
              <a:rPr lang="en-US" sz="1600" noProof="0" dirty="0">
                <a:hlinkClick r:id="rId3"/>
              </a:rPr>
              <a:t>https://arxiv.org/pdf/2305.00359.pdf</a:t>
            </a:r>
            <a:r>
              <a:rPr lang="en-US" sz="1600" noProof="0" dirty="0"/>
              <a:t>  </a:t>
            </a:r>
          </a:p>
        </p:txBody>
      </p:sp>
      <p:sp>
        <p:nvSpPr>
          <p:cNvPr id="8" name="CuadroTexto 7">
            <a:extLst>
              <a:ext uri="{FF2B5EF4-FFF2-40B4-BE49-F238E27FC236}">
                <a16:creationId xmlns:a16="http://schemas.microsoft.com/office/drawing/2014/main" id="{BCC95781-4732-DB37-5548-F162DF37FD63}"/>
              </a:ext>
            </a:extLst>
          </p:cNvPr>
          <p:cNvSpPr txBox="1"/>
          <p:nvPr/>
        </p:nvSpPr>
        <p:spPr>
          <a:xfrm>
            <a:off x="1446244" y="423068"/>
            <a:ext cx="5881418" cy="461665"/>
          </a:xfrm>
          <a:prstGeom prst="rect">
            <a:avLst/>
          </a:prstGeom>
          <a:noFill/>
        </p:spPr>
        <p:txBody>
          <a:bodyPr wrap="none" rtlCol="0">
            <a:spAutoFit/>
          </a:bodyPr>
          <a:lstStyle/>
          <a:p>
            <a:r>
              <a:rPr lang="en-US" sz="2400" noProof="0" dirty="0">
                <a:solidFill>
                  <a:schemeClr val="bg2">
                    <a:lumMod val="50000"/>
                  </a:schemeClr>
                </a:solidFill>
              </a:rPr>
              <a:t>Evolution of Speech Processing over the Years</a:t>
            </a:r>
          </a:p>
        </p:txBody>
      </p:sp>
    </p:spTree>
    <p:extLst>
      <p:ext uri="{BB962C8B-B14F-4D97-AF65-F5344CB8AC3E}">
        <p14:creationId xmlns:p14="http://schemas.microsoft.com/office/powerpoint/2010/main" val="39299263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C7F408C-AFD9-7BEA-5833-351672F3FCBC}"/>
              </a:ext>
            </a:extLst>
          </p:cNvPr>
          <p:cNvSpPr txBox="1"/>
          <p:nvPr/>
        </p:nvSpPr>
        <p:spPr>
          <a:xfrm>
            <a:off x="611560" y="404664"/>
            <a:ext cx="8267075" cy="1569660"/>
          </a:xfrm>
          <a:prstGeom prst="rect">
            <a:avLst/>
          </a:prstGeom>
          <a:noFill/>
        </p:spPr>
        <p:txBody>
          <a:bodyPr wrap="square" rtlCol="0">
            <a:spAutoFit/>
          </a:bodyPr>
          <a:lstStyle/>
          <a:p>
            <a:r>
              <a:rPr lang="en-US" sz="3200" noProof="0" dirty="0"/>
              <a:t>The impressive advances in AI (Deep Learning flexibility/creativity) have (and is) driving </a:t>
            </a:r>
            <a:r>
              <a:rPr lang="en-US" sz="3200" b="1" noProof="0" dirty="0"/>
              <a:t>new ways of “learning”, and thus “new terms”.</a:t>
            </a:r>
          </a:p>
        </p:txBody>
      </p:sp>
      <p:sp>
        <p:nvSpPr>
          <p:cNvPr id="5" name="CuadroTexto 4">
            <a:extLst>
              <a:ext uri="{FF2B5EF4-FFF2-40B4-BE49-F238E27FC236}">
                <a16:creationId xmlns:a16="http://schemas.microsoft.com/office/drawing/2014/main" id="{03557110-4E08-65E6-9B23-70F5812D57C6}"/>
              </a:ext>
            </a:extLst>
          </p:cNvPr>
          <p:cNvSpPr txBox="1"/>
          <p:nvPr/>
        </p:nvSpPr>
        <p:spPr>
          <a:xfrm>
            <a:off x="678396" y="2276872"/>
            <a:ext cx="7787208" cy="4154984"/>
          </a:xfrm>
          <a:prstGeom prst="rect">
            <a:avLst/>
          </a:prstGeom>
          <a:solidFill>
            <a:srgbClr val="FEF4FA"/>
          </a:solidFill>
        </p:spPr>
        <p:txBody>
          <a:bodyPr wrap="square">
            <a:spAutoFit/>
          </a:bodyPr>
          <a:lstStyle/>
          <a:p>
            <a:r>
              <a:rPr lang="en-US" sz="2400" noProof="0" dirty="0"/>
              <a:t>Your first course assignment will be to do your own research on some of “these new terms”.</a:t>
            </a:r>
          </a:p>
          <a:p>
            <a:endParaRPr lang="en-US" sz="2400" noProof="0" dirty="0"/>
          </a:p>
          <a:p>
            <a:r>
              <a:rPr lang="en-US" sz="2400" noProof="0" dirty="0"/>
              <a:t>Therefore, your activities will be:</a:t>
            </a:r>
          </a:p>
          <a:p>
            <a:pPr marL="457200" indent="-457200">
              <a:buFont typeface="Arial" panose="020B0604020202020204" pitchFamily="34" charset="0"/>
              <a:buChar char="•"/>
            </a:pPr>
            <a:r>
              <a:rPr lang="en-US" sz="2400" noProof="0" dirty="0"/>
              <a:t>Research (look/read for sources)</a:t>
            </a:r>
          </a:p>
          <a:p>
            <a:pPr marL="457200" indent="-457200">
              <a:buFont typeface="Arial" panose="020B0604020202020204" pitchFamily="34" charset="0"/>
              <a:buChar char="•"/>
            </a:pPr>
            <a:r>
              <a:rPr lang="en-US" sz="2400" b="1" noProof="0" dirty="0">
                <a:solidFill>
                  <a:srgbClr val="C00000"/>
                </a:solidFill>
              </a:rPr>
              <a:t>You can ask LLMs (like ChatGPT)</a:t>
            </a:r>
          </a:p>
          <a:p>
            <a:pPr marL="457200" indent="-457200">
              <a:buFont typeface="Arial" panose="020B0604020202020204" pitchFamily="34" charset="0"/>
              <a:buChar char="•"/>
            </a:pPr>
            <a:r>
              <a:rPr lang="en-US" sz="2400" noProof="0" dirty="0"/>
              <a:t>Write your ideas in your </a:t>
            </a:r>
            <a:r>
              <a:rPr lang="en-US" sz="2400" b="1" noProof="0" dirty="0"/>
              <a:t>Deep Learning Report </a:t>
            </a:r>
            <a:r>
              <a:rPr lang="en-US" sz="2400" noProof="0" dirty="0"/>
              <a:t>(PRDL may be also MLLB)</a:t>
            </a:r>
          </a:p>
          <a:p>
            <a:pPr marL="457200" indent="-457200">
              <a:buFont typeface="Arial" panose="020B0604020202020204" pitchFamily="34" charset="0"/>
              <a:buChar char="•"/>
            </a:pPr>
            <a:r>
              <a:rPr lang="en-US" sz="2400" noProof="0" dirty="0"/>
              <a:t>Present/discuss in class (you may prepare pptx)</a:t>
            </a:r>
          </a:p>
          <a:p>
            <a:pPr marL="457200" indent="-457200">
              <a:buFont typeface="Arial" panose="020B0604020202020204" pitchFamily="34" charset="0"/>
              <a:buChar char="•"/>
            </a:pPr>
            <a:endParaRPr lang="en-US" sz="2400" noProof="0" dirty="0"/>
          </a:p>
          <a:p>
            <a:r>
              <a:rPr lang="en-US" sz="2400" noProof="0" dirty="0"/>
              <a:t>Of course, you can work with your classmates.</a:t>
            </a:r>
          </a:p>
        </p:txBody>
      </p:sp>
    </p:spTree>
    <p:extLst>
      <p:ext uri="{BB962C8B-B14F-4D97-AF65-F5344CB8AC3E}">
        <p14:creationId xmlns:p14="http://schemas.microsoft.com/office/powerpoint/2010/main" val="3481017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3557110-4E08-65E6-9B23-70F5812D57C6}"/>
              </a:ext>
            </a:extLst>
          </p:cNvPr>
          <p:cNvSpPr txBox="1"/>
          <p:nvPr/>
        </p:nvSpPr>
        <p:spPr>
          <a:xfrm>
            <a:off x="395536" y="476672"/>
            <a:ext cx="7787208" cy="4647426"/>
          </a:xfrm>
          <a:prstGeom prst="rect">
            <a:avLst/>
          </a:prstGeom>
          <a:solidFill>
            <a:srgbClr val="FEF4FA"/>
          </a:solidFill>
        </p:spPr>
        <p:txBody>
          <a:bodyPr wrap="square">
            <a:spAutoFit/>
          </a:bodyPr>
          <a:lstStyle/>
          <a:p>
            <a:r>
              <a:rPr lang="en-US" sz="3600" noProof="0" dirty="0"/>
              <a:t>Key points:</a:t>
            </a:r>
          </a:p>
          <a:p>
            <a:endParaRPr lang="en-US" sz="3600" noProof="0" dirty="0"/>
          </a:p>
          <a:p>
            <a:pPr marL="571500" indent="-571500">
              <a:buFont typeface="Arial" panose="020B0604020202020204" pitchFamily="34" charset="0"/>
              <a:buChar char="•"/>
            </a:pPr>
            <a:r>
              <a:rPr lang="en-US" sz="2800" noProof="0" dirty="0"/>
              <a:t>This will be your FIRST version of your </a:t>
            </a:r>
            <a:r>
              <a:rPr lang="en-US" sz="2800" b="1" noProof="0" dirty="0"/>
              <a:t>Deep Learning Report </a:t>
            </a:r>
            <a:r>
              <a:rPr lang="en-US" sz="2800" noProof="0" dirty="0"/>
              <a:t>(PRDL, optionally MLLB)</a:t>
            </a:r>
          </a:p>
          <a:p>
            <a:pPr marL="571500" indent="-571500">
              <a:buFont typeface="Arial" panose="020B0604020202020204" pitchFamily="34" charset="0"/>
              <a:buChar char="•"/>
            </a:pPr>
            <a:endParaRPr lang="en-US" sz="2800" noProof="0" dirty="0"/>
          </a:p>
          <a:p>
            <a:pPr marL="571500" indent="-571500">
              <a:buFont typeface="Arial" panose="020B0604020202020204" pitchFamily="34" charset="0"/>
              <a:buChar char="•"/>
            </a:pPr>
            <a:r>
              <a:rPr lang="en-US" sz="2800" noProof="0" dirty="0"/>
              <a:t>In your Report as in any technical/scientific document, it is very important to properly cite your references (Bibliography Section)</a:t>
            </a:r>
          </a:p>
          <a:p>
            <a:pPr marL="571500" indent="-571500">
              <a:buFont typeface="Arial" panose="020B0604020202020204" pitchFamily="34" charset="0"/>
              <a:buChar char="•"/>
            </a:pPr>
            <a:endParaRPr lang="en-US" sz="2800" noProof="0" dirty="0"/>
          </a:p>
          <a:p>
            <a:pPr marL="571500" indent="-571500">
              <a:buFont typeface="Arial" panose="020B0604020202020204" pitchFamily="34" charset="0"/>
              <a:buChar char="•"/>
            </a:pPr>
            <a:r>
              <a:rPr lang="en-US" sz="2800" noProof="0" dirty="0"/>
              <a:t>Know about citation styles….</a:t>
            </a:r>
          </a:p>
        </p:txBody>
      </p:sp>
    </p:spTree>
    <p:extLst>
      <p:ext uri="{BB962C8B-B14F-4D97-AF65-F5344CB8AC3E}">
        <p14:creationId xmlns:p14="http://schemas.microsoft.com/office/powerpoint/2010/main" val="180948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080BCBCA-DED5-3EEA-B8B3-6CFA2BBA6C3F}"/>
              </a:ext>
            </a:extLst>
          </p:cNvPr>
          <p:cNvSpPr>
            <a:spLocks noGrp="1"/>
          </p:cNvSpPr>
          <p:nvPr>
            <p:ph type="sldNum" sz="quarter" idx="12"/>
          </p:nvPr>
        </p:nvSpPr>
        <p:spPr/>
        <p:txBody>
          <a:bodyPr/>
          <a:lstStyle/>
          <a:p>
            <a:fld id="{132FADFE-3B8F-471C-ABF0-DBC7717ECBBC}" type="slidenum">
              <a:rPr lang="en-US" noProof="0" smtClean="0"/>
              <a:t>63</a:t>
            </a:fld>
            <a:endParaRPr lang="en-US" noProof="0" dirty="0"/>
          </a:p>
        </p:txBody>
      </p:sp>
      <p:sp>
        <p:nvSpPr>
          <p:cNvPr id="4" name="CuadroTexto 3">
            <a:extLst>
              <a:ext uri="{FF2B5EF4-FFF2-40B4-BE49-F238E27FC236}">
                <a16:creationId xmlns:a16="http://schemas.microsoft.com/office/drawing/2014/main" id="{31A1EB47-1844-1E6E-53C4-6ADEBFBBD077}"/>
              </a:ext>
            </a:extLst>
          </p:cNvPr>
          <p:cNvSpPr txBox="1"/>
          <p:nvPr/>
        </p:nvSpPr>
        <p:spPr>
          <a:xfrm>
            <a:off x="2411760" y="476672"/>
            <a:ext cx="4572000" cy="369332"/>
          </a:xfrm>
          <a:prstGeom prst="rect">
            <a:avLst/>
          </a:prstGeom>
          <a:noFill/>
        </p:spPr>
        <p:txBody>
          <a:bodyPr wrap="square">
            <a:spAutoFit/>
          </a:bodyPr>
          <a:lstStyle/>
          <a:p>
            <a:r>
              <a:rPr lang="en-US" noProof="0" dirty="0">
                <a:hlinkClick r:id="rId2"/>
              </a:rPr>
              <a:t>https://pitt.libguides.com/citationhelp</a:t>
            </a:r>
            <a:r>
              <a:rPr lang="en-US" noProof="0" dirty="0"/>
              <a:t> </a:t>
            </a:r>
          </a:p>
        </p:txBody>
      </p:sp>
      <p:pic>
        <p:nvPicPr>
          <p:cNvPr id="6" name="Imagen 5">
            <a:extLst>
              <a:ext uri="{FF2B5EF4-FFF2-40B4-BE49-F238E27FC236}">
                <a16:creationId xmlns:a16="http://schemas.microsoft.com/office/drawing/2014/main" id="{29B52D95-D5A0-5DB5-379D-1F9D825E918A}"/>
              </a:ext>
            </a:extLst>
          </p:cNvPr>
          <p:cNvPicPr>
            <a:picLocks noChangeAspect="1"/>
          </p:cNvPicPr>
          <p:nvPr/>
        </p:nvPicPr>
        <p:blipFill>
          <a:blip r:embed="rId3"/>
          <a:stretch>
            <a:fillRect/>
          </a:stretch>
        </p:blipFill>
        <p:spPr>
          <a:xfrm>
            <a:off x="629816" y="1268760"/>
            <a:ext cx="7884368" cy="486232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090406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D97C1E7-360A-C180-B126-C2327F14AEAF}"/>
              </a:ext>
            </a:extLst>
          </p:cNvPr>
          <p:cNvSpPr>
            <a:spLocks noGrp="1"/>
          </p:cNvSpPr>
          <p:nvPr>
            <p:ph type="sldNum" sz="quarter" idx="12"/>
          </p:nvPr>
        </p:nvSpPr>
        <p:spPr/>
        <p:txBody>
          <a:bodyPr/>
          <a:lstStyle/>
          <a:p>
            <a:fld id="{132FADFE-3B8F-471C-ABF0-DBC7717ECBBC}" type="slidenum">
              <a:rPr lang="en-US" noProof="0" smtClean="0"/>
              <a:t>64</a:t>
            </a:fld>
            <a:endParaRPr lang="en-US" noProof="0" dirty="0"/>
          </a:p>
        </p:txBody>
      </p:sp>
      <p:sp>
        <p:nvSpPr>
          <p:cNvPr id="3" name="CuadroTexto 2">
            <a:extLst>
              <a:ext uri="{FF2B5EF4-FFF2-40B4-BE49-F238E27FC236}">
                <a16:creationId xmlns:a16="http://schemas.microsoft.com/office/drawing/2014/main" id="{723EA133-378A-0CE7-6204-464EF7C5FB15}"/>
              </a:ext>
            </a:extLst>
          </p:cNvPr>
          <p:cNvSpPr txBox="1"/>
          <p:nvPr/>
        </p:nvSpPr>
        <p:spPr>
          <a:xfrm>
            <a:off x="1197968" y="751344"/>
            <a:ext cx="7488832" cy="2739211"/>
          </a:xfrm>
          <a:prstGeom prst="rect">
            <a:avLst/>
          </a:prstGeom>
          <a:noFill/>
        </p:spPr>
        <p:txBody>
          <a:bodyPr wrap="square" rtlCol="0">
            <a:spAutoFit/>
          </a:bodyPr>
          <a:lstStyle/>
          <a:p>
            <a:r>
              <a:rPr lang="en-US" sz="3200" b="1" noProof="0" dirty="0"/>
              <a:t>How to cite info from LLMs (as ChatGPT)?</a:t>
            </a:r>
          </a:p>
          <a:p>
            <a:endParaRPr lang="en-US" sz="2800" noProof="0" dirty="0"/>
          </a:p>
          <a:p>
            <a:pPr marL="514350" indent="-514350">
              <a:buFont typeface="+mj-lt"/>
              <a:buAutoNum type="arabicPeriod"/>
            </a:pPr>
            <a:r>
              <a:rPr lang="en-US" sz="2800" noProof="0" dirty="0"/>
              <a:t>Be critical with yourself (use only reviewed/contrasted information)</a:t>
            </a:r>
          </a:p>
          <a:p>
            <a:pPr marL="457200" indent="-457200">
              <a:buFont typeface="Arial" panose="020B0604020202020204" pitchFamily="34" charset="0"/>
              <a:buChar char="•"/>
            </a:pPr>
            <a:endParaRPr lang="en-US" sz="2800" noProof="0" dirty="0"/>
          </a:p>
          <a:p>
            <a:pPr marL="457200" indent="-457200">
              <a:buFont typeface="Arial" panose="020B0604020202020204" pitchFamily="34" charset="0"/>
              <a:buChar char="•"/>
            </a:pPr>
            <a:endParaRPr lang="en-US" sz="2800" noProof="0" dirty="0"/>
          </a:p>
        </p:txBody>
      </p:sp>
    </p:spTree>
    <p:extLst>
      <p:ext uri="{BB962C8B-B14F-4D97-AF65-F5344CB8AC3E}">
        <p14:creationId xmlns:p14="http://schemas.microsoft.com/office/powerpoint/2010/main" val="5678639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23EA133-378A-0CE7-6204-464EF7C5FB15}"/>
              </a:ext>
            </a:extLst>
          </p:cNvPr>
          <p:cNvSpPr txBox="1"/>
          <p:nvPr/>
        </p:nvSpPr>
        <p:spPr>
          <a:xfrm>
            <a:off x="1043608" y="297254"/>
            <a:ext cx="7488832" cy="2308324"/>
          </a:xfrm>
          <a:prstGeom prst="rect">
            <a:avLst/>
          </a:prstGeom>
          <a:noFill/>
        </p:spPr>
        <p:txBody>
          <a:bodyPr wrap="square" rtlCol="0">
            <a:spAutoFit/>
          </a:bodyPr>
          <a:lstStyle/>
          <a:p>
            <a:r>
              <a:rPr lang="en-US" sz="3200" b="1" noProof="0" dirty="0"/>
              <a:t>How to cite info from LLMs (as ChatGPT)?</a:t>
            </a:r>
          </a:p>
          <a:p>
            <a:endParaRPr lang="en-US" sz="2800" noProof="0" dirty="0"/>
          </a:p>
          <a:p>
            <a:r>
              <a:rPr lang="en-US" sz="2800" noProof="0" dirty="0"/>
              <a:t>2. Decide the format, for example:</a:t>
            </a:r>
          </a:p>
          <a:p>
            <a:endParaRPr lang="en-US" sz="2800" noProof="0" dirty="0"/>
          </a:p>
          <a:p>
            <a:pPr marL="457200" indent="-457200">
              <a:buFont typeface="Arial" panose="020B0604020202020204" pitchFamily="34" charset="0"/>
              <a:buChar char="•"/>
            </a:pPr>
            <a:endParaRPr lang="en-US" sz="2800" noProof="0" dirty="0"/>
          </a:p>
        </p:txBody>
      </p:sp>
      <p:pic>
        <p:nvPicPr>
          <p:cNvPr id="5" name="Imagen 4">
            <a:extLst>
              <a:ext uri="{FF2B5EF4-FFF2-40B4-BE49-F238E27FC236}">
                <a16:creationId xmlns:a16="http://schemas.microsoft.com/office/drawing/2014/main" id="{3F3FDC74-137F-FECF-C0AC-442E8BA91B3D}"/>
              </a:ext>
            </a:extLst>
          </p:cNvPr>
          <p:cNvPicPr>
            <a:picLocks noChangeAspect="1"/>
          </p:cNvPicPr>
          <p:nvPr/>
        </p:nvPicPr>
        <p:blipFill>
          <a:blip r:embed="rId2"/>
          <a:stretch>
            <a:fillRect/>
          </a:stretch>
        </p:blipFill>
        <p:spPr>
          <a:xfrm>
            <a:off x="1115616" y="1772816"/>
            <a:ext cx="7126299" cy="4248472"/>
          </a:xfrm>
          <a:prstGeom prst="rect">
            <a:avLst/>
          </a:prstGeom>
          <a:ln>
            <a:noFill/>
          </a:ln>
          <a:effectLst>
            <a:outerShdw blurRad="292100" dist="139700" dir="2700000" algn="tl" rotWithShape="0">
              <a:srgbClr val="333333">
                <a:alpha val="65000"/>
              </a:srgbClr>
            </a:outerShdw>
          </a:effectLst>
        </p:spPr>
      </p:pic>
      <p:sp>
        <p:nvSpPr>
          <p:cNvPr id="7" name="CuadroTexto 6">
            <a:extLst>
              <a:ext uri="{FF2B5EF4-FFF2-40B4-BE49-F238E27FC236}">
                <a16:creationId xmlns:a16="http://schemas.microsoft.com/office/drawing/2014/main" id="{6F65F7ED-D276-9276-8EC4-2EF60B5E62F2}"/>
              </a:ext>
            </a:extLst>
          </p:cNvPr>
          <p:cNvSpPr txBox="1"/>
          <p:nvPr/>
        </p:nvSpPr>
        <p:spPr>
          <a:xfrm>
            <a:off x="1043608" y="6211669"/>
            <a:ext cx="7126298" cy="369332"/>
          </a:xfrm>
          <a:prstGeom prst="rect">
            <a:avLst/>
          </a:prstGeom>
          <a:noFill/>
        </p:spPr>
        <p:txBody>
          <a:bodyPr wrap="square">
            <a:spAutoFit/>
          </a:bodyPr>
          <a:lstStyle/>
          <a:p>
            <a:r>
              <a:rPr lang="en-US" noProof="0" dirty="0">
                <a:hlinkClick r:id="rId3"/>
              </a:rPr>
              <a:t>https://guides.libraries.psu.edu/c.php?g=1338692&amp;p=9866353</a:t>
            </a:r>
            <a:r>
              <a:rPr lang="en-US" noProof="0" dirty="0"/>
              <a:t> </a:t>
            </a:r>
          </a:p>
        </p:txBody>
      </p:sp>
    </p:spTree>
    <p:extLst>
      <p:ext uri="{BB962C8B-B14F-4D97-AF65-F5344CB8AC3E}">
        <p14:creationId xmlns:p14="http://schemas.microsoft.com/office/powerpoint/2010/main" val="5606727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2A7F3DB-C823-517D-AFFE-90DE3FD0A32B}"/>
              </a:ext>
            </a:extLst>
          </p:cNvPr>
          <p:cNvSpPr txBox="1"/>
          <p:nvPr/>
        </p:nvSpPr>
        <p:spPr>
          <a:xfrm>
            <a:off x="1979712" y="6348185"/>
            <a:ext cx="5886400" cy="369332"/>
          </a:xfrm>
          <a:prstGeom prst="rect">
            <a:avLst/>
          </a:prstGeom>
          <a:noFill/>
        </p:spPr>
        <p:txBody>
          <a:bodyPr wrap="square">
            <a:spAutoFit/>
          </a:bodyPr>
          <a:lstStyle/>
          <a:p>
            <a:r>
              <a:rPr lang="en-US" noProof="0" dirty="0">
                <a:hlinkClick r:id="rId2"/>
              </a:rPr>
              <a:t>https://libguides.umn.edu/c.php?g=1314591&amp;p=9664746</a:t>
            </a:r>
            <a:r>
              <a:rPr lang="en-US" noProof="0" dirty="0"/>
              <a:t> </a:t>
            </a:r>
          </a:p>
        </p:txBody>
      </p:sp>
      <p:sp>
        <p:nvSpPr>
          <p:cNvPr id="5" name="CuadroTexto 4">
            <a:extLst>
              <a:ext uri="{FF2B5EF4-FFF2-40B4-BE49-F238E27FC236}">
                <a16:creationId xmlns:a16="http://schemas.microsoft.com/office/drawing/2014/main" id="{15204562-87DC-F614-42E2-ED4362342644}"/>
              </a:ext>
            </a:extLst>
          </p:cNvPr>
          <p:cNvSpPr txBox="1"/>
          <p:nvPr/>
        </p:nvSpPr>
        <p:spPr>
          <a:xfrm>
            <a:off x="746448" y="111477"/>
            <a:ext cx="7488832" cy="1877437"/>
          </a:xfrm>
          <a:prstGeom prst="rect">
            <a:avLst/>
          </a:prstGeom>
          <a:noFill/>
        </p:spPr>
        <p:txBody>
          <a:bodyPr wrap="square" rtlCol="0">
            <a:spAutoFit/>
          </a:bodyPr>
          <a:lstStyle/>
          <a:p>
            <a:r>
              <a:rPr lang="en-US" sz="3200" b="1" noProof="0" dirty="0"/>
              <a:t>How to cite info from LLMs (as ChatGPT)?</a:t>
            </a:r>
          </a:p>
          <a:p>
            <a:endParaRPr lang="en-US" sz="2800" noProof="0" dirty="0"/>
          </a:p>
          <a:p>
            <a:r>
              <a:rPr lang="en-US" sz="2800" noProof="0" dirty="0"/>
              <a:t>2. Decide the format, for example:</a:t>
            </a:r>
          </a:p>
          <a:p>
            <a:r>
              <a:rPr lang="en-US" sz="2800" noProof="0" dirty="0"/>
              <a:t>Make your own research on this topic!</a:t>
            </a:r>
          </a:p>
        </p:txBody>
      </p:sp>
      <p:pic>
        <p:nvPicPr>
          <p:cNvPr id="7" name="Imagen 6">
            <a:extLst>
              <a:ext uri="{FF2B5EF4-FFF2-40B4-BE49-F238E27FC236}">
                <a16:creationId xmlns:a16="http://schemas.microsoft.com/office/drawing/2014/main" id="{1D0EC62A-2A44-3303-08F7-ACAE611A53BE}"/>
              </a:ext>
            </a:extLst>
          </p:cNvPr>
          <p:cNvPicPr>
            <a:picLocks noChangeAspect="1"/>
          </p:cNvPicPr>
          <p:nvPr/>
        </p:nvPicPr>
        <p:blipFill>
          <a:blip r:embed="rId3"/>
          <a:stretch>
            <a:fillRect/>
          </a:stretch>
        </p:blipFill>
        <p:spPr>
          <a:xfrm>
            <a:off x="1538536" y="2564904"/>
            <a:ext cx="6768752" cy="3521771"/>
          </a:xfrm>
          <a:prstGeom prst="rect">
            <a:avLst/>
          </a:prstGeom>
          <a:ln>
            <a:noFill/>
          </a:ln>
          <a:effectLst>
            <a:outerShdw blurRad="292100" dist="139700" dir="2700000" algn="tl" rotWithShape="0">
              <a:srgbClr val="333333">
                <a:alpha val="65000"/>
              </a:srgbClr>
            </a:outerShdw>
          </a:effectLst>
        </p:spPr>
      </p:pic>
      <p:pic>
        <p:nvPicPr>
          <p:cNvPr id="9" name="Imagen 8">
            <a:extLst>
              <a:ext uri="{FF2B5EF4-FFF2-40B4-BE49-F238E27FC236}">
                <a16:creationId xmlns:a16="http://schemas.microsoft.com/office/drawing/2014/main" id="{9D530172-70F1-4FED-F8DD-A1F1F76B0324}"/>
              </a:ext>
            </a:extLst>
          </p:cNvPr>
          <p:cNvPicPr>
            <a:picLocks noChangeAspect="1"/>
          </p:cNvPicPr>
          <p:nvPr/>
        </p:nvPicPr>
        <p:blipFill>
          <a:blip r:embed="rId4"/>
          <a:stretch>
            <a:fillRect/>
          </a:stretch>
        </p:blipFill>
        <p:spPr>
          <a:xfrm>
            <a:off x="107504" y="2029224"/>
            <a:ext cx="2202371" cy="647756"/>
          </a:xfrm>
          <a:prstGeom prst="rect">
            <a:avLst/>
          </a:prstGeom>
        </p:spPr>
      </p:pic>
    </p:spTree>
    <p:extLst>
      <p:ext uri="{BB962C8B-B14F-4D97-AF65-F5344CB8AC3E}">
        <p14:creationId xmlns:p14="http://schemas.microsoft.com/office/powerpoint/2010/main" val="1624992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955723D-18EF-5D18-EE95-5C6D15E72E24}"/>
              </a:ext>
            </a:extLst>
          </p:cNvPr>
          <p:cNvSpPr txBox="1"/>
          <p:nvPr/>
        </p:nvSpPr>
        <p:spPr>
          <a:xfrm>
            <a:off x="683568" y="1772816"/>
            <a:ext cx="8267075" cy="3785652"/>
          </a:xfrm>
          <a:prstGeom prst="rect">
            <a:avLst/>
          </a:prstGeom>
          <a:noFill/>
        </p:spPr>
        <p:txBody>
          <a:bodyPr wrap="square" rtlCol="0">
            <a:spAutoFit/>
          </a:bodyPr>
          <a:lstStyle/>
          <a:p>
            <a:pPr algn="ctr"/>
            <a:r>
              <a:rPr lang="en-US" sz="3600" noProof="0" dirty="0"/>
              <a:t>These new learning techniques are usually behind NLP (Natural Language Processing) and Multimodal Image, Video, Audio, Speech, Music,…</a:t>
            </a:r>
          </a:p>
          <a:p>
            <a:pPr marL="457200" indent="-457200">
              <a:buFont typeface="Arial" panose="020B0604020202020204" pitchFamily="34" charset="0"/>
              <a:buChar char="•"/>
            </a:pPr>
            <a:endParaRPr lang="en-US" sz="3200" noProof="0" dirty="0"/>
          </a:p>
          <a:p>
            <a:pPr marL="457200" indent="-457200">
              <a:buFont typeface="Arial" panose="020B0604020202020204" pitchFamily="34" charset="0"/>
              <a:buChar char="•"/>
            </a:pPr>
            <a:endParaRPr lang="en-US" sz="3200" noProof="0" dirty="0"/>
          </a:p>
          <a:p>
            <a:endParaRPr lang="en-US" sz="3200" noProof="0" dirty="0"/>
          </a:p>
        </p:txBody>
      </p:sp>
    </p:spTree>
    <p:extLst>
      <p:ext uri="{BB962C8B-B14F-4D97-AF65-F5344CB8AC3E}">
        <p14:creationId xmlns:p14="http://schemas.microsoft.com/office/powerpoint/2010/main" val="7520436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0037DD0-9C41-867E-3989-856C08C8B72F}"/>
              </a:ext>
            </a:extLst>
          </p:cNvPr>
          <p:cNvPicPr>
            <a:picLocks noChangeAspect="1"/>
          </p:cNvPicPr>
          <p:nvPr/>
        </p:nvPicPr>
        <p:blipFill>
          <a:blip r:embed="rId2"/>
          <a:stretch>
            <a:fillRect/>
          </a:stretch>
        </p:blipFill>
        <p:spPr>
          <a:xfrm>
            <a:off x="467544" y="0"/>
            <a:ext cx="2666485" cy="2666485"/>
          </a:xfrm>
          <a:prstGeom prst="rect">
            <a:avLst/>
          </a:prstGeom>
        </p:spPr>
      </p:pic>
      <p:sp>
        <p:nvSpPr>
          <p:cNvPr id="5" name="CuadroTexto 4">
            <a:extLst>
              <a:ext uri="{FF2B5EF4-FFF2-40B4-BE49-F238E27FC236}">
                <a16:creationId xmlns:a16="http://schemas.microsoft.com/office/drawing/2014/main" id="{757D26C7-A72B-8E2A-67DE-557225632CC6}"/>
              </a:ext>
            </a:extLst>
          </p:cNvPr>
          <p:cNvSpPr txBox="1"/>
          <p:nvPr/>
        </p:nvSpPr>
        <p:spPr>
          <a:xfrm>
            <a:off x="250099" y="2685070"/>
            <a:ext cx="3952809" cy="430887"/>
          </a:xfrm>
          <a:prstGeom prst="rect">
            <a:avLst/>
          </a:prstGeom>
          <a:noFill/>
        </p:spPr>
        <p:txBody>
          <a:bodyPr wrap="square">
            <a:spAutoFit/>
          </a:bodyPr>
          <a:lstStyle/>
          <a:p>
            <a:r>
              <a:rPr lang="en-US" sz="1100" noProof="0" dirty="0">
                <a:hlinkClick r:id="rId3"/>
              </a:rPr>
              <a:t>https://www.cortical.io/blog/chatgpt-and-large-language-models-the-holy-grail-of-enterprise-ai/</a:t>
            </a:r>
            <a:r>
              <a:rPr lang="en-US" sz="1100" noProof="0" dirty="0"/>
              <a:t> </a:t>
            </a:r>
          </a:p>
        </p:txBody>
      </p:sp>
      <p:pic>
        <p:nvPicPr>
          <p:cNvPr id="7" name="Imagen 6">
            <a:extLst>
              <a:ext uri="{FF2B5EF4-FFF2-40B4-BE49-F238E27FC236}">
                <a16:creationId xmlns:a16="http://schemas.microsoft.com/office/drawing/2014/main" id="{3A7715D5-5665-9092-198C-118FA181D3ED}"/>
              </a:ext>
            </a:extLst>
          </p:cNvPr>
          <p:cNvPicPr>
            <a:picLocks noChangeAspect="1"/>
          </p:cNvPicPr>
          <p:nvPr/>
        </p:nvPicPr>
        <p:blipFill>
          <a:blip r:embed="rId4"/>
          <a:stretch>
            <a:fillRect/>
          </a:stretch>
        </p:blipFill>
        <p:spPr>
          <a:xfrm>
            <a:off x="4202908" y="118168"/>
            <a:ext cx="4374766" cy="2428466"/>
          </a:xfrm>
          <a:prstGeom prst="rect">
            <a:avLst/>
          </a:prstGeom>
        </p:spPr>
      </p:pic>
      <p:pic>
        <p:nvPicPr>
          <p:cNvPr id="8" name="Imagen 7">
            <a:extLst>
              <a:ext uri="{FF2B5EF4-FFF2-40B4-BE49-F238E27FC236}">
                <a16:creationId xmlns:a16="http://schemas.microsoft.com/office/drawing/2014/main" id="{1EBE967E-BB79-242B-B992-4D53F43412A2}"/>
              </a:ext>
            </a:extLst>
          </p:cNvPr>
          <p:cNvPicPr>
            <a:picLocks noChangeAspect="1"/>
          </p:cNvPicPr>
          <p:nvPr/>
        </p:nvPicPr>
        <p:blipFill>
          <a:blip r:embed="rId5"/>
          <a:stretch>
            <a:fillRect/>
          </a:stretch>
        </p:blipFill>
        <p:spPr>
          <a:xfrm>
            <a:off x="4934401" y="3052765"/>
            <a:ext cx="3888260" cy="3328641"/>
          </a:xfrm>
          <a:prstGeom prst="rect">
            <a:avLst/>
          </a:prstGeom>
          <a:ln>
            <a:noFill/>
          </a:ln>
          <a:effectLst>
            <a:outerShdw blurRad="292100" dist="139700" dir="2700000" algn="tl" rotWithShape="0">
              <a:srgbClr val="333333">
                <a:alpha val="65000"/>
              </a:srgbClr>
            </a:outerShdw>
          </a:effectLst>
        </p:spPr>
      </p:pic>
      <p:sp>
        <p:nvSpPr>
          <p:cNvPr id="10" name="CuadroTexto 9">
            <a:extLst>
              <a:ext uri="{FF2B5EF4-FFF2-40B4-BE49-F238E27FC236}">
                <a16:creationId xmlns:a16="http://schemas.microsoft.com/office/drawing/2014/main" id="{7C509C61-2A9D-2ABE-F73B-F494B3785E49}"/>
              </a:ext>
            </a:extLst>
          </p:cNvPr>
          <p:cNvSpPr txBox="1"/>
          <p:nvPr/>
        </p:nvSpPr>
        <p:spPr>
          <a:xfrm>
            <a:off x="4706687" y="2592737"/>
            <a:ext cx="3842590" cy="307777"/>
          </a:xfrm>
          <a:prstGeom prst="rect">
            <a:avLst/>
          </a:prstGeom>
          <a:noFill/>
        </p:spPr>
        <p:txBody>
          <a:bodyPr wrap="square">
            <a:spAutoFit/>
          </a:bodyPr>
          <a:lstStyle/>
          <a:p>
            <a:r>
              <a:rPr lang="en-US" sz="1400" noProof="0" dirty="0">
                <a:hlinkClick r:id="rId6"/>
              </a:rPr>
              <a:t>https://learnopencv.com/ai-art-generation-tools/</a:t>
            </a:r>
            <a:r>
              <a:rPr lang="en-US" sz="1400" noProof="0" dirty="0"/>
              <a:t> </a:t>
            </a:r>
          </a:p>
        </p:txBody>
      </p:sp>
      <p:sp>
        <p:nvSpPr>
          <p:cNvPr id="11" name="CuadroTexto 10">
            <a:extLst>
              <a:ext uri="{FF2B5EF4-FFF2-40B4-BE49-F238E27FC236}">
                <a16:creationId xmlns:a16="http://schemas.microsoft.com/office/drawing/2014/main" id="{B9467177-92BD-3550-FFD1-BF691A911E4C}"/>
              </a:ext>
            </a:extLst>
          </p:cNvPr>
          <p:cNvSpPr txBox="1"/>
          <p:nvPr/>
        </p:nvSpPr>
        <p:spPr>
          <a:xfrm>
            <a:off x="5652120" y="6509242"/>
            <a:ext cx="2160240" cy="307777"/>
          </a:xfrm>
          <a:prstGeom prst="rect">
            <a:avLst/>
          </a:prstGeom>
          <a:noFill/>
        </p:spPr>
        <p:txBody>
          <a:bodyPr wrap="square">
            <a:spAutoFit/>
          </a:bodyPr>
          <a:lstStyle/>
          <a:p>
            <a:r>
              <a:rPr lang="en-US" sz="1400" noProof="0" dirty="0">
                <a:hlinkClick r:id="rId7"/>
              </a:rPr>
              <a:t>https://codi-gen.github.io/</a:t>
            </a:r>
            <a:r>
              <a:rPr lang="en-US" sz="1400" noProof="0" dirty="0"/>
              <a:t> </a:t>
            </a:r>
          </a:p>
        </p:txBody>
      </p:sp>
      <p:pic>
        <p:nvPicPr>
          <p:cNvPr id="13" name="Imagen 12">
            <a:extLst>
              <a:ext uri="{FF2B5EF4-FFF2-40B4-BE49-F238E27FC236}">
                <a16:creationId xmlns:a16="http://schemas.microsoft.com/office/drawing/2014/main" id="{1050533B-9936-227D-4A05-A4477F1C14E4}"/>
              </a:ext>
            </a:extLst>
          </p:cNvPr>
          <p:cNvPicPr>
            <a:picLocks noChangeAspect="1"/>
          </p:cNvPicPr>
          <p:nvPr/>
        </p:nvPicPr>
        <p:blipFill>
          <a:blip r:embed="rId8"/>
          <a:stretch>
            <a:fillRect/>
          </a:stretch>
        </p:blipFill>
        <p:spPr>
          <a:xfrm>
            <a:off x="158470" y="3115957"/>
            <a:ext cx="4529379" cy="1833218"/>
          </a:xfrm>
          <a:prstGeom prst="rect">
            <a:avLst/>
          </a:prstGeom>
          <a:ln>
            <a:noFill/>
          </a:ln>
          <a:effectLst>
            <a:outerShdw blurRad="292100" dist="139700" dir="2700000" algn="tl" rotWithShape="0">
              <a:srgbClr val="333333">
                <a:alpha val="65000"/>
              </a:srgbClr>
            </a:outerShdw>
          </a:effectLst>
        </p:spPr>
      </p:pic>
      <p:pic>
        <p:nvPicPr>
          <p:cNvPr id="12" name="Imagen 11">
            <a:extLst>
              <a:ext uri="{FF2B5EF4-FFF2-40B4-BE49-F238E27FC236}">
                <a16:creationId xmlns:a16="http://schemas.microsoft.com/office/drawing/2014/main" id="{3531BB04-3C8E-1533-3E49-ADC7F3C9CECF}"/>
              </a:ext>
            </a:extLst>
          </p:cNvPr>
          <p:cNvPicPr>
            <a:picLocks noChangeAspect="1"/>
          </p:cNvPicPr>
          <p:nvPr/>
        </p:nvPicPr>
        <p:blipFill>
          <a:blip r:embed="rId9"/>
          <a:stretch>
            <a:fillRect/>
          </a:stretch>
        </p:blipFill>
        <p:spPr>
          <a:xfrm>
            <a:off x="1475656" y="4311367"/>
            <a:ext cx="3537189" cy="2532446"/>
          </a:xfrm>
          <a:prstGeom prst="rect">
            <a:avLst/>
          </a:prstGeom>
        </p:spPr>
      </p:pic>
      <p:sp>
        <p:nvSpPr>
          <p:cNvPr id="15" name="CuadroTexto 14">
            <a:extLst>
              <a:ext uri="{FF2B5EF4-FFF2-40B4-BE49-F238E27FC236}">
                <a16:creationId xmlns:a16="http://schemas.microsoft.com/office/drawing/2014/main" id="{C8577FC0-845F-2786-60DE-CC916A6F0694}"/>
              </a:ext>
            </a:extLst>
          </p:cNvPr>
          <p:cNvSpPr txBox="1"/>
          <p:nvPr/>
        </p:nvSpPr>
        <p:spPr>
          <a:xfrm>
            <a:off x="397854" y="6540020"/>
            <a:ext cx="2736175" cy="276999"/>
          </a:xfrm>
          <a:prstGeom prst="rect">
            <a:avLst/>
          </a:prstGeom>
          <a:noFill/>
        </p:spPr>
        <p:txBody>
          <a:bodyPr wrap="square">
            <a:spAutoFit/>
          </a:bodyPr>
          <a:lstStyle/>
          <a:p>
            <a:r>
              <a:rPr lang="en-US" sz="1200" noProof="0" dirty="0">
                <a:hlinkClick r:id="rId10"/>
              </a:rPr>
              <a:t>https://imagebind.metademolab.com/</a:t>
            </a:r>
            <a:r>
              <a:rPr lang="en-US" sz="1200" noProof="0" dirty="0"/>
              <a:t> </a:t>
            </a:r>
          </a:p>
        </p:txBody>
      </p:sp>
    </p:spTree>
    <p:extLst>
      <p:ext uri="{BB962C8B-B14F-4D97-AF65-F5344CB8AC3E}">
        <p14:creationId xmlns:p14="http://schemas.microsoft.com/office/powerpoint/2010/main" val="336019230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C955723D-18EF-5D18-EE95-5C6D15E72E24}"/>
              </a:ext>
            </a:extLst>
          </p:cNvPr>
          <p:cNvSpPr txBox="1"/>
          <p:nvPr/>
        </p:nvSpPr>
        <p:spPr>
          <a:xfrm>
            <a:off x="395536" y="332656"/>
            <a:ext cx="8267075" cy="1077218"/>
          </a:xfrm>
          <a:prstGeom prst="rect">
            <a:avLst/>
          </a:prstGeom>
          <a:noFill/>
        </p:spPr>
        <p:txBody>
          <a:bodyPr wrap="square" rtlCol="0">
            <a:spAutoFit/>
          </a:bodyPr>
          <a:lstStyle/>
          <a:p>
            <a:r>
              <a:rPr lang="en-US" sz="3200" noProof="0" dirty="0"/>
              <a:t>These learning techniques are mainly used when developing Deep Learning models</a:t>
            </a:r>
          </a:p>
        </p:txBody>
      </p:sp>
      <p:pic>
        <p:nvPicPr>
          <p:cNvPr id="4" name="Imagen 3">
            <a:extLst>
              <a:ext uri="{FF2B5EF4-FFF2-40B4-BE49-F238E27FC236}">
                <a16:creationId xmlns:a16="http://schemas.microsoft.com/office/drawing/2014/main" id="{020FD30F-24C5-E4FA-6388-D653E9942CE9}"/>
              </a:ext>
            </a:extLst>
          </p:cNvPr>
          <p:cNvPicPr>
            <a:picLocks noChangeAspect="1"/>
          </p:cNvPicPr>
          <p:nvPr/>
        </p:nvPicPr>
        <p:blipFill>
          <a:blip r:embed="rId2"/>
          <a:stretch>
            <a:fillRect/>
          </a:stretch>
        </p:blipFill>
        <p:spPr>
          <a:xfrm>
            <a:off x="270758" y="4611433"/>
            <a:ext cx="4258315" cy="1764325"/>
          </a:xfrm>
          <a:prstGeom prst="rect">
            <a:avLst/>
          </a:prstGeom>
        </p:spPr>
      </p:pic>
      <p:sp>
        <p:nvSpPr>
          <p:cNvPr id="6" name="CuadroTexto 5">
            <a:extLst>
              <a:ext uri="{FF2B5EF4-FFF2-40B4-BE49-F238E27FC236}">
                <a16:creationId xmlns:a16="http://schemas.microsoft.com/office/drawing/2014/main" id="{8496C089-1EB0-82F3-4710-7FF0C360CE42}"/>
              </a:ext>
            </a:extLst>
          </p:cNvPr>
          <p:cNvSpPr txBox="1"/>
          <p:nvPr/>
        </p:nvSpPr>
        <p:spPr>
          <a:xfrm>
            <a:off x="1323730" y="6504324"/>
            <a:ext cx="3582144" cy="338554"/>
          </a:xfrm>
          <a:prstGeom prst="rect">
            <a:avLst/>
          </a:prstGeom>
          <a:noFill/>
        </p:spPr>
        <p:txBody>
          <a:bodyPr wrap="square">
            <a:spAutoFit/>
          </a:bodyPr>
          <a:lstStyle/>
          <a:p>
            <a:r>
              <a:rPr lang="en-US" sz="1600" noProof="0" dirty="0">
                <a:hlinkClick r:id="rId3"/>
              </a:rPr>
              <a:t>https://arxiv.org/abs/2204.06125v1</a:t>
            </a:r>
            <a:r>
              <a:rPr lang="en-US" sz="1600" noProof="0" dirty="0"/>
              <a:t> </a:t>
            </a:r>
          </a:p>
        </p:txBody>
      </p:sp>
      <p:pic>
        <p:nvPicPr>
          <p:cNvPr id="7" name="Imagen 6">
            <a:extLst>
              <a:ext uri="{FF2B5EF4-FFF2-40B4-BE49-F238E27FC236}">
                <a16:creationId xmlns:a16="http://schemas.microsoft.com/office/drawing/2014/main" id="{A6C5B902-FDB3-9B84-4EEF-EECBE976BB86}"/>
              </a:ext>
            </a:extLst>
          </p:cNvPr>
          <p:cNvPicPr>
            <a:picLocks noChangeAspect="1"/>
          </p:cNvPicPr>
          <p:nvPr/>
        </p:nvPicPr>
        <p:blipFill>
          <a:blip r:embed="rId4"/>
          <a:stretch>
            <a:fillRect/>
          </a:stretch>
        </p:blipFill>
        <p:spPr>
          <a:xfrm>
            <a:off x="499929" y="1632004"/>
            <a:ext cx="4166961" cy="2736304"/>
          </a:xfrm>
          <a:prstGeom prst="rect">
            <a:avLst/>
          </a:prstGeom>
        </p:spPr>
      </p:pic>
      <p:pic>
        <p:nvPicPr>
          <p:cNvPr id="8" name="Imagen 7">
            <a:extLst>
              <a:ext uri="{FF2B5EF4-FFF2-40B4-BE49-F238E27FC236}">
                <a16:creationId xmlns:a16="http://schemas.microsoft.com/office/drawing/2014/main" id="{18E80998-795D-2783-8A28-768E92EBE96F}"/>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712568" y="1610609"/>
            <a:ext cx="4298361" cy="2346489"/>
          </a:xfrm>
          <a:prstGeom prst="rect">
            <a:avLst/>
          </a:prstGeom>
        </p:spPr>
      </p:pic>
      <p:pic>
        <p:nvPicPr>
          <p:cNvPr id="10" name="Imagen 9">
            <a:extLst>
              <a:ext uri="{FF2B5EF4-FFF2-40B4-BE49-F238E27FC236}">
                <a16:creationId xmlns:a16="http://schemas.microsoft.com/office/drawing/2014/main" id="{07D1DC46-0085-B9BC-F676-4EA825080E6C}"/>
              </a:ext>
            </a:extLst>
          </p:cNvPr>
          <p:cNvPicPr>
            <a:picLocks noChangeAspect="1"/>
          </p:cNvPicPr>
          <p:nvPr/>
        </p:nvPicPr>
        <p:blipFill>
          <a:blip r:embed="rId6"/>
          <a:stretch>
            <a:fillRect/>
          </a:stretch>
        </p:blipFill>
        <p:spPr>
          <a:xfrm>
            <a:off x="4905874" y="4314206"/>
            <a:ext cx="4146040" cy="2073020"/>
          </a:xfrm>
          <a:prstGeom prst="rect">
            <a:avLst/>
          </a:prstGeom>
        </p:spPr>
      </p:pic>
    </p:spTree>
    <p:extLst>
      <p:ext uri="{BB962C8B-B14F-4D97-AF65-F5344CB8AC3E}">
        <p14:creationId xmlns:p14="http://schemas.microsoft.com/office/powerpoint/2010/main" val="26543949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9D309A-5140-F5ED-C6BD-64FC73619982}"/>
              </a:ext>
            </a:extLst>
          </p:cNvPr>
          <p:cNvSpPr txBox="1"/>
          <p:nvPr/>
        </p:nvSpPr>
        <p:spPr>
          <a:xfrm>
            <a:off x="107504" y="332656"/>
            <a:ext cx="8928992" cy="507831"/>
          </a:xfrm>
          <a:prstGeom prst="rect">
            <a:avLst/>
          </a:prstGeom>
          <a:noFill/>
        </p:spPr>
        <p:txBody>
          <a:bodyPr wrap="square" rtlCol="0">
            <a:spAutoFit/>
          </a:bodyPr>
          <a:lstStyle/>
          <a:p>
            <a:r>
              <a:rPr lang="en-US" sz="2700" noProof="0" dirty="0"/>
              <a:t>FIRST ASSIGNMENT – Learning Techniques in Machine Learning</a:t>
            </a:r>
          </a:p>
        </p:txBody>
      </p:sp>
      <p:sp>
        <p:nvSpPr>
          <p:cNvPr id="5" name="TextBox 4">
            <a:extLst>
              <a:ext uri="{FF2B5EF4-FFF2-40B4-BE49-F238E27FC236}">
                <a16:creationId xmlns:a16="http://schemas.microsoft.com/office/drawing/2014/main" id="{36F31DD2-B316-8B0F-8E94-E8DDAAE9DB68}"/>
              </a:ext>
            </a:extLst>
          </p:cNvPr>
          <p:cNvSpPr txBox="1"/>
          <p:nvPr/>
        </p:nvSpPr>
        <p:spPr>
          <a:xfrm>
            <a:off x="251520" y="1196752"/>
            <a:ext cx="8208912" cy="5170646"/>
          </a:xfrm>
          <a:prstGeom prst="rect">
            <a:avLst/>
          </a:prstGeom>
          <a:noFill/>
        </p:spPr>
        <p:txBody>
          <a:bodyPr wrap="square" rtlCol="0">
            <a:spAutoFit/>
          </a:bodyPr>
          <a:lstStyle/>
          <a:p>
            <a:r>
              <a:rPr lang="en-US" b="1" noProof="0" dirty="0"/>
              <a:t>Groups of 3 or 4 people</a:t>
            </a:r>
          </a:p>
          <a:p>
            <a:endParaRPr lang="en-US" sz="1200" noProof="0" dirty="0"/>
          </a:p>
          <a:p>
            <a:pPr marL="214313" indent="-214313">
              <a:buFont typeface="Wingdings" panose="05000000000000000000" pitchFamily="2" charset="2"/>
              <a:buChar char="à"/>
            </a:pPr>
            <a:r>
              <a:rPr lang="en-US" sz="1600" noProof="0" dirty="0"/>
              <a:t>Research on already explained types (classical categorization):</a:t>
            </a:r>
          </a:p>
          <a:p>
            <a:pPr marL="557213" lvl="1" indent="-214313">
              <a:buFont typeface="Arial" panose="020B0604020202020204" pitchFamily="34" charset="0"/>
              <a:buChar char="•"/>
            </a:pPr>
            <a:r>
              <a:rPr lang="en-US" sz="1600" noProof="0" dirty="0"/>
              <a:t>supervised, </a:t>
            </a:r>
          </a:p>
          <a:p>
            <a:pPr marL="557213" lvl="1" indent="-214313">
              <a:buFont typeface="Arial" panose="020B0604020202020204" pitchFamily="34" charset="0"/>
              <a:buChar char="•"/>
            </a:pPr>
            <a:r>
              <a:rPr lang="en-US" sz="1600" noProof="0" dirty="0"/>
              <a:t>unsupervised </a:t>
            </a:r>
          </a:p>
          <a:p>
            <a:pPr marL="557213" lvl="1" indent="-214313">
              <a:buFont typeface="Arial" panose="020B0604020202020204" pitchFamily="34" charset="0"/>
              <a:buChar char="•"/>
            </a:pPr>
            <a:r>
              <a:rPr lang="en-US" sz="1600" noProof="0" dirty="0"/>
              <a:t>and reinforcement learning.</a:t>
            </a:r>
          </a:p>
          <a:p>
            <a:pPr lvl="1"/>
            <a:r>
              <a:rPr lang="en-US" sz="1600" noProof="0" dirty="0">
                <a:sym typeface="Wingdings" panose="05000000000000000000" pitchFamily="2" charset="2"/>
              </a:rPr>
              <a:t> </a:t>
            </a:r>
          </a:p>
          <a:p>
            <a:pPr lvl="1"/>
            <a:endParaRPr lang="en-US" sz="1600" noProof="0" dirty="0"/>
          </a:p>
          <a:p>
            <a:pPr marL="214313" indent="-214313">
              <a:buFont typeface="Wingdings" panose="05000000000000000000" pitchFamily="2" charset="2"/>
              <a:buChar char="à"/>
            </a:pPr>
            <a:r>
              <a:rPr lang="en-US" sz="1600" noProof="0" dirty="0"/>
              <a:t>Extend the research by exploring </a:t>
            </a:r>
            <a:r>
              <a:rPr lang="en-US" sz="1600" b="1" u="sng" noProof="0" dirty="0"/>
              <a:t>one</a:t>
            </a:r>
            <a:r>
              <a:rPr lang="en-US" sz="1600" noProof="0" dirty="0"/>
              <a:t> additional modern learning paradigm:</a:t>
            </a:r>
          </a:p>
          <a:p>
            <a:pPr marL="557213" lvl="1" indent="-214313">
              <a:buFont typeface="Arial" panose="020B0604020202020204" pitchFamily="34" charset="0"/>
              <a:buChar char="•"/>
            </a:pPr>
            <a:r>
              <a:rPr lang="en-US" sz="1600" noProof="0" dirty="0"/>
              <a:t>Transfer learning, </a:t>
            </a:r>
          </a:p>
          <a:p>
            <a:pPr marL="557213" lvl="1" indent="-214313">
              <a:buFont typeface="Arial" panose="020B0604020202020204" pitchFamily="34" charset="0"/>
              <a:buChar char="•"/>
            </a:pPr>
            <a:r>
              <a:rPr lang="en-US" sz="1600" noProof="0" dirty="0"/>
              <a:t>Contrastive learning,</a:t>
            </a:r>
          </a:p>
          <a:p>
            <a:pPr marL="557213" lvl="1" indent="-214313">
              <a:buFont typeface="Arial" panose="020B0604020202020204" pitchFamily="34" charset="0"/>
              <a:buChar char="•"/>
            </a:pPr>
            <a:r>
              <a:rPr lang="en-US" sz="1600" noProof="0" dirty="0"/>
              <a:t>Meta-learning,</a:t>
            </a:r>
          </a:p>
          <a:p>
            <a:pPr marL="557213" lvl="1" indent="-214313">
              <a:buFont typeface="Arial" panose="020B0604020202020204" pitchFamily="34" charset="0"/>
              <a:buChar char="•"/>
            </a:pPr>
            <a:r>
              <a:rPr lang="en-US" sz="1600" noProof="0" dirty="0"/>
              <a:t>Self-supervised learning,</a:t>
            </a:r>
          </a:p>
          <a:p>
            <a:pPr marL="557213" lvl="1" indent="-214313">
              <a:buFont typeface="Arial" panose="020B0604020202020204" pitchFamily="34" charset="0"/>
              <a:buChar char="•"/>
            </a:pPr>
            <a:r>
              <a:rPr lang="en-US" sz="1600" noProof="0" dirty="0"/>
              <a:t>Semi-supervised learning,</a:t>
            </a:r>
          </a:p>
          <a:p>
            <a:pPr marL="557213" lvl="1" indent="-214313">
              <a:buFont typeface="Arial" panose="020B0604020202020204" pitchFamily="34" charset="0"/>
              <a:buChar char="•"/>
            </a:pPr>
            <a:r>
              <a:rPr lang="en-US" sz="1600" noProof="0" dirty="0"/>
              <a:t>Zero-shot/few-shot learning,</a:t>
            </a:r>
          </a:p>
          <a:p>
            <a:pPr marL="557213" lvl="1" indent="-214313">
              <a:buFont typeface="Arial" panose="020B0604020202020204" pitchFamily="34" charset="0"/>
              <a:buChar char="•"/>
            </a:pPr>
            <a:r>
              <a:rPr lang="en-US" sz="1600" noProof="0" dirty="0"/>
              <a:t>Multi-task learning,</a:t>
            </a:r>
          </a:p>
          <a:p>
            <a:pPr marL="557213" lvl="1" indent="-214313">
              <a:buFont typeface="Arial" panose="020B0604020202020204" pitchFamily="34" charset="0"/>
              <a:buChar char="•"/>
            </a:pPr>
            <a:r>
              <a:rPr lang="en-US" sz="1600" noProof="0" dirty="0"/>
              <a:t>Active learning,</a:t>
            </a:r>
          </a:p>
          <a:p>
            <a:pPr marL="557213" lvl="1" indent="-214313">
              <a:buFont typeface="Arial" panose="020B0604020202020204" pitchFamily="34" charset="0"/>
              <a:buChar char="•"/>
            </a:pPr>
            <a:r>
              <a:rPr lang="en-US" sz="1600" noProof="0" dirty="0"/>
              <a:t>Online learning,</a:t>
            </a:r>
          </a:p>
          <a:p>
            <a:pPr marL="557213" lvl="1" indent="-214313">
              <a:buFont typeface="Arial" panose="020B0604020202020204" pitchFamily="34" charset="0"/>
              <a:buChar char="•"/>
            </a:pPr>
            <a:r>
              <a:rPr lang="en-US" sz="1600" noProof="0" dirty="0"/>
              <a:t>Ensemble learning,</a:t>
            </a:r>
          </a:p>
          <a:p>
            <a:pPr marL="557213" lvl="1" indent="-214313">
              <a:buFont typeface="Arial" panose="020B0604020202020204" pitchFamily="34" charset="0"/>
              <a:buChar char="•"/>
            </a:pPr>
            <a:r>
              <a:rPr lang="en-US" sz="1600" noProof="0" dirty="0"/>
              <a:t>…	</a:t>
            </a:r>
          </a:p>
        </p:txBody>
      </p:sp>
    </p:spTree>
    <p:extLst>
      <p:ext uri="{BB962C8B-B14F-4D97-AF65-F5344CB8AC3E}">
        <p14:creationId xmlns:p14="http://schemas.microsoft.com/office/powerpoint/2010/main" val="38513243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0788F-975A-1460-F3C5-F7A62DBDE61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EE4EB12-8FC8-B5A3-EBDD-B4BE5F02B20D}"/>
              </a:ext>
            </a:extLst>
          </p:cNvPr>
          <p:cNvSpPr txBox="1"/>
          <p:nvPr/>
        </p:nvSpPr>
        <p:spPr>
          <a:xfrm>
            <a:off x="107504" y="332656"/>
            <a:ext cx="8928992" cy="507831"/>
          </a:xfrm>
          <a:prstGeom prst="rect">
            <a:avLst/>
          </a:prstGeom>
          <a:noFill/>
        </p:spPr>
        <p:txBody>
          <a:bodyPr wrap="square" rtlCol="0">
            <a:spAutoFit/>
          </a:bodyPr>
          <a:lstStyle/>
          <a:p>
            <a:r>
              <a:rPr lang="en-US" sz="2700" noProof="0" dirty="0"/>
              <a:t>FIRST ASSIGNMENT – Learning Techniques in Machine Learning</a:t>
            </a:r>
          </a:p>
        </p:txBody>
      </p:sp>
      <p:sp>
        <p:nvSpPr>
          <p:cNvPr id="5" name="TextBox 4">
            <a:extLst>
              <a:ext uri="{FF2B5EF4-FFF2-40B4-BE49-F238E27FC236}">
                <a16:creationId xmlns:a16="http://schemas.microsoft.com/office/drawing/2014/main" id="{17C65E7B-80A9-62EA-0212-43E9FF67A621}"/>
              </a:ext>
            </a:extLst>
          </p:cNvPr>
          <p:cNvSpPr txBox="1"/>
          <p:nvPr/>
        </p:nvSpPr>
        <p:spPr>
          <a:xfrm>
            <a:off x="251520" y="1196752"/>
            <a:ext cx="8208912" cy="3554819"/>
          </a:xfrm>
          <a:prstGeom prst="rect">
            <a:avLst/>
          </a:prstGeom>
          <a:noFill/>
        </p:spPr>
        <p:txBody>
          <a:bodyPr wrap="square" rtlCol="0">
            <a:spAutoFit/>
          </a:bodyPr>
          <a:lstStyle/>
          <a:p>
            <a:pPr marL="0" lvl="1"/>
            <a:r>
              <a:rPr lang="en-US" b="1" dirty="0"/>
              <a:t>Tasks for each group</a:t>
            </a:r>
          </a:p>
          <a:p>
            <a:pPr marL="0" lvl="1"/>
            <a:endParaRPr lang="en-US" sz="1500" b="1" dirty="0"/>
          </a:p>
          <a:p>
            <a:pPr marL="0" lvl="1"/>
            <a:r>
              <a:rPr lang="en-US" sz="1600" dirty="0">
                <a:sym typeface="Wingdings" panose="05000000000000000000" pitchFamily="2" charset="2"/>
              </a:rPr>
              <a:t> </a:t>
            </a:r>
            <a:r>
              <a:rPr lang="en-US" sz="1600" dirty="0"/>
              <a:t>Overview of classical learning type:</a:t>
            </a:r>
          </a:p>
          <a:p>
            <a:pPr marL="557213" lvl="2" indent="-214313">
              <a:buFont typeface="Arial" panose="020B0604020202020204" pitchFamily="34" charset="0"/>
              <a:buChar char="•"/>
            </a:pPr>
            <a:r>
              <a:rPr lang="en-US" sz="1600" dirty="0"/>
              <a:t>main idea or intuition,</a:t>
            </a:r>
          </a:p>
          <a:p>
            <a:pPr marL="557213" lvl="2" indent="-214313">
              <a:buFont typeface="Arial" panose="020B0604020202020204" pitchFamily="34" charset="0"/>
              <a:buChar char="•"/>
            </a:pPr>
            <a:r>
              <a:rPr lang="en-US" sz="1600" dirty="0"/>
              <a:t>typical algorithms/models,</a:t>
            </a:r>
          </a:p>
          <a:p>
            <a:pPr marL="557213" lvl="2" indent="-214313">
              <a:buFont typeface="Arial" panose="020B0604020202020204" pitchFamily="34" charset="0"/>
              <a:buChar char="•"/>
            </a:pPr>
            <a:r>
              <a:rPr lang="en-US" sz="1600" dirty="0"/>
              <a:t>application examples</a:t>
            </a:r>
          </a:p>
          <a:p>
            <a:pPr marL="342900" lvl="2"/>
            <a:endParaRPr lang="en-US" sz="1600" dirty="0"/>
          </a:p>
          <a:p>
            <a:pPr marL="342900" lvl="2"/>
            <a:endParaRPr lang="en-US" sz="1600" dirty="0"/>
          </a:p>
          <a:p>
            <a:pPr marL="0" lvl="2"/>
            <a:r>
              <a:rPr lang="en-US" sz="1600" dirty="0">
                <a:sym typeface="Wingdings" panose="05000000000000000000" pitchFamily="2" charset="2"/>
              </a:rPr>
              <a:t> </a:t>
            </a:r>
            <a:r>
              <a:rPr lang="en-US" sz="1600" dirty="0"/>
              <a:t>Advanced paradigm:</a:t>
            </a:r>
          </a:p>
          <a:p>
            <a:pPr marL="557213" lvl="3" indent="-214313">
              <a:buFont typeface="Arial" panose="020B0604020202020204" pitchFamily="34" charset="0"/>
              <a:buChar char="•"/>
            </a:pPr>
            <a:r>
              <a:rPr lang="en-US" sz="1600" dirty="0"/>
              <a:t>definition, concept explanation	</a:t>
            </a:r>
          </a:p>
          <a:p>
            <a:pPr marL="557213" lvl="3" indent="-214313">
              <a:buFont typeface="Arial" panose="020B0604020202020204" pitchFamily="34" charset="0"/>
              <a:buChar char="•"/>
            </a:pPr>
            <a:r>
              <a:rPr lang="en-US" sz="1600" dirty="0"/>
              <a:t>how does it differ from the classical paradigms? does it overlap with any of the classical paradigms?</a:t>
            </a:r>
          </a:p>
          <a:p>
            <a:pPr marL="557213" lvl="3" indent="-214313">
              <a:buFont typeface="Arial" panose="020B0604020202020204" pitchFamily="34" charset="0"/>
              <a:buChar char="•"/>
            </a:pPr>
            <a:r>
              <a:rPr lang="en-US" sz="1600" dirty="0"/>
              <a:t>representative models or approaches</a:t>
            </a:r>
          </a:p>
          <a:p>
            <a:pPr marL="557213" lvl="3" indent="-214313">
              <a:buFont typeface="Arial" panose="020B0604020202020204" pitchFamily="34" charset="0"/>
              <a:buChar char="•"/>
            </a:pPr>
            <a:r>
              <a:rPr lang="en-US" sz="1600" dirty="0"/>
              <a:t>provide some applications in different domains if possible</a:t>
            </a:r>
          </a:p>
        </p:txBody>
      </p:sp>
      <p:pic>
        <p:nvPicPr>
          <p:cNvPr id="2" name="Imagen 3">
            <a:extLst>
              <a:ext uri="{FF2B5EF4-FFF2-40B4-BE49-F238E27FC236}">
                <a16:creationId xmlns:a16="http://schemas.microsoft.com/office/drawing/2014/main" id="{6E718C6B-000E-6FC3-CE3D-2FE8FE51873F}"/>
              </a:ext>
            </a:extLst>
          </p:cNvPr>
          <p:cNvPicPr>
            <a:picLocks noChangeAspect="1"/>
          </p:cNvPicPr>
          <p:nvPr/>
        </p:nvPicPr>
        <p:blipFill>
          <a:blip r:embed="rId2"/>
          <a:stretch>
            <a:fillRect/>
          </a:stretch>
        </p:blipFill>
        <p:spPr>
          <a:xfrm>
            <a:off x="6328524" y="5229200"/>
            <a:ext cx="2686050" cy="1170920"/>
          </a:xfrm>
          <a:prstGeom prst="rect">
            <a:avLst/>
          </a:prstGeom>
        </p:spPr>
      </p:pic>
      <p:sp>
        <p:nvSpPr>
          <p:cNvPr id="3" name="CuadroTexto 7">
            <a:extLst>
              <a:ext uri="{FF2B5EF4-FFF2-40B4-BE49-F238E27FC236}">
                <a16:creationId xmlns:a16="http://schemas.microsoft.com/office/drawing/2014/main" id="{E907498E-8EF7-02A0-8593-687AD530E789}"/>
              </a:ext>
            </a:extLst>
          </p:cNvPr>
          <p:cNvSpPr txBox="1"/>
          <p:nvPr/>
        </p:nvSpPr>
        <p:spPr>
          <a:xfrm>
            <a:off x="6718354" y="6480224"/>
            <a:ext cx="1906389" cy="253916"/>
          </a:xfrm>
          <a:prstGeom prst="rect">
            <a:avLst/>
          </a:prstGeom>
          <a:noFill/>
        </p:spPr>
        <p:txBody>
          <a:bodyPr wrap="square">
            <a:spAutoFit/>
          </a:bodyPr>
          <a:lstStyle/>
          <a:p>
            <a:pPr algn="ctr"/>
            <a:r>
              <a:rPr lang="en-US" sz="1050" noProof="0" dirty="0">
                <a:hlinkClick r:id="rId3"/>
              </a:rPr>
              <a:t>https://huggingface.co/</a:t>
            </a:r>
            <a:r>
              <a:rPr lang="en-US" sz="1050" noProof="0" dirty="0"/>
              <a:t> </a:t>
            </a:r>
          </a:p>
        </p:txBody>
      </p:sp>
      <p:sp>
        <p:nvSpPr>
          <p:cNvPr id="6" name="TextBox 5">
            <a:extLst>
              <a:ext uri="{FF2B5EF4-FFF2-40B4-BE49-F238E27FC236}">
                <a16:creationId xmlns:a16="http://schemas.microsoft.com/office/drawing/2014/main" id="{6531F48E-799E-BB51-2D72-46D9F5976132}"/>
              </a:ext>
            </a:extLst>
          </p:cNvPr>
          <p:cNvSpPr txBox="1"/>
          <p:nvPr/>
        </p:nvSpPr>
        <p:spPr>
          <a:xfrm>
            <a:off x="251520" y="5089402"/>
            <a:ext cx="7265194" cy="1477328"/>
          </a:xfrm>
          <a:prstGeom prst="rect">
            <a:avLst/>
          </a:prstGeom>
          <a:noFill/>
        </p:spPr>
        <p:txBody>
          <a:bodyPr wrap="square" rtlCol="0">
            <a:spAutoFit/>
          </a:bodyPr>
          <a:lstStyle/>
          <a:p>
            <a:r>
              <a:rPr lang="en-US" sz="2000" b="1" noProof="0" dirty="0">
                <a:solidFill>
                  <a:schemeClr val="accent5">
                    <a:lumMod val="60000"/>
                    <a:lumOff val="40000"/>
                  </a:schemeClr>
                </a:solidFill>
              </a:rPr>
              <a:t>           Coding possibility!!!</a:t>
            </a:r>
            <a:endParaRPr lang="en-US" sz="2000" b="1" noProof="0" dirty="0">
              <a:solidFill>
                <a:srgbClr val="FF0000"/>
              </a:solidFill>
            </a:endParaRPr>
          </a:p>
          <a:p>
            <a:endParaRPr lang="en-US" sz="1400" b="1" noProof="0" dirty="0">
              <a:solidFill>
                <a:schemeClr val="accent4">
                  <a:lumMod val="75000"/>
                </a:schemeClr>
              </a:solidFill>
            </a:endParaRPr>
          </a:p>
          <a:p>
            <a:r>
              <a:rPr lang="en-US" sz="1400" b="1" noProof="0" dirty="0">
                <a:solidFill>
                  <a:schemeClr val="accent4">
                    <a:lumMod val="75000"/>
                  </a:schemeClr>
                </a:solidFill>
              </a:rPr>
              <a:t>If comfortable with programming </a:t>
            </a:r>
            <a:r>
              <a:rPr lang="en-US" sz="1400" noProof="0" dirty="0">
                <a:sym typeface="Wingdings" panose="05000000000000000000" pitchFamily="2" charset="2"/>
              </a:rPr>
              <a:t> implement a simple demo </a:t>
            </a:r>
          </a:p>
          <a:p>
            <a:r>
              <a:rPr lang="en-US" sz="1400" noProof="0" dirty="0">
                <a:sym typeface="Wingdings" panose="05000000000000000000" pitchFamily="2" charset="2"/>
              </a:rPr>
              <a:t>(e.g., with </a:t>
            </a:r>
            <a:r>
              <a:rPr lang="en-US" sz="1400" noProof="0" dirty="0" err="1">
                <a:sym typeface="Wingdings" panose="05000000000000000000" pitchFamily="2" charset="2"/>
              </a:rPr>
              <a:t>sklearn</a:t>
            </a:r>
            <a:r>
              <a:rPr lang="en-US" sz="1400" noProof="0" dirty="0">
                <a:sym typeface="Wingdings" panose="05000000000000000000" pitchFamily="2" charset="2"/>
              </a:rPr>
              <a:t> package and </a:t>
            </a:r>
            <a:r>
              <a:rPr lang="en-US" sz="1400" noProof="0" dirty="0" err="1">
                <a:sym typeface="Wingdings" panose="05000000000000000000" pitchFamily="2" charset="2"/>
              </a:rPr>
              <a:t>Keras</a:t>
            </a:r>
            <a:r>
              <a:rPr lang="en-US" sz="1400" noProof="0" dirty="0">
                <a:sym typeface="Wingdings" panose="05000000000000000000" pitchFamily="2" charset="2"/>
              </a:rPr>
              <a:t>/</a:t>
            </a:r>
            <a:r>
              <a:rPr lang="en-US" sz="1400" noProof="0" dirty="0" err="1">
                <a:sym typeface="Wingdings" panose="05000000000000000000" pitchFamily="2" charset="2"/>
              </a:rPr>
              <a:t>Tensoflow</a:t>
            </a:r>
            <a:r>
              <a:rPr lang="en-US" sz="1400" noProof="0" dirty="0">
                <a:sym typeface="Wingdings" panose="05000000000000000000" pitchFamily="2" charset="2"/>
              </a:rPr>
              <a:t>/</a:t>
            </a:r>
            <a:r>
              <a:rPr lang="en-US" sz="1400" noProof="0" dirty="0" err="1">
                <a:sym typeface="Wingdings" panose="05000000000000000000" pitchFamily="2" charset="2"/>
              </a:rPr>
              <a:t>Pytorch</a:t>
            </a:r>
            <a:r>
              <a:rPr lang="en-US" sz="1400" noProof="0" dirty="0">
                <a:sym typeface="Wingdings" panose="05000000000000000000" pitchFamily="2" charset="2"/>
              </a:rPr>
              <a:t> frameworks)</a:t>
            </a:r>
          </a:p>
          <a:p>
            <a:endParaRPr lang="en-US" sz="1400" noProof="0" dirty="0">
              <a:sym typeface="Wingdings" panose="05000000000000000000" pitchFamily="2" charset="2"/>
            </a:endParaRPr>
          </a:p>
          <a:p>
            <a:r>
              <a:rPr lang="en-US" sz="1400" b="1" noProof="0" dirty="0">
                <a:solidFill>
                  <a:schemeClr val="accent4">
                    <a:lumMod val="75000"/>
                  </a:schemeClr>
                </a:solidFill>
                <a:sym typeface="Wingdings" panose="05000000000000000000" pitchFamily="2" charset="2"/>
              </a:rPr>
              <a:t>If not </a:t>
            </a:r>
            <a:r>
              <a:rPr lang="en-US" sz="1400" noProof="0" dirty="0">
                <a:sym typeface="Wingdings" panose="05000000000000000000" pitchFamily="2" charset="2"/>
              </a:rPr>
              <a:t> explore existing demos (e.g., </a:t>
            </a:r>
            <a:r>
              <a:rPr lang="en-US" sz="1400" noProof="0" dirty="0" err="1">
                <a:sym typeface="Wingdings" panose="05000000000000000000" pitchFamily="2" charset="2"/>
              </a:rPr>
              <a:t>HuggingFace</a:t>
            </a:r>
            <a:r>
              <a:rPr lang="en-US" sz="1400" noProof="0" dirty="0">
                <a:sym typeface="Wingdings" panose="05000000000000000000" pitchFamily="2" charset="2"/>
              </a:rPr>
              <a:t>, Google </a:t>
            </a:r>
            <a:r>
              <a:rPr lang="en-US" sz="1400" noProof="0" dirty="0" err="1">
                <a:sym typeface="Wingdings" panose="05000000000000000000" pitchFamily="2" charset="2"/>
              </a:rPr>
              <a:t>Colab</a:t>
            </a:r>
            <a:r>
              <a:rPr lang="en-US" sz="1400" noProof="0" dirty="0">
                <a:sym typeface="Wingdings" panose="05000000000000000000" pitchFamily="2" charset="2"/>
              </a:rPr>
              <a:t> notebooks)</a:t>
            </a:r>
            <a:endParaRPr lang="en-US" sz="1400" noProof="0" dirty="0"/>
          </a:p>
        </p:txBody>
      </p:sp>
      <p:pic>
        <p:nvPicPr>
          <p:cNvPr id="7" name="Graphic 6" descr="Warning outline">
            <a:extLst>
              <a:ext uri="{FF2B5EF4-FFF2-40B4-BE49-F238E27FC236}">
                <a16:creationId xmlns:a16="http://schemas.microsoft.com/office/drawing/2014/main" id="{4DCE9921-8927-FCE2-18D3-B506A5B4A8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9552" y="5022031"/>
            <a:ext cx="414338" cy="414338"/>
          </a:xfrm>
          <a:prstGeom prst="rect">
            <a:avLst/>
          </a:prstGeom>
        </p:spPr>
      </p:pic>
      <p:pic>
        <p:nvPicPr>
          <p:cNvPr id="8" name="Graphic 7" descr="Programmer female outline">
            <a:extLst>
              <a:ext uri="{FF2B5EF4-FFF2-40B4-BE49-F238E27FC236}">
                <a16:creationId xmlns:a16="http://schemas.microsoft.com/office/drawing/2014/main" id="{2F59A509-F916-4368-7ADE-0D246B96283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17920" y="4268433"/>
            <a:ext cx="907256" cy="907256"/>
          </a:xfrm>
          <a:prstGeom prst="rect">
            <a:avLst/>
          </a:prstGeom>
        </p:spPr>
      </p:pic>
    </p:spTree>
    <p:extLst>
      <p:ext uri="{BB962C8B-B14F-4D97-AF65-F5344CB8AC3E}">
        <p14:creationId xmlns:p14="http://schemas.microsoft.com/office/powerpoint/2010/main" val="5139721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28CD4-F352-CE57-5208-95712C34CAE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3AA6F9-110E-9065-FB52-E5484494643C}"/>
              </a:ext>
            </a:extLst>
          </p:cNvPr>
          <p:cNvSpPr txBox="1"/>
          <p:nvPr/>
        </p:nvSpPr>
        <p:spPr>
          <a:xfrm>
            <a:off x="107504" y="332656"/>
            <a:ext cx="8928992" cy="507831"/>
          </a:xfrm>
          <a:prstGeom prst="rect">
            <a:avLst/>
          </a:prstGeom>
          <a:noFill/>
        </p:spPr>
        <p:txBody>
          <a:bodyPr wrap="square" rtlCol="0">
            <a:spAutoFit/>
          </a:bodyPr>
          <a:lstStyle/>
          <a:p>
            <a:r>
              <a:rPr lang="en-US" sz="2700" noProof="0" dirty="0"/>
              <a:t>FIRST ASSIGNMENT – Learning Techniques in Machine Learning</a:t>
            </a:r>
          </a:p>
        </p:txBody>
      </p:sp>
      <p:sp>
        <p:nvSpPr>
          <p:cNvPr id="5" name="TextBox 4">
            <a:extLst>
              <a:ext uri="{FF2B5EF4-FFF2-40B4-BE49-F238E27FC236}">
                <a16:creationId xmlns:a16="http://schemas.microsoft.com/office/drawing/2014/main" id="{65FB42BB-F8C5-D441-0AB2-7C35279CAD63}"/>
              </a:ext>
            </a:extLst>
          </p:cNvPr>
          <p:cNvSpPr txBox="1"/>
          <p:nvPr/>
        </p:nvSpPr>
        <p:spPr>
          <a:xfrm>
            <a:off x="215516" y="980728"/>
            <a:ext cx="8208912" cy="2862322"/>
          </a:xfrm>
          <a:prstGeom prst="rect">
            <a:avLst/>
          </a:prstGeom>
          <a:noFill/>
        </p:spPr>
        <p:txBody>
          <a:bodyPr wrap="square" rtlCol="0">
            <a:spAutoFit/>
          </a:bodyPr>
          <a:lstStyle/>
          <a:p>
            <a:pPr marL="0" lvl="1"/>
            <a:r>
              <a:rPr lang="en-US" sz="2800" b="1" dirty="0"/>
              <a:t>Deliverables</a:t>
            </a:r>
          </a:p>
          <a:p>
            <a:pPr marL="0" lvl="1"/>
            <a:endParaRPr lang="en-US" sz="3200" b="1" dirty="0"/>
          </a:p>
          <a:p>
            <a:pPr marL="214313" lvl="1" indent="-214313">
              <a:buFont typeface="Wingdings" panose="05000000000000000000" pitchFamily="2" charset="2"/>
              <a:buChar char="à"/>
            </a:pPr>
            <a:r>
              <a:rPr lang="en-US" sz="2400" dirty="0"/>
              <a:t>Written report (PRDL)</a:t>
            </a:r>
          </a:p>
          <a:p>
            <a:pPr marL="0" lvl="1"/>
            <a:endParaRPr lang="en-US" sz="2400" dirty="0"/>
          </a:p>
          <a:p>
            <a:pPr marL="214313" lvl="1" indent="-214313">
              <a:buFont typeface="Wingdings" panose="05000000000000000000" pitchFamily="2" charset="2"/>
              <a:buChar char="à"/>
            </a:pPr>
            <a:r>
              <a:rPr lang="en-US" sz="2400" dirty="0"/>
              <a:t>Practical experiments (MLLB)</a:t>
            </a:r>
          </a:p>
          <a:p>
            <a:pPr marL="0" lvl="1"/>
            <a:endParaRPr lang="en-US" sz="2400" dirty="0"/>
          </a:p>
          <a:p>
            <a:pPr marL="214313" lvl="1" indent="-214313">
              <a:buFont typeface="Wingdings" panose="05000000000000000000" pitchFamily="2" charset="2"/>
              <a:buChar char="à"/>
            </a:pPr>
            <a:r>
              <a:rPr lang="en-US" sz="2400" dirty="0"/>
              <a:t>5-10 minutes </a:t>
            </a:r>
            <a:r>
              <a:rPr lang="en-US" sz="2400" b="1" u="sng" dirty="0"/>
              <a:t>in-class presentation </a:t>
            </a:r>
            <a:r>
              <a:rPr lang="en-US" sz="2400" dirty="0"/>
              <a:t>per group</a:t>
            </a:r>
            <a:endParaRPr lang="en-US" sz="1600" dirty="0"/>
          </a:p>
        </p:txBody>
      </p:sp>
      <p:sp>
        <p:nvSpPr>
          <p:cNvPr id="2" name="CuadroTexto 4">
            <a:extLst>
              <a:ext uri="{FF2B5EF4-FFF2-40B4-BE49-F238E27FC236}">
                <a16:creationId xmlns:a16="http://schemas.microsoft.com/office/drawing/2014/main" id="{72BE7F20-EC57-E023-DA3F-61EFFE3F1BDB}"/>
              </a:ext>
            </a:extLst>
          </p:cNvPr>
          <p:cNvSpPr txBox="1"/>
          <p:nvPr/>
        </p:nvSpPr>
        <p:spPr>
          <a:xfrm>
            <a:off x="704229" y="3843050"/>
            <a:ext cx="7704856" cy="2862322"/>
          </a:xfrm>
          <a:prstGeom prst="rect">
            <a:avLst/>
          </a:prstGeom>
          <a:solidFill>
            <a:srgbClr val="FEF4FA"/>
          </a:solidFill>
        </p:spPr>
        <p:txBody>
          <a:bodyPr wrap="square">
            <a:spAutoFit/>
          </a:bodyPr>
          <a:lstStyle/>
          <a:p>
            <a:pPr algn="ctr"/>
            <a:r>
              <a:rPr lang="en-US" sz="2000" b="1" u="sng" noProof="0" dirty="0">
                <a:solidFill>
                  <a:schemeClr val="accent5">
                    <a:lumMod val="75000"/>
                  </a:schemeClr>
                </a:solidFill>
                <a:latin typeface="Aptos" panose="020B0004020202020204" pitchFamily="34" charset="0"/>
              </a:rPr>
              <a:t>IMPORTANT NOTES</a:t>
            </a:r>
            <a:endParaRPr lang="en-US" sz="2000" u="sng" noProof="0" dirty="0">
              <a:solidFill>
                <a:schemeClr val="accent5">
                  <a:lumMod val="75000"/>
                </a:schemeClr>
              </a:solidFill>
              <a:latin typeface="Aptos" panose="020B0004020202020204" pitchFamily="34" charset="0"/>
            </a:endParaRPr>
          </a:p>
          <a:p>
            <a:endParaRPr lang="en-US" sz="2000" noProof="0" dirty="0">
              <a:solidFill>
                <a:schemeClr val="accent5">
                  <a:lumMod val="75000"/>
                </a:schemeClr>
              </a:solidFill>
              <a:latin typeface="Aptos" panose="020B0004020202020204" pitchFamily="34" charset="0"/>
            </a:endParaRPr>
          </a:p>
          <a:p>
            <a:pPr marL="214313" indent="-214313">
              <a:buFont typeface="Arial" panose="020B0604020202020204" pitchFamily="34" charset="0"/>
              <a:buChar char="•"/>
            </a:pPr>
            <a:r>
              <a:rPr lang="en-US" noProof="0" dirty="0">
                <a:latin typeface="Aptos" panose="020B0004020202020204" pitchFamily="34" charset="0"/>
              </a:rPr>
              <a:t>You can (should) update your PRDL and MLLB Reports until the end of the course</a:t>
            </a:r>
          </a:p>
          <a:p>
            <a:endParaRPr lang="en-US" noProof="0" dirty="0">
              <a:latin typeface="Aptos" panose="020B0004020202020204" pitchFamily="34" charset="0"/>
            </a:endParaRPr>
          </a:p>
          <a:p>
            <a:pPr marL="214313" indent="-214313">
              <a:buFont typeface="Arial" panose="020B0604020202020204" pitchFamily="34" charset="0"/>
              <a:buChar char="•"/>
            </a:pPr>
            <a:r>
              <a:rPr lang="en-US" noProof="0" dirty="0">
                <a:latin typeface="Aptos" panose="020B0004020202020204" pitchFamily="34" charset="0"/>
              </a:rPr>
              <a:t>At any time, you can send us updated versions to receive our feedback</a:t>
            </a:r>
          </a:p>
          <a:p>
            <a:endParaRPr lang="en-US" noProof="0" dirty="0">
              <a:latin typeface="Aptos" panose="020B0004020202020204" pitchFamily="34" charset="0"/>
            </a:endParaRPr>
          </a:p>
          <a:p>
            <a:pPr marL="214313" indent="-214313">
              <a:buFont typeface="Arial" panose="020B0604020202020204" pitchFamily="34" charset="0"/>
              <a:buChar char="•"/>
            </a:pPr>
            <a:r>
              <a:rPr lang="en-US" noProof="0" dirty="0">
                <a:latin typeface="Aptos" panose="020B0004020202020204" pitchFamily="34" charset="0"/>
              </a:rPr>
              <a:t>You may find PRDL &amp; MLLP Report templates at Moodle, BUT you may use any format (Latex) you prefer</a:t>
            </a:r>
          </a:p>
          <a:p>
            <a:pPr marL="214313" indent="-214313">
              <a:buFont typeface="Arial" panose="020B0604020202020204" pitchFamily="34" charset="0"/>
              <a:buChar char="•"/>
            </a:pPr>
            <a:endParaRPr lang="en-US" sz="1400" noProof="0" dirty="0">
              <a:latin typeface="Aptos" panose="020B0004020202020204" pitchFamily="34" charset="0"/>
            </a:endParaRPr>
          </a:p>
        </p:txBody>
      </p:sp>
    </p:spTree>
    <p:extLst>
      <p:ext uri="{BB962C8B-B14F-4D97-AF65-F5344CB8AC3E}">
        <p14:creationId xmlns:p14="http://schemas.microsoft.com/office/powerpoint/2010/main" val="33764800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6AB32-56FA-35A0-ACEF-8F0119F2646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0241E0D-738D-A5ED-39F9-4E7A2D6F0078}"/>
              </a:ext>
            </a:extLst>
          </p:cNvPr>
          <p:cNvSpPr txBox="1"/>
          <p:nvPr/>
        </p:nvSpPr>
        <p:spPr>
          <a:xfrm>
            <a:off x="107504" y="332656"/>
            <a:ext cx="8928992" cy="507831"/>
          </a:xfrm>
          <a:prstGeom prst="rect">
            <a:avLst/>
          </a:prstGeom>
          <a:noFill/>
        </p:spPr>
        <p:txBody>
          <a:bodyPr wrap="square" rtlCol="0">
            <a:spAutoFit/>
          </a:bodyPr>
          <a:lstStyle/>
          <a:p>
            <a:r>
              <a:rPr lang="en-US" sz="2700" noProof="0" dirty="0"/>
              <a:t>FIRST ASSIGNMENT – Learning Techniques in Machine Learning</a:t>
            </a:r>
          </a:p>
        </p:txBody>
      </p:sp>
      <p:sp>
        <p:nvSpPr>
          <p:cNvPr id="5" name="TextBox 4">
            <a:extLst>
              <a:ext uri="{FF2B5EF4-FFF2-40B4-BE49-F238E27FC236}">
                <a16:creationId xmlns:a16="http://schemas.microsoft.com/office/drawing/2014/main" id="{70E90F57-EC5F-5000-0498-A3C01EA6FBE9}"/>
              </a:ext>
            </a:extLst>
          </p:cNvPr>
          <p:cNvSpPr txBox="1"/>
          <p:nvPr/>
        </p:nvSpPr>
        <p:spPr>
          <a:xfrm>
            <a:off x="251520" y="1196752"/>
            <a:ext cx="8208912" cy="4493538"/>
          </a:xfrm>
          <a:prstGeom prst="rect">
            <a:avLst/>
          </a:prstGeom>
          <a:noFill/>
        </p:spPr>
        <p:txBody>
          <a:bodyPr wrap="square" rtlCol="0">
            <a:spAutoFit/>
          </a:bodyPr>
          <a:lstStyle/>
          <a:p>
            <a:pPr marL="0" lvl="1"/>
            <a:r>
              <a:rPr lang="en-US" sz="2800" b="1" dirty="0"/>
              <a:t>Deadlines</a:t>
            </a:r>
            <a:endParaRPr lang="en-US" sz="3200" b="1" dirty="0"/>
          </a:p>
          <a:p>
            <a:pPr marL="0" lvl="1"/>
            <a:endParaRPr lang="en-US" sz="3200" b="1" dirty="0"/>
          </a:p>
          <a:p>
            <a:pPr marL="214313" lvl="1" indent="-214313">
              <a:buFont typeface="Wingdings" panose="05000000000000000000" pitchFamily="2" charset="2"/>
              <a:buChar char="à"/>
            </a:pPr>
            <a:r>
              <a:rPr lang="en-US" sz="2400" dirty="0"/>
              <a:t>Send group members by email to </a:t>
            </a:r>
            <a:r>
              <a:rPr lang="en-US" sz="2400" dirty="0">
                <a:hlinkClick r:id="rId2"/>
              </a:rPr>
              <a:t>luisalfonso.Hernandez@upm.es</a:t>
            </a:r>
            <a:r>
              <a:rPr lang="en-US" sz="2400" dirty="0"/>
              <a:t>  </a:t>
            </a:r>
            <a:r>
              <a:rPr lang="en-US" sz="2400" b="1" u="sng" dirty="0"/>
              <a:t>by </a:t>
            </a:r>
            <a:r>
              <a:rPr lang="en-US" sz="2400" b="1" u="sng" dirty="0">
                <a:solidFill>
                  <a:srgbClr val="FF0000"/>
                </a:solidFill>
              </a:rPr>
              <a:t>Friday, 18</a:t>
            </a:r>
            <a:r>
              <a:rPr lang="en-US" sz="2400" dirty="0"/>
              <a:t>. </a:t>
            </a:r>
            <a:r>
              <a:rPr lang="en-US" sz="2400" b="1" dirty="0">
                <a:solidFill>
                  <a:schemeClr val="accent5">
                    <a:lumMod val="76000"/>
                  </a:schemeClr>
                </a:solidFill>
              </a:rPr>
              <a:t>We will assign your advanced learning topic!!</a:t>
            </a:r>
          </a:p>
          <a:p>
            <a:pPr marL="214313" lvl="1" indent="-214313">
              <a:buFont typeface="Wingdings" panose="05000000000000000000" pitchFamily="2" charset="2"/>
              <a:buChar char="à"/>
            </a:pPr>
            <a:endParaRPr lang="en-US" sz="2400" dirty="0"/>
          </a:p>
          <a:p>
            <a:pPr marL="214313" lvl="1" indent="-214313">
              <a:buFont typeface="Wingdings" panose="05000000000000000000" pitchFamily="2" charset="2"/>
              <a:buChar char="à"/>
            </a:pPr>
            <a:endParaRPr lang="en-US" sz="2400" dirty="0"/>
          </a:p>
          <a:p>
            <a:pPr marL="214313" lvl="1" indent="-214313">
              <a:buFont typeface="Wingdings" panose="05000000000000000000" pitchFamily="2" charset="2"/>
              <a:buChar char="à"/>
            </a:pPr>
            <a:r>
              <a:rPr lang="en-US" sz="2400" dirty="0"/>
              <a:t>Upload PRDL and MLLB reports by </a:t>
            </a:r>
            <a:r>
              <a:rPr lang="en-US" sz="2400" b="1" u="sng" dirty="0"/>
              <a:t>September 27</a:t>
            </a:r>
          </a:p>
          <a:p>
            <a:pPr marL="0" lvl="1"/>
            <a:endParaRPr lang="en-US" sz="2400" dirty="0"/>
          </a:p>
          <a:p>
            <a:pPr marL="0" lvl="1"/>
            <a:endParaRPr lang="en-US" sz="2000" dirty="0"/>
          </a:p>
          <a:p>
            <a:pPr marL="214313" lvl="1" indent="-214313">
              <a:buFont typeface="Wingdings" panose="05000000000000000000" pitchFamily="2" charset="2"/>
              <a:buChar char="à"/>
            </a:pPr>
            <a:r>
              <a:rPr lang="en-US" sz="2000" dirty="0"/>
              <a:t>Presentations will start on </a:t>
            </a:r>
            <a:r>
              <a:rPr lang="en-US" sz="2000" b="1" u="sng" dirty="0"/>
              <a:t>September 29 </a:t>
            </a:r>
          </a:p>
          <a:p>
            <a:pPr marL="0" lvl="1"/>
            <a:endParaRPr lang="en-US" dirty="0"/>
          </a:p>
        </p:txBody>
      </p:sp>
      <p:pic>
        <p:nvPicPr>
          <p:cNvPr id="2" name="Graphic 7" descr="Warning outline">
            <a:extLst>
              <a:ext uri="{FF2B5EF4-FFF2-40B4-BE49-F238E27FC236}">
                <a16:creationId xmlns:a16="http://schemas.microsoft.com/office/drawing/2014/main" id="{45D97A54-8A42-C77F-F208-4B0B2B5AB4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52320" y="2780928"/>
            <a:ext cx="552450" cy="552450"/>
          </a:xfrm>
          <a:prstGeom prst="rect">
            <a:avLst/>
          </a:prstGeom>
        </p:spPr>
      </p:pic>
    </p:spTree>
    <p:extLst>
      <p:ext uri="{BB962C8B-B14F-4D97-AF65-F5344CB8AC3E}">
        <p14:creationId xmlns:p14="http://schemas.microsoft.com/office/powerpoint/2010/main" val="789901302"/>
      </p:ext>
    </p:extLst>
  </p:cSld>
  <p:clrMapOvr>
    <a:masterClrMapping/>
  </p:clrMapOvr>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ersonalizado 1">
      <a:majorFont>
        <a:latin typeface="Calibri Light"/>
        <a:ea typeface=""/>
        <a:cs typeface=""/>
      </a:majorFont>
      <a:minorFont>
        <a:latin typeface="Calibri Light"/>
        <a:ea typeface=""/>
        <a:cs typeface=""/>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M-coursera-052814">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2726</TotalTime>
  <Words>3398</Words>
  <Application>Microsoft Office PowerPoint</Application>
  <PresentationFormat>On-screen Show (4:3)</PresentationFormat>
  <Paragraphs>424</Paragraphs>
  <Slides>73</Slides>
  <Notes>2</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73</vt:i4>
      </vt:variant>
    </vt:vector>
  </HeadingPairs>
  <TitlesOfParts>
    <vt:vector size="86" baseType="lpstr">
      <vt:lpstr>Aptos</vt:lpstr>
      <vt:lpstr>Arial</vt:lpstr>
      <vt:lpstr>Calibri</vt:lpstr>
      <vt:lpstr>Calibri Light</vt:lpstr>
      <vt:lpstr>Cambria Math</vt:lpstr>
      <vt:lpstr>Courier New</vt:lpstr>
      <vt:lpstr>Georgia</vt:lpstr>
      <vt:lpstr>Lucida Grande</vt:lpstr>
      <vt:lpstr>Symbol</vt:lpstr>
      <vt:lpstr>Trebuchet MS</vt:lpstr>
      <vt:lpstr>Wingdings</vt:lpstr>
      <vt:lpstr>Tema de Office</vt:lpstr>
      <vt:lpstr>UM-coursera-052814</vt:lpstr>
      <vt:lpstr>Predictive and Descriptive Learning Chapter 1</vt:lpstr>
      <vt:lpstr>Introduction to Machine Learning</vt:lpstr>
      <vt:lpstr>Introduction to Machine Learning What and Why?</vt:lpstr>
      <vt:lpstr>Introduction to Machine Learning What and Why?</vt:lpstr>
      <vt:lpstr>Introduction to Machine Learning</vt:lpstr>
      <vt:lpstr>Introduction to Machine Learning Types of machine learning</vt:lpstr>
      <vt:lpstr>Introduction to Machine Learning Types of machine learning</vt:lpstr>
      <vt:lpstr>Introduction to Machine Learning Types supervised/predictive learning</vt:lpstr>
      <vt:lpstr>Introduction to Machine Learning Supervised/predictive learning</vt:lpstr>
      <vt:lpstr>Introduction to Machine Learning Unsupervised/descriptive learning</vt:lpstr>
      <vt:lpstr>PowerPoint Presentation</vt:lpstr>
      <vt:lpstr>Introduction to Machine Learning </vt:lpstr>
      <vt:lpstr>Introduction to Machine Learning </vt:lpstr>
      <vt:lpstr>PowerPoint Presentation</vt:lpstr>
      <vt:lpstr>Supervised or unsupervised?</vt:lpstr>
      <vt:lpstr>Also different Supervised problems: Multi-class &amp; Multi-Label Classification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Machine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Linear Discriminant Analysis for p&gt;1</vt:lpstr>
      <vt:lpstr>PowerPoint Presentation</vt:lpstr>
      <vt:lpstr>Generative vs. Discriminative Models</vt:lpstr>
      <vt:lpstr>PowerPoint Presentation</vt:lpstr>
      <vt:lpstr>We don’t have time for everything, we will not study some interesting areas such as Survival Analysis</vt:lpstr>
      <vt:lpstr>PowerPoint Presentation</vt:lpstr>
      <vt:lpstr>PowerPoint Presentation</vt:lpstr>
      <vt:lpstr>Predictive and Descriptive Learning Main ML models you should learn </vt:lpstr>
      <vt:lpstr>On-line course</vt:lpstr>
      <vt:lpstr>Bibliography</vt:lpstr>
      <vt:lpstr>PowerPoint Presentation</vt:lpstr>
      <vt:lpstr>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LUIS</dc:creator>
  <cp:lastModifiedBy>Luis Alfonso Hernández Gómez</cp:lastModifiedBy>
  <cp:revision>171</cp:revision>
  <dcterms:created xsi:type="dcterms:W3CDTF">2015-11-05T18:51:35Z</dcterms:created>
  <dcterms:modified xsi:type="dcterms:W3CDTF">2026-09-15T11:14:11Z</dcterms:modified>
</cp:coreProperties>
</file>